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94" r:id="rId2"/>
    <p:sldId id="257" r:id="rId3"/>
    <p:sldId id="258" r:id="rId4"/>
    <p:sldId id="259" r:id="rId5"/>
    <p:sldId id="260" r:id="rId6"/>
    <p:sldId id="290" r:id="rId7"/>
    <p:sldId id="291" r:id="rId8"/>
    <p:sldId id="292" r:id="rId9"/>
    <p:sldId id="293" r:id="rId10"/>
    <p:sldId id="261" r:id="rId11"/>
    <p:sldId id="262" r:id="rId12"/>
    <p:sldId id="287" r:id="rId13"/>
    <p:sldId id="288" r:id="rId14"/>
    <p:sldId id="289" r:id="rId15"/>
    <p:sldId id="264"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0000"/>
    <a:srgbClr val="B9A26D"/>
    <a:srgbClr val="0D1B4B"/>
    <a:srgbClr val="020A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63577" autoAdjust="0"/>
  </p:normalViewPr>
  <p:slideViewPr>
    <p:cSldViewPr snapToGrid="0" snapToObjects="1">
      <p:cViewPr>
        <p:scale>
          <a:sx n="200" d="100"/>
          <a:sy n="200" d="100"/>
        </p:scale>
        <p:origin x="-3931" y="-4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E8F0FE"/>
                </a:solidFill>
                <a:latin typeface="Arial"/>
              </a:defRPr>
            </a:pPr>
            <a:r>
              <a:rPr lang="fr-FR" sz="1200" b="0" i="0" u="none" strike="noStrike">
                <a:solidFill>
                  <a:srgbClr val="E8F0FE"/>
                </a:solidFill>
                <a:latin typeface="Arial"/>
              </a:rPr>
              <a:t>Fidélité par cas</a:t>
            </a:r>
          </a:p>
        </c:rich>
      </c:tx>
      <c:overlay val="0"/>
    </c:title>
    <c:autoTitleDeleted val="0"/>
    <c:plotArea>
      <c:layout/>
      <c:barChart>
        <c:barDir val="col"/>
        <c:grouping val="clustered"/>
        <c:varyColors val="0"/>
        <c:ser>
          <c:idx val="0"/>
          <c:order val="0"/>
          <c:tx>
            <c:strRef>
              <c:f>Sheet1!$B$1</c:f>
              <c:strCache>
                <c:ptCount val="1"/>
                <c:pt idx="0">
                  <c:v>Fidélité</c:v>
                </c:pt>
              </c:strCache>
            </c:strRef>
          </c:tx>
          <c:spPr>
            <a:solidFill>
              <a:srgbClr val="8899BB"/>
            </a:solidFill>
            <a:effectLst/>
          </c:spPr>
          <c:invertIfNegative val="0"/>
          <c:dPt>
            <c:idx val="0"/>
            <c:invertIfNegative val="0"/>
            <c:bubble3D val="0"/>
            <c:spPr>
              <a:solidFill>
                <a:srgbClr val="8899BB"/>
              </a:solidFill>
              <a:effectLst/>
            </c:spPr>
            <c:extLst>
              <c:ext xmlns:c16="http://schemas.microsoft.com/office/drawing/2014/chart" uri="{C3380CC4-5D6E-409C-BE32-E72D297353CC}">
                <c16:uniqueId val="{00000001-6473-4129-B83F-4C2942B41575}"/>
              </c:ext>
            </c:extLst>
          </c:dPt>
          <c:dPt>
            <c:idx val="1"/>
            <c:invertIfNegative val="0"/>
            <c:bubble3D val="0"/>
            <c:spPr>
              <a:solidFill>
                <a:srgbClr val="06D6A0"/>
              </a:solidFill>
              <a:effectLst/>
            </c:spPr>
            <c:extLst>
              <c:ext xmlns:c16="http://schemas.microsoft.com/office/drawing/2014/chart" uri="{C3380CC4-5D6E-409C-BE32-E72D297353CC}">
                <c16:uniqueId val="{00000003-6473-4129-B83F-4C2942B41575}"/>
              </c:ext>
            </c:extLst>
          </c:dPt>
          <c:dPt>
            <c:idx val="2"/>
            <c:invertIfNegative val="0"/>
            <c:bubble3D val="0"/>
            <c:spPr>
              <a:solidFill>
                <a:srgbClr val="EF233C"/>
              </a:solidFill>
              <a:effectLst/>
            </c:spPr>
            <c:extLst>
              <c:ext xmlns:c16="http://schemas.microsoft.com/office/drawing/2014/chart" uri="{C3380CC4-5D6E-409C-BE32-E72D297353CC}">
                <c16:uniqueId val="{00000005-6473-4129-B83F-4C2942B41575}"/>
              </c:ext>
            </c:extLst>
          </c:dPt>
          <c:dLbls>
            <c:numFmt formatCode="#,##0" sourceLinked="0"/>
            <c:spPr>
              <a:noFill/>
              <a:ln>
                <a:noFill/>
              </a:ln>
              <a:effectLst/>
            </c:spPr>
            <c:txPr>
              <a:bodyPr/>
              <a:lstStyle/>
              <a:p>
                <a:pPr>
                  <a:defRPr sz="1100" b="0" i="0" u="none" strike="noStrike">
                    <a:solidFill>
                      <a:srgbClr val="FFFFFF"/>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Case 1
(Sans Structure)</c:v>
                </c:pt>
                <c:pt idx="1">
                  <c:v>Case 2
(Entrelacement)</c:v>
                </c:pt>
                <c:pt idx="2">
                  <c:v>Case 3
(Bruit)</c:v>
                </c:pt>
              </c:strCache>
            </c:strRef>
          </c:cat>
          <c:val>
            <c:numRef>
              <c:f>Sheet1!$B$2:$B$4</c:f>
              <c:numCache>
                <c:formatCode>General</c:formatCode>
                <c:ptCount val="3"/>
                <c:pt idx="0">
                  <c:v>0.51</c:v>
                </c:pt>
                <c:pt idx="1">
                  <c:v>0.98</c:v>
                </c:pt>
                <c:pt idx="2">
                  <c:v>0.34</c:v>
                </c:pt>
              </c:numCache>
            </c:numRef>
          </c:val>
          <c:extLst>
            <c:ext xmlns:c16="http://schemas.microsoft.com/office/drawing/2014/chart" uri="{C3380CC4-5D6E-409C-BE32-E72D297353CC}">
              <c16:uniqueId val="{00000006-6473-4129-B83F-4C2942B415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8F0FE"/>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1A2A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B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1B44"/>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0135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514350" y="4400550"/>
            <a:ext cx="4114800" cy="3600450"/>
          </a:xfrm>
          <a:prstGeom prst="rect">
            <a:avLst/>
          </a:prstGeom>
        </p:spPr>
        <p:txBody>
          <a:bodyPr/>
          <a:lstStyle/>
          <a:p>
            <a:endParaRPr lang="fr-FR" dirty="0"/>
          </a:p>
        </p:txBody>
      </p:sp>
    </p:spTree>
    <p:extLst>
      <p:ext uri="{BB962C8B-B14F-4D97-AF65-F5344CB8AC3E}">
        <p14:creationId xmlns:p14="http://schemas.microsoft.com/office/powerpoint/2010/main" val="410344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aujourd’hui, je vais vous présenter l’état d’avancement de mon travail de recherche sur les réseaux de communication quantiques par une approche holographique. »</a:t>
            </a:r>
          </a:p>
          <a:p>
            <a:r>
              <a:rPr lang="fr-FR" dirty="0"/>
              <a:t>:Notre présentation s'organise en 5 parties. On commence par poser le problème, ensuite on présente la startup QHIQ comme preuve industrielle, on explique le simulateur de référence GitHub, on montre nos propres simulations </a:t>
            </a:r>
            <a:r>
              <a:rPr lang="fr-FR" dirty="0" err="1"/>
              <a:t>Qiskit</a:t>
            </a:r>
            <a:r>
              <a:rPr lang="fr-FR" dirty="0"/>
              <a:t> sur 3 cas, et on termine par les conclusions et perspectives de 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fr-FR" dirty="0"/>
            </a:br>
            <a:r>
              <a:rPr lang="fr-FR" dirty="0"/>
              <a:t>« Je vais commencer par rappeler brièvement le contexte. »</a:t>
            </a:r>
          </a:p>
          <a:p>
            <a:r>
              <a:rPr lang="fr-FR" dirty="0"/>
              <a:t>Le principal problème dans les réseaux quantiques est la fragilité des qubits, due à la décohérence, ce qui entraîne une perte d’information.</a:t>
            </a:r>
          </a:p>
          <a:p>
            <a:r>
              <a:rPr lang="fr-FR" dirty="0"/>
              <a:t>Ce problème rend difficile la mise en place de réseaux quantiques fiables. »</a:t>
            </a:r>
          </a:p>
          <a:p>
            <a:r>
              <a:rPr lang="fr-FR" dirty="0"/>
              <a:t>👉 </a:t>
            </a:r>
            <a:r>
              <a:rPr lang="ar-TN" dirty="0"/>
              <a:t>زيد:</a:t>
            </a:r>
            <a:br>
              <a:rPr lang="ar-TN" dirty="0"/>
            </a:br>
            <a:r>
              <a:rPr lang="ar-TN" dirty="0"/>
              <a:t>« </a:t>
            </a:r>
            <a:r>
              <a:rPr lang="fr-FR" dirty="0"/>
              <a:t>C’est dans ce contexte que s’inscrit l’approche holographique. »</a:t>
            </a:r>
          </a:p>
          <a:p>
            <a:r>
              <a:rPr lang="fr-FR" dirty="0"/>
              <a:t>👉 </a:t>
            </a:r>
            <a:r>
              <a:rPr lang="fr-FR" b="1" dirty="0"/>
              <a:t>Transition:</a:t>
            </a:r>
            <a:br>
              <a:rPr lang="fr-FR" dirty="0"/>
            </a:br>
            <a:r>
              <a:rPr lang="fr-FR" dirty="0"/>
              <a:t>« Dans ce travail, je m’intéresse à étudier cette approche.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 « L’idée est de distribuer l’information de manière non-locale, en s’appuyant sur la structure géométrique du système, afin de la rendre plus robuste. »</a:t>
            </a:r>
          </a:p>
          <a:p>
            <a:r>
              <a:rPr lang="fr-FR" dirty="0"/>
              <a:t>👉 </a:t>
            </a:r>
            <a:r>
              <a:rPr lang="fr-FR" b="1" dirty="0"/>
              <a:t>Transition :</a:t>
            </a:r>
            <a:br>
              <a:rPr lang="fr-FR" dirty="0"/>
            </a:br>
            <a:r>
              <a:rPr lang="fr-FR" dirty="0"/>
              <a:t>« Aujourd’hui, cette idée commence même à être explorée dans le domaine industriel. »</a:t>
            </a:r>
          </a:p>
          <a:p>
            <a:r>
              <a:rPr lang="fr-FR" dirty="0"/>
              <a:t> « Par exemple, la startup QHIQ travaille sur le quantum holographique, avec pour objectif de combiner calcul quantique et intelligence artificielle.</a:t>
            </a:r>
          </a:p>
          <a:p>
            <a:r>
              <a:rPr lang="fr-FR" dirty="0"/>
              <a:t>Cela montre que cette approche ne reste pas seulement théorique, mais qu’elle évolue vers des applications concrètes. »</a:t>
            </a:r>
          </a:p>
          <a:p>
            <a:r>
              <a:rPr lang="fr-FR" dirty="0"/>
              <a:t>👉 </a:t>
            </a:r>
            <a:r>
              <a:rPr lang="fr-FR" b="1" dirty="0"/>
              <a:t>Transition :</a:t>
            </a:r>
            <a:br>
              <a:rPr lang="fr-FR" dirty="0"/>
            </a:br>
            <a:r>
              <a:rPr lang="fr-FR" dirty="0"/>
              <a:t>« Pour étudier cette approche dans mon travail, j’ai utilisé la simulation quantique.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 </a:t>
            </a:r>
            <a:r>
              <a:rPr lang="fr-FR" i="1" dirty="0"/>
              <a:t>"On s'est appuyés sur un simulateur open-source GitHub — </a:t>
            </a:r>
            <a:r>
              <a:rPr lang="fr-FR" i="1" dirty="0" err="1"/>
              <a:t>Holographic</a:t>
            </a:r>
            <a:r>
              <a:rPr lang="fr-FR" i="1" dirty="0"/>
              <a:t>-Quantum-</a:t>
            </a:r>
            <a:r>
              <a:rPr lang="fr-FR" i="1" dirty="0" err="1"/>
              <a:t>Computing</a:t>
            </a:r>
            <a:r>
              <a:rPr lang="fr-FR" i="1" dirty="0"/>
              <a:t>-Simulator — qui implémente le principe </a:t>
            </a:r>
            <a:r>
              <a:rPr lang="fr-FR" i="1" dirty="0" err="1"/>
              <a:t>AdS</a:t>
            </a:r>
            <a:r>
              <a:rPr lang="fr-FR" i="1" dirty="0"/>
              <a:t>/CFT : l'information d'un espace 3D encodée sur sa frontière 2D, comme l'horizon d'un trou noir. Les métriques sont impressionnantes : fidélité 0.98, 12 qubits de surface pour encoder 3 qubits de bulk, et 98% de précision d'encodage."</a:t>
            </a:r>
            <a:endParaRPr lang="fr-FR" dirty="0"/>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B65B5-5DD7-07F6-3B04-89434CA57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E03BC-DB4C-F29B-EB7F-38D8B62E1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63C69-038C-8445-DC06-0816362BBE1D}"/>
              </a:ext>
            </a:extLst>
          </p:cNvPr>
          <p:cNvSpPr>
            <a:spLocks noGrp="1"/>
          </p:cNvSpPr>
          <p:nvPr>
            <p:ph type="body" idx="1"/>
          </p:nvPr>
        </p:nvSpPr>
        <p:spPr/>
        <p:txBody>
          <a:bodyPr/>
          <a:lstStyle/>
          <a:p>
            <a:r>
              <a:rPr lang="fr-FR" dirty="0"/>
              <a:t>« Les ordinateurs quantiques actuels sont encore limités :</a:t>
            </a:r>
            <a:br>
              <a:rPr lang="fr-FR" dirty="0"/>
            </a:br>
            <a:r>
              <a:rPr lang="fr-FR" dirty="0"/>
              <a:t>ils sont coûteux, bruités, et difficiles à exploiter.</a:t>
            </a:r>
          </a:p>
          <a:p>
            <a:r>
              <a:rPr lang="fr-FR" dirty="0"/>
              <a:t>La simulation permet donc de tester, analyser et valider des concepts avant leur implémentation réelle.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t>
            </a:r>
            <a:r>
              <a:rPr lang="fr-FR" b="1" dirty="0"/>
              <a:t>Transition :</a:t>
            </a:r>
            <a:br>
              <a:rPr lang="fr-FR" dirty="0"/>
            </a:br>
            <a:r>
              <a:rPr lang="fr-FR" dirty="0"/>
              <a:t>« Dans ce cadre, certaines architectures avancées ont été proposées, comme MERA. »</a:t>
            </a:r>
          </a:p>
        </p:txBody>
      </p:sp>
      <p:sp>
        <p:nvSpPr>
          <p:cNvPr id="4" name="Slide Number Placeholder 3">
            <a:extLst>
              <a:ext uri="{FF2B5EF4-FFF2-40B4-BE49-F238E27FC236}">
                <a16:creationId xmlns:a16="http://schemas.microsoft.com/office/drawing/2014/main" id="{6F454740-F918-8413-E18C-66683C3CFDB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95663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BE09E-CF37-E554-C861-DA20E23C0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1E831-8DCA-BADE-8CFB-9CA13B245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52216-E3BF-947D-C29F-1AC16C13D4B6}"/>
              </a:ext>
            </a:extLst>
          </p:cNvPr>
          <p:cNvSpPr>
            <a:spLocks noGrp="1"/>
          </p:cNvSpPr>
          <p:nvPr>
            <p:ph type="body" idx="1"/>
          </p:nvPr>
        </p:nvSpPr>
        <p:spPr/>
        <p:txBody>
          <a:bodyPr/>
          <a:lstStyle/>
          <a:p>
            <a:br>
              <a:rPr lang="fr-FR" dirty="0"/>
            </a:br>
            <a:r>
              <a:rPr lang="fr-FR" dirty="0"/>
              <a:t>« Dans mon travail, je me suis d’abord concentrée sur une simulation plus simple pour comprendre ces concepts. » </a:t>
            </a:r>
            <a:r>
              <a:rPr lang="fr-FR" i="1" dirty="0"/>
              <a:t>"L'architecture MERA  — organise les qubits en couches hiérarchiques. La couche 1 réduit les corrélations locales, la couche 2 projette vers un espace plus petit, la couche 3 capture les corrélations globales. Résultat : on simule 32 sites avec seulement 10 qubits, soit 68% de ressources en moins. C'est le principe holographique appliqué concrètement.« </a:t>
            </a:r>
          </a:p>
          <a:p>
            <a:endParaRPr lang="fr-FR" i="1" dirty="0"/>
          </a:p>
          <a:p>
            <a:endParaRPr lang="fr-FR" dirty="0"/>
          </a:p>
          <a:p>
            <a:r>
              <a:rPr lang="fr-FR" dirty="0"/>
              <a:t>L'article s'appelle </a:t>
            </a:r>
            <a:r>
              <a:rPr lang="fr-FR" b="1" dirty="0"/>
              <a:t>"</a:t>
            </a:r>
            <a:r>
              <a:rPr lang="fr-FR" b="1" dirty="0" err="1"/>
              <a:t>Holographic</a:t>
            </a:r>
            <a:r>
              <a:rPr lang="fr-FR" b="1" dirty="0"/>
              <a:t> Quantum Simulation"</a:t>
            </a:r>
            <a:r>
              <a:rPr lang="fr-FR" dirty="0"/>
              <a:t> et il explique :</a:t>
            </a:r>
          </a:p>
          <a:p>
            <a:r>
              <a:rPr lang="fr-FR" b="1" dirty="0"/>
              <a:t> Le </a:t>
            </a:r>
            <a:r>
              <a:rPr lang="fr-FR" b="1" dirty="0" err="1"/>
              <a:t>problème</a:t>
            </a:r>
            <a:r>
              <a:rPr lang="fr-FR" dirty="0" err="1"/>
              <a:t>Simuler</a:t>
            </a:r>
            <a:r>
              <a:rPr lang="fr-FR" dirty="0"/>
              <a:t> de grands systèmes quantiques coûte énormément de </a:t>
            </a:r>
            <a:r>
              <a:rPr lang="fr-FR" dirty="0" err="1"/>
              <a:t>ressources</a:t>
            </a:r>
            <a:r>
              <a:rPr lang="fr-FR" b="1" dirty="0" err="1"/>
              <a:t>La</a:t>
            </a:r>
            <a:r>
              <a:rPr lang="fr-FR" b="1" dirty="0"/>
              <a:t> </a:t>
            </a:r>
            <a:r>
              <a:rPr lang="fr-FR" b="1" dirty="0" err="1"/>
              <a:t>solution</a:t>
            </a:r>
            <a:r>
              <a:rPr lang="fr-FR" dirty="0" err="1"/>
              <a:t>Utiliser</a:t>
            </a:r>
            <a:r>
              <a:rPr lang="fr-FR" dirty="0"/>
              <a:t> MERA pour encoder un grand système dans un système plus </a:t>
            </a:r>
            <a:r>
              <a:rPr lang="fr-FR" dirty="0" err="1"/>
              <a:t>petit</a:t>
            </a:r>
            <a:r>
              <a:rPr lang="fr-FR" b="1" dirty="0" err="1"/>
              <a:t>Résultat</a:t>
            </a:r>
            <a:r>
              <a:rPr lang="fr-FR" b="1" dirty="0"/>
              <a:t> clé</a:t>
            </a:r>
            <a:r>
              <a:rPr lang="fr-FR" dirty="0"/>
              <a:t>32 sites simulés avec seulement 10 qubits — réduction de 68%</a:t>
            </a:r>
            <a:r>
              <a:rPr lang="fr-FR" b="1" dirty="0"/>
              <a:t>Le </a:t>
            </a:r>
            <a:r>
              <a:rPr lang="fr-FR" b="1" dirty="0" err="1"/>
              <a:t>principe</a:t>
            </a:r>
            <a:r>
              <a:rPr lang="fr-FR" dirty="0" err="1"/>
              <a:t>L'info</a:t>
            </a:r>
            <a:r>
              <a:rPr lang="fr-FR" dirty="0"/>
              <a:t> d'un système 1D peut être stockée sur un réseau 2D plus </a:t>
            </a:r>
            <a:r>
              <a:rPr lang="fr-FR" dirty="0" err="1"/>
              <a:t>petit</a:t>
            </a:r>
            <a:r>
              <a:rPr lang="fr-FR" b="1" dirty="0" err="1"/>
              <a:t>L'importance</a:t>
            </a:r>
            <a:r>
              <a:rPr lang="fr-FR" dirty="0" err="1"/>
              <a:t>Prouve</a:t>
            </a:r>
            <a:r>
              <a:rPr lang="fr-FR" dirty="0"/>
              <a:t> que l'holographique n'est pas que théorique — ça marche vraiment</a:t>
            </a:r>
          </a:p>
          <a:p>
            <a:endParaRPr lang="fr-FR" dirty="0"/>
          </a:p>
        </p:txBody>
      </p:sp>
      <p:sp>
        <p:nvSpPr>
          <p:cNvPr id="4" name="Slide Number Placeholder 3">
            <a:extLst>
              <a:ext uri="{FF2B5EF4-FFF2-40B4-BE49-F238E27FC236}">
                <a16:creationId xmlns:a16="http://schemas.microsoft.com/office/drawing/2014/main" id="{56CF78AD-1750-3237-E370-9C8532E7D3F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66100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25B42-EE34-6616-4D42-DE13E331F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AC7D9-7A8D-1249-C803-217533B05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CCAB2-BE4A-D2E3-144C-6CEB387AD0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a:t>"On a codé notre propre simulation en Python avec </a:t>
            </a:r>
            <a:r>
              <a:rPr lang="fr-FR" i="1" dirty="0" err="1"/>
              <a:t>Qiskit</a:t>
            </a:r>
            <a:r>
              <a:rPr lang="fr-FR" i="1" dirty="0"/>
              <a:t> et </a:t>
            </a:r>
            <a:r>
              <a:rPr lang="fr-FR" i="1" dirty="0" err="1"/>
              <a:t>AerSimulator</a:t>
            </a:r>
            <a:r>
              <a:rPr lang="fr-FR" i="1" dirty="0"/>
              <a:t>. On compare 3 cas : le cas </a:t>
            </a:r>
            <a:r>
              <a:rPr lang="fr-FR" i="1" dirty="0" err="1"/>
              <a:t>baseline</a:t>
            </a:r>
            <a:r>
              <a:rPr lang="fr-FR" i="1" dirty="0"/>
              <a:t> sans aucune structure, le cas avec intrication qui simule l'encodage holographique, et le cas bruité qui simule la décohérence réelle. L'objectif est de démontrer expérimentalement l'avantage de l'approche holographique."</a:t>
            </a:r>
            <a:endParaRPr lang="fr-FR" dirty="0"/>
          </a:p>
          <a:p>
            <a:endParaRPr lang="fr-FR" dirty="0"/>
          </a:p>
        </p:txBody>
      </p:sp>
      <p:sp>
        <p:nvSpPr>
          <p:cNvPr id="4" name="Slide Number Placeholder 3">
            <a:extLst>
              <a:ext uri="{FF2B5EF4-FFF2-40B4-BE49-F238E27FC236}">
                <a16:creationId xmlns:a16="http://schemas.microsoft.com/office/drawing/2014/main" id="{5EE224BA-7E34-D908-D724-3DF12DA21FC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88515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ED78-4D7D-7EEB-BAC6-DF3AAEBE38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62072-CD6C-5474-3BEA-A529A5C15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5624A-108D-012B-2C5A-F9089FD8C9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a:t>"Le code est simple mais révélateur. Pour le Cas 1 : deux portes Hadamard indépendantes — superposition sans corrélation. Pour le Cas 2 : Hadamard + CNOT qui crée un état de Bell intriqué — c'est l'encodage holographique. Pour le Cas 3 : on ajoute un canal de dépolarisation de 10% qui simule le bruit réel. On répète 1024 fois pour avoir des statistiques fiables."</a:t>
            </a:r>
            <a:endParaRPr lang="fr-FR" dirty="0"/>
          </a:p>
          <a:p>
            <a:r>
              <a:rPr lang="fr-FR" b="1" dirty="0"/>
              <a:t>Ce que tu as fait :</a:t>
            </a:r>
            <a:r>
              <a:rPr lang="fr-FR" dirty="0"/>
              <a:t> Tu as appliqué une porte </a:t>
            </a:r>
            <a:r>
              <a:rPr lang="fr-FR" b="1" dirty="0"/>
              <a:t>Hadamard (H)</a:t>
            </a:r>
            <a:r>
              <a:rPr lang="fr-FR" dirty="0"/>
              <a:t> sur chaque qubit séparément — sans aucun lien entre eux.</a:t>
            </a:r>
          </a:p>
          <a:p>
            <a:r>
              <a:rPr lang="fr-FR" b="1" dirty="0"/>
              <a:t>La porte H c'est quoi ?</a:t>
            </a:r>
            <a:r>
              <a:rPr lang="fr-FR" dirty="0"/>
              <a:t> Elle met le qubit en superposition : au lieu d'être 0 ou 1, il devient les deux en même temps — 50% chance d'être 0, 50% chance d'être 1.</a:t>
            </a:r>
          </a:p>
          <a:p>
            <a:r>
              <a:rPr lang="fr-FR" b="1" dirty="0"/>
              <a:t>Ce qui se passe :</a:t>
            </a:r>
            <a:r>
              <a:rPr lang="fr-FR" dirty="0"/>
              <a:t> Les deux qubits sont indépendants — aucune corrélation. Quand tu mesures 1024 fois, tu obtiens les 4 états à peu près égaux :</a:t>
            </a:r>
          </a:p>
          <a:p>
            <a:r>
              <a:rPr lang="fr-FR" sz="1200" kern="1200" dirty="0">
                <a:solidFill>
                  <a:schemeClr val="tx1"/>
                </a:solidFill>
                <a:effectLst/>
                <a:latin typeface="+mn-lt"/>
                <a:ea typeface="+mn-ea"/>
                <a:cs typeface="+mn-cs"/>
              </a:rPr>
              <a:t>|00⟩ ≈ 25%</a:t>
            </a:r>
          </a:p>
          <a:p>
            <a:r>
              <a:rPr lang="fr-FR" sz="1200" kern="1200" dirty="0">
                <a:solidFill>
                  <a:schemeClr val="tx1"/>
                </a:solidFill>
                <a:effectLst/>
                <a:latin typeface="+mn-lt"/>
                <a:ea typeface="+mn-ea"/>
                <a:cs typeface="+mn-cs"/>
              </a:rPr>
              <a:t>|01⟩ ≈ 25%</a:t>
            </a:r>
          </a:p>
          <a:p>
            <a:r>
              <a:rPr lang="fr-FR" sz="1200" kern="1200" dirty="0">
                <a:solidFill>
                  <a:schemeClr val="tx1"/>
                </a:solidFill>
                <a:effectLst/>
                <a:latin typeface="+mn-lt"/>
                <a:ea typeface="+mn-ea"/>
                <a:cs typeface="+mn-cs"/>
              </a:rPr>
              <a:t>|10⟩ ≈ 25%</a:t>
            </a:r>
          </a:p>
          <a:p>
            <a:r>
              <a:rPr lang="fr-FR" sz="1200" kern="1200" dirty="0">
                <a:solidFill>
                  <a:schemeClr val="tx1"/>
                </a:solidFill>
                <a:effectLst/>
                <a:latin typeface="+mn-lt"/>
                <a:ea typeface="+mn-ea"/>
                <a:cs typeface="+mn-cs"/>
              </a:rPr>
              <a:t>|11⟩ ≈ 25%</a:t>
            </a:r>
          </a:p>
          <a:p>
            <a:r>
              <a:rPr lang="fr-FR" b="1" dirty="0"/>
              <a:t>Résultat :</a:t>
            </a:r>
            <a:r>
              <a:rPr lang="fr-FR" dirty="0"/>
              <a:t> Fidélité </a:t>
            </a:r>
            <a:r>
              <a:rPr lang="fr-FR" b="1" dirty="0"/>
              <a:t>0.51</a:t>
            </a:r>
            <a:r>
              <a:rPr lang="fr-FR" dirty="0"/>
              <a:t> — quasiment aléatoire, aucune protection.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La porte CNOT c'est quoi ?</a:t>
            </a:r>
            <a:r>
              <a:rPr lang="fr-FR" dirty="0"/>
              <a:t> Elle dit : </a:t>
            </a:r>
            <a:r>
              <a:rPr lang="fr-FR" i="1" dirty="0"/>
              <a:t>"si qubit 0 est à 1, inverse qubit 1"</a:t>
            </a:r>
            <a:r>
              <a:rPr lang="fr-FR" dirty="0"/>
              <a:t>. Résultat : les deux qubits deviennent </a:t>
            </a:r>
            <a:r>
              <a:rPr lang="fr-FR" b="1" dirty="0"/>
              <a:t>liés</a:t>
            </a:r>
            <a:r>
              <a:rPr lang="fr-FR" dirty="0"/>
              <a:t> — si l'un change, l'autre change aussi instantanément.</a:t>
            </a:r>
          </a:p>
          <a:p>
            <a:endParaRPr lang="en-US" dirty="0"/>
          </a:p>
          <a:p>
            <a:r>
              <a:rPr lang="fr-FR" b="1" dirty="0"/>
              <a:t>🔴 Cas 3 — Bruit (Décohérence)</a:t>
            </a:r>
          </a:p>
          <a:p>
            <a:r>
              <a:rPr lang="fr-FR" b="1" dirty="0"/>
              <a:t>Ce que tu as fait :</a:t>
            </a:r>
            <a:r>
              <a:rPr lang="fr-FR" dirty="0"/>
              <a:t> Même circuit que le Cas 2, mais tu as </a:t>
            </a:r>
            <a:r>
              <a:rPr lang="fr-FR" b="1" dirty="0"/>
              <a:t>ajouté un canal de dépolarisation de 10%</a:t>
            </a:r>
            <a:r>
              <a:rPr lang="fr-FR" dirty="0"/>
              <a:t> — qui simule le bruit réel d'un ordinateur quantique.</a:t>
            </a:r>
          </a:p>
          <a:p>
            <a:r>
              <a:rPr lang="fr-FR" b="1" dirty="0"/>
              <a:t>Le canal de dépolarisation c'est quoi ?</a:t>
            </a:r>
            <a:r>
              <a:rPr lang="fr-FR" dirty="0"/>
              <a:t> À chaque étape du circuit, il y a 10% de chance que le qubit soit perturbé aléatoirement — comme si quelque chose venait déranger le qubit pendant qu'il calcule.</a:t>
            </a:r>
          </a:p>
          <a:p>
            <a:r>
              <a:rPr lang="fr-FR" b="1" dirty="0"/>
              <a:t>Ce qui se passe :</a:t>
            </a:r>
            <a:r>
              <a:rPr lang="fr-FR" dirty="0"/>
              <a:t> Le bruit détruit l'intrication progressivement. Les corrélations parfaites du Cas 2 disparaissent, et la distribution redevient aléatoire — comme le Cas 1 mais encore pire.</a:t>
            </a:r>
          </a:p>
          <a:p>
            <a:r>
              <a:rPr lang="fr-FR" b="1" dirty="0"/>
              <a:t>Résultat :</a:t>
            </a:r>
            <a:r>
              <a:rPr lang="fr-FR" dirty="0"/>
              <a:t> Fidélité </a:t>
            </a:r>
            <a:r>
              <a:rPr lang="fr-FR" b="1" dirty="0"/>
              <a:t>0.34</a:t>
            </a:r>
            <a:r>
              <a:rPr lang="fr-FR" dirty="0"/>
              <a:t> — pire que le hasard, protection nulle.</a:t>
            </a:r>
          </a:p>
          <a:p>
            <a:endParaRPr lang="en-US" dirty="0"/>
          </a:p>
        </p:txBody>
      </p:sp>
      <p:sp>
        <p:nvSpPr>
          <p:cNvPr id="4" name="Slide Number Placeholder 3">
            <a:extLst>
              <a:ext uri="{FF2B5EF4-FFF2-40B4-BE49-F238E27FC236}">
                <a16:creationId xmlns:a16="http://schemas.microsoft.com/office/drawing/2014/main" id="{3D45EFD7-B16B-E8B1-56DC-8C4CBC7BB69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95537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a:t>"Les résultats parlent d'eux-mêmes. Sans structure, la fidélité est de 0.51 — </a:t>
            </a:r>
            <a:r>
              <a:rPr lang="fr-FR" b="1" dirty="0"/>
              <a:t>presque </a:t>
            </a:r>
            <a:r>
              <a:rPr lang="fr-FR" i="1" dirty="0"/>
              <a:t> aléatoire. Avec l'intrication, on atteint 0.98 — </a:t>
            </a:r>
            <a:r>
              <a:rPr lang="fr-FR" b="1" dirty="0"/>
              <a:t>presque</a:t>
            </a:r>
            <a:r>
              <a:rPr lang="fr-FR" i="1" dirty="0"/>
              <a:t> parfait, seuls les états |00⟩ et |11⟩ apparaissent, c'est la signature d'un état de Bell. Avec le bruit, on tombe à 0.34 — pire que le hasard. La décohérence détruit complètement la protection."</a:t>
            </a:r>
            <a:endParaRPr lang="fr-FR"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a:t>"Le message clé de notre expérience : sans structure holographique, l'information n'est pas protégée. Avec l'intrication, on améliore la fidélité de 1.9 fois. Mais le bruit détruit tout — ce qui valide le problème central de notre thèse : comment protéger l'intrication contre la décohérence dans un réseau quantique réel ?"</a:t>
            </a:r>
            <a:endParaRPr lang="fr-FR"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i="1" dirty="0"/>
              <a:t>"Scientifiquement, l'intrication distribue l'information de manière non-locale : elle n'est plus dans un seul qubit, mais dans les corrélations entre eux. Mesurer un qubit détermine instantanément l'état de l'autre — c'est le principe holographique à 2 qubits. MERA généralise ça à N qubits. Notre simulation valide le concept à petite échelle avant de l'étendre."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i="1" dirty="0"/>
              <a:t>"Il y a une continuité directe entre notre circuit simple et MERA. Dans les deux cas, on exploite les corrélations non-locales pour protéger l'information. Notre circuit à 2 qubits est le cas le plus simple — Bell state. MERA généralise en couches hiérarchiques pour 32 sites avec 10 qubits. C'est la même idée fondamentale, mise à l'échelle.«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a:t>"Ma simulation prouve en pratique ce que MERA fait à grande échelle. Dans le Cas 2, j'ai créé un état de Bell avec H + CNOT — les deux qubits deviennent intriqués et la fidélité monte à 0.98. Le Cas 3 montre que le bruit détruit cette protection — fidélité tombe à 0.34. C'est exactement le problème que ma thèse veut résoudre : comment protéger cette intrication contre le bruit dans un vrai réseau quantique."</a:t>
            </a:r>
            <a:endParaRPr lang="fr-FR" dirty="0"/>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i="1" dirty="0"/>
              <a:t>"En conclusion : notre simulation valide expérimentalement que l'encodage holographique par intrication offre une fidélité de 0.98 contre 0.51 sans structure. Les approches holographiques sont prometteuses pour les futurs réseaux quantiques robustes. Les prochaines étapes de thèse : étendre à des circuits MERA à N qubits, intégrer des modèles de bruit réalistes, et analyser la fidélité sur des réseaux de communication complets."</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a:t>"Merci pour votre attention. Pour résumer en 3 chiffres : 3 cas simulés, 98% de fidélité avec l'encodage holographique, et 1.9 fois d'amélioration par rapport au </a:t>
            </a:r>
            <a:r>
              <a:rPr lang="fr-FR" i="1" dirty="0" err="1"/>
              <a:t>baseline</a:t>
            </a:r>
            <a:r>
              <a:rPr lang="fr-FR" i="1" dirty="0"/>
              <a:t>. Je suis disponible pour vos questions."</a:t>
            </a:r>
            <a:endParaRPr lang="fr-FR"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A14"/>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6F71C6F-E116-26A7-6D82-5B25235E111F}"/>
              </a:ext>
            </a:extLst>
          </p:cNvPr>
          <p:cNvSpPr/>
          <p:nvPr/>
        </p:nvSpPr>
        <p:spPr>
          <a:xfrm>
            <a:off x="6569612" y="0"/>
            <a:ext cx="685600" cy="87923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Image 10">
            <a:extLst>
              <a:ext uri="{FF2B5EF4-FFF2-40B4-BE49-F238E27FC236}">
                <a16:creationId xmlns:a16="http://schemas.microsoft.com/office/drawing/2014/main" id="{713726C9-0EAC-2B69-20B2-6A5A049073DA}"/>
              </a:ext>
            </a:extLst>
          </p:cNvPr>
          <p:cNvPicPr>
            <a:picLocks noChangeAspect="1"/>
          </p:cNvPicPr>
          <p:nvPr/>
        </p:nvPicPr>
        <p:blipFill>
          <a:blip r:embed="rId3"/>
          <a:stretch>
            <a:fillRect/>
          </a:stretch>
        </p:blipFill>
        <p:spPr>
          <a:xfrm>
            <a:off x="0" y="0"/>
            <a:ext cx="9144000" cy="5203287"/>
          </a:xfrm>
          <a:prstGeom prst="rect">
            <a:avLst/>
          </a:prstGeom>
        </p:spPr>
      </p:pic>
      <p:pic>
        <p:nvPicPr>
          <p:cNvPr id="15" name="Image 14" descr="logo FSM">
            <a:extLst>
              <a:ext uri="{FF2B5EF4-FFF2-40B4-BE49-F238E27FC236}">
                <a16:creationId xmlns:a16="http://schemas.microsoft.com/office/drawing/2014/main" id="{83F9A382-82D1-60C8-B04C-02158BFEB8BC}"/>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287194" y="147711"/>
            <a:ext cx="1076178" cy="722986"/>
          </a:xfrm>
          <a:prstGeom prst="rect">
            <a:avLst/>
          </a:prstGeom>
        </p:spPr>
      </p:pic>
    </p:spTree>
    <p:extLst>
      <p:ext uri="{BB962C8B-B14F-4D97-AF65-F5344CB8AC3E}">
        <p14:creationId xmlns:p14="http://schemas.microsoft.com/office/powerpoint/2010/main" val="3013477233"/>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lgn="l">
              <a:buNone/>
            </a:pPr>
            <a:r>
              <a:rPr lang="en-US" sz="2200" b="1" kern="0" spc="200" dirty="0">
                <a:solidFill>
                  <a:srgbClr val="B9A26D"/>
                </a:solidFill>
                <a:latin typeface="Calibri" pitchFamily="34" charset="0"/>
                <a:ea typeface="Calibri" pitchFamily="34" charset="-122"/>
                <a:cs typeface="Calibri" pitchFamily="34" charset="-120"/>
              </a:rPr>
              <a:t>PLAN DE LA PRÉSENTATION</a:t>
            </a:r>
            <a:endParaRPr lang="en-US" sz="2200" dirty="0">
              <a:solidFill>
                <a:srgbClr val="B9A26D"/>
              </a:solidFill>
            </a:endParaRPr>
          </a:p>
        </p:txBody>
      </p:sp>
      <p:sp>
        <p:nvSpPr>
          <p:cNvPr id="3" name="Shape 1"/>
          <p:cNvSpPr/>
          <p:nvPr/>
        </p:nvSpPr>
        <p:spPr>
          <a:xfrm>
            <a:off x="457200" y="804672"/>
            <a:ext cx="8229600" cy="27432"/>
          </a:xfrm>
          <a:prstGeom prst="rect">
            <a:avLst/>
          </a:prstGeom>
          <a:solidFill>
            <a:srgbClr val="B9A26D"/>
          </a:solidFill>
          <a:ln w="12700">
            <a:solidFill>
              <a:srgbClr val="B9A26D"/>
            </a:solidFill>
            <a:prstDash val="solid"/>
          </a:ln>
        </p:spPr>
        <p:txBody>
          <a:bodyPr/>
          <a:lstStyle/>
          <a:p>
            <a:endParaRPr lang="fr-FR">
              <a:solidFill>
                <a:srgbClr val="B9A26D"/>
              </a:solidFill>
            </a:endParaRPr>
          </a:p>
        </p:txBody>
      </p:sp>
      <p:sp>
        <p:nvSpPr>
          <p:cNvPr id="4" name="Shape 2"/>
          <p:cNvSpPr/>
          <p:nvPr/>
        </p:nvSpPr>
        <p:spPr>
          <a:xfrm>
            <a:off x="457200" y="1005840"/>
            <a:ext cx="8229600" cy="658368"/>
          </a:xfrm>
          <a:prstGeom prst="rect">
            <a:avLst/>
          </a:prstGeom>
          <a:solidFill>
            <a:srgbClr val="111B44"/>
          </a:solidFill>
          <a:ln w="19050">
            <a:solidFill>
              <a:srgbClr val="0D1B4B"/>
            </a:solidFill>
            <a:prstDash val="solid"/>
          </a:ln>
          <a:effectLst>
            <a:outerShdw blurRad="152400" dist="50800" dir="8100000" algn="bl" rotWithShape="0">
              <a:srgbClr val="000000">
                <a:alpha val="35000"/>
              </a:srgbClr>
            </a:outerShdw>
          </a:effectLst>
        </p:spPr>
        <p:txBody>
          <a:bodyPr/>
          <a:lstStyle/>
          <a:p>
            <a:endParaRPr lang="fr-FR" dirty="0"/>
          </a:p>
        </p:txBody>
      </p:sp>
      <p:sp>
        <p:nvSpPr>
          <p:cNvPr id="5" name="Shape 3"/>
          <p:cNvSpPr/>
          <p:nvPr/>
        </p:nvSpPr>
        <p:spPr>
          <a:xfrm>
            <a:off x="457200" y="1005840"/>
            <a:ext cx="658368" cy="658368"/>
          </a:xfrm>
          <a:prstGeom prst="rect">
            <a:avLst/>
          </a:prstGeom>
          <a:solidFill>
            <a:srgbClr val="B9A26D"/>
          </a:solidFill>
          <a:ln w="12700">
            <a:solidFill>
              <a:srgbClr val="B9A26D"/>
            </a:solidFill>
            <a:prstDash val="solid"/>
          </a:ln>
        </p:spPr>
        <p:txBody>
          <a:bodyPr/>
          <a:lstStyle/>
          <a:p>
            <a:endParaRPr lang="fr-FR"/>
          </a:p>
        </p:txBody>
      </p:sp>
      <p:sp>
        <p:nvSpPr>
          <p:cNvPr id="6" name="Text 4"/>
          <p:cNvSpPr/>
          <p:nvPr/>
        </p:nvSpPr>
        <p:spPr>
          <a:xfrm>
            <a:off x="457200" y="1115568"/>
            <a:ext cx="658368" cy="438912"/>
          </a:xfrm>
          <a:prstGeom prst="rect">
            <a:avLst/>
          </a:prstGeom>
          <a:noFill/>
          <a:ln/>
        </p:spPr>
        <p:txBody>
          <a:bodyPr wrap="square" rtlCol="0" anchor="ctr"/>
          <a:lstStyle/>
          <a:p>
            <a:pPr marL="0" indent="0" algn="ctr">
              <a:buNone/>
            </a:pPr>
            <a:r>
              <a:rPr lang="en-US" sz="2000" b="1" dirty="0">
                <a:solidFill>
                  <a:srgbClr val="0D1B4B"/>
                </a:solidFill>
                <a:latin typeface="Calibri" pitchFamily="34" charset="0"/>
                <a:ea typeface="Calibri" pitchFamily="34" charset="-122"/>
                <a:cs typeface="Calibri" pitchFamily="34" charset="-120"/>
              </a:rPr>
              <a:t>01</a:t>
            </a:r>
            <a:endParaRPr lang="en-US" sz="2000" dirty="0">
              <a:solidFill>
                <a:srgbClr val="0D1B4B"/>
              </a:solidFill>
            </a:endParaRPr>
          </a:p>
        </p:txBody>
      </p:sp>
      <p:sp>
        <p:nvSpPr>
          <p:cNvPr id="7" name="Text 5"/>
          <p:cNvSpPr/>
          <p:nvPr/>
        </p:nvSpPr>
        <p:spPr>
          <a:xfrm>
            <a:off x="1234440" y="1060704"/>
            <a:ext cx="71323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Contexte &amp; Problématique</a:t>
            </a:r>
            <a:endParaRPr lang="en-US" sz="1300" dirty="0"/>
          </a:p>
        </p:txBody>
      </p:sp>
      <p:sp>
        <p:nvSpPr>
          <p:cNvPr id="8" name="Text 6"/>
          <p:cNvSpPr/>
          <p:nvPr/>
        </p:nvSpPr>
        <p:spPr>
          <a:xfrm>
            <a:off x="1234440" y="1353312"/>
            <a:ext cx="7132320" cy="228600"/>
          </a:xfrm>
          <a:prstGeom prst="rect">
            <a:avLst/>
          </a:prstGeom>
          <a:noFill/>
          <a:ln/>
        </p:spPr>
        <p:txBody>
          <a:bodyPr wrap="square" rtlCol="0" anchor="ctr"/>
          <a:lstStyle/>
          <a:p>
            <a:pPr marL="0" indent="0">
              <a:buNone/>
            </a:pPr>
            <a:r>
              <a:rPr lang="en-US" sz="1200" i="1" dirty="0">
                <a:solidFill>
                  <a:srgbClr val="B9A26D"/>
                </a:solidFill>
                <a:latin typeface="Calibri" pitchFamily="34" charset="0"/>
                <a:ea typeface="Calibri" pitchFamily="34" charset="-122"/>
                <a:cs typeface="Calibri" pitchFamily="34" charset="-120"/>
              </a:rPr>
              <a:t>Internet Quantique — Décohérence — Objectifs</a:t>
            </a:r>
            <a:endParaRPr lang="en-US" sz="1200" dirty="0">
              <a:solidFill>
                <a:srgbClr val="B9A26D"/>
              </a:solidFill>
            </a:endParaRPr>
          </a:p>
        </p:txBody>
      </p:sp>
      <p:sp>
        <p:nvSpPr>
          <p:cNvPr id="9" name="Shape 7"/>
          <p:cNvSpPr/>
          <p:nvPr/>
        </p:nvSpPr>
        <p:spPr>
          <a:xfrm>
            <a:off x="457200" y="1783080"/>
            <a:ext cx="8229600" cy="658368"/>
          </a:xfrm>
          <a:prstGeom prst="rect">
            <a:avLst/>
          </a:prstGeom>
          <a:solidFill>
            <a:srgbClr val="111B44"/>
          </a:solidFill>
          <a:ln w="19050">
            <a:solidFill>
              <a:srgbClr val="0D1B4B"/>
            </a:solidFill>
            <a:prstDash val="solid"/>
          </a:ln>
          <a:effectLst>
            <a:outerShdw blurRad="152400" dist="50800" dir="8100000" algn="bl" rotWithShape="0">
              <a:srgbClr val="000000">
                <a:alpha val="35000"/>
              </a:srgbClr>
            </a:outerShdw>
          </a:effectLst>
        </p:spPr>
        <p:txBody>
          <a:bodyPr/>
          <a:lstStyle/>
          <a:p>
            <a:endParaRPr lang="fr-FR"/>
          </a:p>
        </p:txBody>
      </p:sp>
      <p:sp>
        <p:nvSpPr>
          <p:cNvPr id="10" name="Shape 8"/>
          <p:cNvSpPr/>
          <p:nvPr/>
        </p:nvSpPr>
        <p:spPr>
          <a:xfrm>
            <a:off x="457200" y="1783080"/>
            <a:ext cx="658368" cy="658368"/>
          </a:xfrm>
          <a:prstGeom prst="rect">
            <a:avLst/>
          </a:prstGeom>
          <a:solidFill>
            <a:srgbClr val="0D1B4B"/>
          </a:solidFill>
          <a:ln w="12700">
            <a:solidFill>
              <a:srgbClr val="0D1B4B"/>
            </a:solidFill>
            <a:prstDash val="solid"/>
          </a:ln>
        </p:spPr>
        <p:txBody>
          <a:bodyPr/>
          <a:lstStyle/>
          <a:p>
            <a:endParaRPr lang="fr-FR"/>
          </a:p>
        </p:txBody>
      </p:sp>
      <p:sp>
        <p:nvSpPr>
          <p:cNvPr id="11" name="Text 9"/>
          <p:cNvSpPr/>
          <p:nvPr/>
        </p:nvSpPr>
        <p:spPr>
          <a:xfrm>
            <a:off x="457200" y="1892808"/>
            <a:ext cx="658368" cy="438912"/>
          </a:xfrm>
          <a:prstGeom prst="rect">
            <a:avLst/>
          </a:prstGeom>
          <a:noFill/>
          <a:ln/>
        </p:spPr>
        <p:txBody>
          <a:bodyPr wrap="square" rtlCol="0" anchor="ctr"/>
          <a:lstStyle/>
          <a:p>
            <a:pPr marL="0" indent="0" algn="ctr">
              <a:buNone/>
            </a:pPr>
            <a:r>
              <a:rPr lang="en-US" sz="2000" b="1" dirty="0">
                <a:solidFill>
                  <a:srgbClr val="B9A26D"/>
                </a:solidFill>
                <a:latin typeface="Calibri" pitchFamily="34" charset="0"/>
                <a:ea typeface="Calibri" pitchFamily="34" charset="-122"/>
                <a:cs typeface="Calibri" pitchFamily="34" charset="-120"/>
              </a:rPr>
              <a:t>02</a:t>
            </a:r>
            <a:endParaRPr lang="en-US" sz="2000" dirty="0">
              <a:solidFill>
                <a:srgbClr val="B9A26D"/>
              </a:solidFill>
            </a:endParaRPr>
          </a:p>
        </p:txBody>
      </p:sp>
      <p:sp>
        <p:nvSpPr>
          <p:cNvPr id="12" name="Text 10"/>
          <p:cNvSpPr/>
          <p:nvPr/>
        </p:nvSpPr>
        <p:spPr>
          <a:xfrm>
            <a:off x="1234440" y="1837944"/>
            <a:ext cx="71323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QHIQ — Startup Holographique</a:t>
            </a:r>
            <a:endParaRPr lang="en-US" sz="1300" dirty="0"/>
          </a:p>
        </p:txBody>
      </p:sp>
      <p:sp>
        <p:nvSpPr>
          <p:cNvPr id="13" name="Text 11"/>
          <p:cNvSpPr/>
          <p:nvPr/>
        </p:nvSpPr>
        <p:spPr>
          <a:xfrm>
            <a:off x="1234440" y="2130552"/>
            <a:ext cx="7132320" cy="228600"/>
          </a:xfrm>
          <a:prstGeom prst="rect">
            <a:avLst/>
          </a:prstGeom>
          <a:noFill/>
          <a:ln/>
        </p:spPr>
        <p:txBody>
          <a:bodyPr wrap="square" rtlCol="0" anchor="ctr"/>
          <a:lstStyle/>
          <a:p>
            <a:pPr marL="0" indent="0">
              <a:buNone/>
            </a:pPr>
            <a:r>
              <a:rPr lang="en-US" sz="1200" i="1" dirty="0">
                <a:solidFill>
                  <a:srgbClr val="B9A26D"/>
                </a:solidFill>
                <a:latin typeface="Calibri" pitchFamily="34" charset="0"/>
                <a:ea typeface="Calibri" pitchFamily="34" charset="-122"/>
                <a:cs typeface="Calibri" pitchFamily="34" charset="-120"/>
              </a:rPr>
              <a:t>Vision, approche industrielle, enjeux</a:t>
            </a:r>
            <a:endParaRPr lang="en-US" sz="1200" dirty="0">
              <a:solidFill>
                <a:srgbClr val="B9A26D"/>
              </a:solidFill>
            </a:endParaRPr>
          </a:p>
        </p:txBody>
      </p:sp>
      <p:sp>
        <p:nvSpPr>
          <p:cNvPr id="14" name="Shape 12"/>
          <p:cNvSpPr/>
          <p:nvPr/>
        </p:nvSpPr>
        <p:spPr>
          <a:xfrm>
            <a:off x="457200" y="2560320"/>
            <a:ext cx="8229600" cy="658368"/>
          </a:xfrm>
          <a:prstGeom prst="rect">
            <a:avLst/>
          </a:prstGeom>
          <a:solidFill>
            <a:srgbClr val="111B44"/>
          </a:solidFill>
          <a:ln w="19050">
            <a:solidFill>
              <a:srgbClr val="0D1B4B"/>
            </a:solidFill>
            <a:prstDash val="solid"/>
          </a:ln>
          <a:effectLst>
            <a:outerShdw blurRad="152400" dist="50800" dir="8100000" algn="bl" rotWithShape="0">
              <a:srgbClr val="000000">
                <a:alpha val="35000"/>
              </a:srgbClr>
            </a:outerShdw>
          </a:effectLst>
        </p:spPr>
        <p:txBody>
          <a:bodyPr/>
          <a:lstStyle/>
          <a:p>
            <a:endParaRPr lang="fr-FR"/>
          </a:p>
        </p:txBody>
      </p:sp>
      <p:sp>
        <p:nvSpPr>
          <p:cNvPr id="15" name="Shape 13"/>
          <p:cNvSpPr/>
          <p:nvPr/>
        </p:nvSpPr>
        <p:spPr>
          <a:xfrm>
            <a:off x="457200" y="2560320"/>
            <a:ext cx="658368" cy="658368"/>
          </a:xfrm>
          <a:prstGeom prst="rect">
            <a:avLst/>
          </a:prstGeom>
          <a:solidFill>
            <a:srgbClr val="B9A26D"/>
          </a:solidFill>
          <a:ln w="12700">
            <a:solidFill>
              <a:srgbClr val="FFD166"/>
            </a:solidFill>
            <a:prstDash val="solid"/>
          </a:ln>
        </p:spPr>
        <p:txBody>
          <a:bodyPr/>
          <a:lstStyle/>
          <a:p>
            <a:endParaRPr lang="fr-FR" dirty="0">
              <a:solidFill>
                <a:srgbClr val="B9A26D"/>
              </a:solidFill>
            </a:endParaRPr>
          </a:p>
        </p:txBody>
      </p:sp>
      <p:sp>
        <p:nvSpPr>
          <p:cNvPr id="16" name="Text 14"/>
          <p:cNvSpPr/>
          <p:nvPr/>
        </p:nvSpPr>
        <p:spPr>
          <a:xfrm>
            <a:off x="457200" y="2670048"/>
            <a:ext cx="658368" cy="438912"/>
          </a:xfrm>
          <a:prstGeom prst="rect">
            <a:avLst/>
          </a:prstGeom>
          <a:noFill/>
          <a:ln/>
        </p:spPr>
        <p:txBody>
          <a:bodyPr wrap="square" rtlCol="0" anchor="ctr"/>
          <a:lstStyle/>
          <a:p>
            <a:pPr marL="0" indent="0" algn="ctr">
              <a:buNone/>
            </a:pPr>
            <a:r>
              <a:rPr lang="en-US" sz="2000" b="1" dirty="0">
                <a:solidFill>
                  <a:srgbClr val="0A0E2A"/>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1234440" y="2615184"/>
            <a:ext cx="71323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Simulateur GitHub</a:t>
            </a:r>
            <a:endParaRPr lang="en-US" sz="1300" dirty="0"/>
          </a:p>
        </p:txBody>
      </p:sp>
      <p:sp>
        <p:nvSpPr>
          <p:cNvPr id="18" name="Text 16"/>
          <p:cNvSpPr/>
          <p:nvPr/>
        </p:nvSpPr>
        <p:spPr>
          <a:xfrm>
            <a:off x="1234440" y="2907792"/>
            <a:ext cx="7132320" cy="228600"/>
          </a:xfrm>
          <a:prstGeom prst="rect">
            <a:avLst/>
          </a:prstGeom>
          <a:noFill/>
          <a:ln/>
        </p:spPr>
        <p:txBody>
          <a:bodyPr wrap="square" rtlCol="0" anchor="ctr"/>
          <a:lstStyle/>
          <a:p>
            <a:pPr marL="0" indent="0">
              <a:buNone/>
            </a:pPr>
            <a:r>
              <a:rPr lang="en-US" sz="1200" i="1" dirty="0">
                <a:solidFill>
                  <a:srgbClr val="B9A26D"/>
                </a:solidFill>
                <a:latin typeface="Calibri" pitchFamily="34" charset="0"/>
                <a:ea typeface="Calibri" pitchFamily="34" charset="-122"/>
                <a:cs typeface="Calibri" pitchFamily="34" charset="-120"/>
              </a:rPr>
              <a:t>Architecture, concepts clés, implémentation Qiskit</a:t>
            </a:r>
            <a:endParaRPr lang="en-US" sz="1200" dirty="0">
              <a:solidFill>
                <a:srgbClr val="B9A26D"/>
              </a:solidFill>
            </a:endParaRPr>
          </a:p>
        </p:txBody>
      </p:sp>
      <p:sp>
        <p:nvSpPr>
          <p:cNvPr id="19" name="Shape 17"/>
          <p:cNvSpPr/>
          <p:nvPr/>
        </p:nvSpPr>
        <p:spPr>
          <a:xfrm>
            <a:off x="457200" y="3337560"/>
            <a:ext cx="8229600" cy="658368"/>
          </a:xfrm>
          <a:prstGeom prst="rect">
            <a:avLst/>
          </a:prstGeom>
          <a:solidFill>
            <a:srgbClr val="111B44"/>
          </a:solidFill>
          <a:ln w="19050">
            <a:solidFill>
              <a:srgbClr val="0D1B4B"/>
            </a:solidFill>
            <a:prstDash val="solid"/>
          </a:ln>
          <a:effectLst>
            <a:outerShdw blurRad="152400" dist="50800" dir="8100000" algn="bl" rotWithShape="0">
              <a:srgbClr val="000000">
                <a:alpha val="35000"/>
              </a:srgbClr>
            </a:outerShdw>
          </a:effectLst>
        </p:spPr>
        <p:txBody>
          <a:bodyPr/>
          <a:lstStyle/>
          <a:p>
            <a:endParaRPr lang="fr-FR"/>
          </a:p>
        </p:txBody>
      </p:sp>
      <p:sp>
        <p:nvSpPr>
          <p:cNvPr id="20" name="Shape 18"/>
          <p:cNvSpPr/>
          <p:nvPr/>
        </p:nvSpPr>
        <p:spPr>
          <a:xfrm>
            <a:off x="457200" y="3337560"/>
            <a:ext cx="658368" cy="658368"/>
          </a:xfrm>
          <a:prstGeom prst="rect">
            <a:avLst/>
          </a:prstGeom>
          <a:solidFill>
            <a:srgbClr val="0D1B4B"/>
          </a:solidFill>
          <a:ln w="12700">
            <a:solidFill>
              <a:srgbClr val="0D1B4B"/>
            </a:solidFill>
            <a:prstDash val="solid"/>
          </a:ln>
        </p:spPr>
        <p:txBody>
          <a:bodyPr/>
          <a:lstStyle/>
          <a:p>
            <a:endParaRPr lang="fr-FR"/>
          </a:p>
        </p:txBody>
      </p:sp>
      <p:sp>
        <p:nvSpPr>
          <p:cNvPr id="21" name="Text 19"/>
          <p:cNvSpPr/>
          <p:nvPr/>
        </p:nvSpPr>
        <p:spPr>
          <a:xfrm>
            <a:off x="457200" y="3447288"/>
            <a:ext cx="658368" cy="438912"/>
          </a:xfrm>
          <a:prstGeom prst="rect">
            <a:avLst/>
          </a:prstGeom>
          <a:noFill/>
          <a:ln/>
        </p:spPr>
        <p:txBody>
          <a:bodyPr wrap="square" rtlCol="0" anchor="ctr"/>
          <a:lstStyle/>
          <a:p>
            <a:pPr marL="0" indent="0" algn="ctr">
              <a:buNone/>
            </a:pPr>
            <a:r>
              <a:rPr lang="en-US" sz="2000" b="1" dirty="0">
                <a:solidFill>
                  <a:srgbClr val="B9A26D"/>
                </a:solidFill>
                <a:latin typeface="Calibri" pitchFamily="34" charset="0"/>
                <a:ea typeface="Calibri" pitchFamily="34" charset="-122"/>
                <a:cs typeface="Calibri" pitchFamily="34" charset="-120"/>
              </a:rPr>
              <a:t>04</a:t>
            </a:r>
            <a:endParaRPr lang="en-US" sz="2000" dirty="0">
              <a:solidFill>
                <a:srgbClr val="B9A26D"/>
              </a:solidFill>
            </a:endParaRPr>
          </a:p>
        </p:txBody>
      </p:sp>
      <p:sp>
        <p:nvSpPr>
          <p:cNvPr id="22" name="Text 20"/>
          <p:cNvSpPr/>
          <p:nvPr/>
        </p:nvSpPr>
        <p:spPr>
          <a:xfrm>
            <a:off x="1234440" y="3392424"/>
            <a:ext cx="71323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Notre Simulation Qiskit</a:t>
            </a:r>
            <a:endParaRPr lang="en-US" sz="1300" dirty="0"/>
          </a:p>
        </p:txBody>
      </p:sp>
      <p:sp>
        <p:nvSpPr>
          <p:cNvPr id="23" name="Text 21"/>
          <p:cNvSpPr/>
          <p:nvPr/>
        </p:nvSpPr>
        <p:spPr>
          <a:xfrm>
            <a:off x="1234440" y="3685032"/>
            <a:ext cx="7132320" cy="228600"/>
          </a:xfrm>
          <a:prstGeom prst="rect">
            <a:avLst/>
          </a:prstGeom>
          <a:noFill/>
          <a:ln/>
        </p:spPr>
        <p:txBody>
          <a:bodyPr wrap="square" rtlCol="0" anchor="ctr"/>
          <a:lstStyle/>
          <a:p>
            <a:pPr marL="0" indent="0">
              <a:buNone/>
            </a:pPr>
            <a:r>
              <a:rPr lang="en-US" sz="1200" i="1" dirty="0">
                <a:solidFill>
                  <a:srgbClr val="B9A26D"/>
                </a:solidFill>
                <a:latin typeface="Calibri" pitchFamily="34" charset="0"/>
                <a:ea typeface="Calibri" pitchFamily="34" charset="-122"/>
                <a:cs typeface="Calibri" pitchFamily="34" charset="-120"/>
              </a:rPr>
              <a:t>3 cas — Résultats — Analyse comparative</a:t>
            </a:r>
            <a:endParaRPr lang="en-US" sz="1200" dirty="0">
              <a:solidFill>
                <a:srgbClr val="B9A26D"/>
              </a:solidFill>
            </a:endParaRPr>
          </a:p>
        </p:txBody>
      </p:sp>
      <p:sp>
        <p:nvSpPr>
          <p:cNvPr id="24" name="Shape 22"/>
          <p:cNvSpPr/>
          <p:nvPr/>
        </p:nvSpPr>
        <p:spPr>
          <a:xfrm>
            <a:off x="457200" y="4114800"/>
            <a:ext cx="8229600" cy="658368"/>
          </a:xfrm>
          <a:prstGeom prst="rect">
            <a:avLst/>
          </a:prstGeom>
          <a:solidFill>
            <a:srgbClr val="111B44"/>
          </a:solidFill>
          <a:ln w="19050">
            <a:solidFill>
              <a:srgbClr val="0D1B4B"/>
            </a:solidFill>
            <a:prstDash val="solid"/>
          </a:ln>
          <a:effectLst>
            <a:outerShdw blurRad="152400" dist="50800" dir="8100000" algn="bl" rotWithShape="0">
              <a:srgbClr val="000000">
                <a:alpha val="35000"/>
              </a:srgbClr>
            </a:outerShdw>
          </a:effectLst>
        </p:spPr>
        <p:txBody>
          <a:bodyPr/>
          <a:lstStyle/>
          <a:p>
            <a:endParaRPr lang="fr-FR"/>
          </a:p>
        </p:txBody>
      </p:sp>
      <p:sp>
        <p:nvSpPr>
          <p:cNvPr id="25" name="Shape 23"/>
          <p:cNvSpPr/>
          <p:nvPr/>
        </p:nvSpPr>
        <p:spPr>
          <a:xfrm>
            <a:off x="457200" y="4114800"/>
            <a:ext cx="658368" cy="658368"/>
          </a:xfrm>
          <a:prstGeom prst="rect">
            <a:avLst/>
          </a:prstGeom>
          <a:solidFill>
            <a:srgbClr val="B9A26D"/>
          </a:solidFill>
          <a:ln w="12700">
            <a:solidFill>
              <a:srgbClr val="B9A26D"/>
            </a:solidFill>
            <a:prstDash val="solid"/>
          </a:ln>
        </p:spPr>
        <p:txBody>
          <a:bodyPr/>
          <a:lstStyle/>
          <a:p>
            <a:endParaRPr lang="fr-FR"/>
          </a:p>
        </p:txBody>
      </p:sp>
      <p:sp>
        <p:nvSpPr>
          <p:cNvPr id="26" name="Text 24"/>
          <p:cNvSpPr/>
          <p:nvPr/>
        </p:nvSpPr>
        <p:spPr>
          <a:xfrm>
            <a:off x="457200" y="4224528"/>
            <a:ext cx="658368" cy="438912"/>
          </a:xfrm>
          <a:prstGeom prst="rect">
            <a:avLst/>
          </a:prstGeom>
          <a:noFill/>
          <a:ln/>
        </p:spPr>
        <p:txBody>
          <a:bodyPr wrap="square" rtlCol="0" anchor="ctr"/>
          <a:lstStyle/>
          <a:p>
            <a:pPr marL="0" indent="0" algn="ctr">
              <a:buNone/>
            </a:pPr>
            <a:r>
              <a:rPr lang="en-US" sz="2000" b="1" dirty="0">
                <a:solidFill>
                  <a:srgbClr val="0A0E2A"/>
                </a:solidFill>
                <a:latin typeface="Calibri" pitchFamily="34" charset="0"/>
                <a:ea typeface="Calibri" pitchFamily="34" charset="-122"/>
                <a:cs typeface="Calibri" pitchFamily="34" charset="-120"/>
              </a:rPr>
              <a:t>05</a:t>
            </a:r>
            <a:endParaRPr lang="en-US" sz="2000" dirty="0"/>
          </a:p>
        </p:txBody>
      </p:sp>
      <p:sp>
        <p:nvSpPr>
          <p:cNvPr id="27" name="Text 25"/>
          <p:cNvSpPr/>
          <p:nvPr/>
        </p:nvSpPr>
        <p:spPr>
          <a:xfrm>
            <a:off x="1234440" y="4169664"/>
            <a:ext cx="71323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Synthèse &amp; Perspectives</a:t>
            </a:r>
            <a:endParaRPr lang="en-US" sz="1300" dirty="0"/>
          </a:p>
        </p:txBody>
      </p:sp>
      <p:sp>
        <p:nvSpPr>
          <p:cNvPr id="28" name="Text 26"/>
          <p:cNvSpPr/>
          <p:nvPr/>
        </p:nvSpPr>
        <p:spPr>
          <a:xfrm>
            <a:off x="1234440" y="4462272"/>
            <a:ext cx="7132320" cy="228600"/>
          </a:xfrm>
          <a:prstGeom prst="rect">
            <a:avLst/>
          </a:prstGeom>
          <a:noFill/>
          <a:ln/>
        </p:spPr>
        <p:txBody>
          <a:bodyPr wrap="square" rtlCol="0" anchor="ctr"/>
          <a:lstStyle/>
          <a:p>
            <a:pPr marL="0" indent="0">
              <a:buNone/>
            </a:pPr>
            <a:r>
              <a:rPr lang="en-US" sz="1200" i="1" dirty="0">
                <a:solidFill>
                  <a:srgbClr val="B9A26D"/>
                </a:solidFill>
                <a:latin typeface="Calibri" pitchFamily="34" charset="0"/>
                <a:ea typeface="Calibri" pitchFamily="34" charset="-122"/>
                <a:cs typeface="Calibri" pitchFamily="34" charset="-120"/>
              </a:rPr>
              <a:t>Lien avec la thèse — Prochaines étapes</a:t>
            </a:r>
            <a:endParaRPr lang="en-US" sz="1200" dirty="0">
              <a:solidFill>
                <a:srgbClr val="B9A26D"/>
              </a:solidFill>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circle(in)">
                                      <p:cBhvr>
                                        <p:cTn id="14" dur="2000"/>
                                        <p:tgtEl>
                                          <p:spTgt spid="4"/>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circle(in)">
                                      <p:cBhvr>
                                        <p:cTn id="20" dur="2000"/>
                                        <p:tgtEl>
                                          <p:spTgt spid="7"/>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ircle(in)">
                                      <p:cBhvr>
                                        <p:cTn id="23" dur="2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arn(inVertical)">
                                      <p:cBhvr>
                                        <p:cTn id="34" dur="500"/>
                                        <p:tgtEl>
                                          <p:spTgt spid="9"/>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circle(in)">
                                      <p:cBhvr>
                                        <p:cTn id="42" dur="2000"/>
                                        <p:tgtEl>
                                          <p:spTgt spid="15"/>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circle(in)">
                                      <p:cBhvr>
                                        <p:cTn id="45" dur="2000"/>
                                        <p:tgtEl>
                                          <p:spTgt spid="17"/>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circle(in)">
                                      <p:cBhvr>
                                        <p:cTn id="48" dur="2000"/>
                                        <p:tgtEl>
                                          <p:spTgt spid="18"/>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barn(inVertical)">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circle(in)">
                                      <p:cBhvr>
                                        <p:cTn id="56" dur="2000"/>
                                        <p:tgtEl>
                                          <p:spTgt spid="20"/>
                                        </p:tgtEl>
                                      </p:cBhvr>
                                    </p:animEffect>
                                  </p:childTnLst>
                                </p:cTn>
                              </p:par>
                              <p:par>
                                <p:cTn id="57" presetID="6" presetClass="entr" presetSubtype="16"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circle(in)">
                                      <p:cBhvr>
                                        <p:cTn id="59" dur="2000"/>
                                        <p:tgtEl>
                                          <p:spTgt spid="19"/>
                                        </p:tgtEl>
                                      </p:cBhvr>
                                    </p:animEffect>
                                  </p:childTnLst>
                                </p:cTn>
                              </p:par>
                              <p:par>
                                <p:cTn id="60" presetID="6" presetClass="entr" presetSubtype="16"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circle(in)">
                                      <p:cBhvr>
                                        <p:cTn id="62" dur="2000"/>
                                        <p:tgtEl>
                                          <p:spTgt spid="22"/>
                                        </p:tgtEl>
                                      </p:cBhvr>
                                    </p:animEffect>
                                  </p:childTnLst>
                                </p:cTn>
                              </p:par>
                              <p:par>
                                <p:cTn id="63" presetID="6" presetClass="entr" presetSubtype="16"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circle(in)">
                                      <p:cBhvr>
                                        <p:cTn id="65" dur="20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ircle(in)">
                                      <p:cBhvr>
                                        <p:cTn id="70" dur="2000"/>
                                        <p:tgtEl>
                                          <p:spTgt spid="25"/>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circle(in)">
                                      <p:cBhvr>
                                        <p:cTn id="73" dur="2000"/>
                                        <p:tgtEl>
                                          <p:spTgt spid="24"/>
                                        </p:tgtEl>
                                      </p:cBhvr>
                                    </p:animEffect>
                                  </p:childTnLst>
                                </p:cTn>
                              </p:par>
                              <p:par>
                                <p:cTn id="74" presetID="6" presetClass="entr" presetSubtype="16"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circle(in)">
                                      <p:cBhvr>
                                        <p:cTn id="76" dur="2000"/>
                                        <p:tgtEl>
                                          <p:spTgt spid="27"/>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circle(in)">
                                      <p:cBhvr>
                                        <p:cTn id="7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1800" b="1" kern="0" spc="100" dirty="0">
                <a:solidFill>
                  <a:srgbClr val="B9A26D"/>
                </a:solidFill>
                <a:latin typeface="Calibri" pitchFamily="34" charset="0"/>
                <a:ea typeface="Calibri" pitchFamily="34" charset="-122"/>
                <a:cs typeface="Calibri" pitchFamily="34" charset="-120"/>
              </a:rPr>
              <a:t>01  CONTEXTE &amp; PROBLÉMATIQUE</a:t>
            </a:r>
            <a:endParaRPr lang="en-US" sz="1800" dirty="0">
              <a:solidFill>
                <a:srgbClr val="B9A26D"/>
              </a:solidFill>
            </a:endParaRPr>
          </a:p>
        </p:txBody>
      </p:sp>
      <p:sp>
        <p:nvSpPr>
          <p:cNvPr id="3" name="Shape 1"/>
          <p:cNvSpPr/>
          <p:nvPr/>
        </p:nvSpPr>
        <p:spPr>
          <a:xfrm>
            <a:off x="457200" y="658368"/>
            <a:ext cx="8229600" cy="27432"/>
          </a:xfrm>
          <a:prstGeom prst="rect">
            <a:avLst/>
          </a:prstGeom>
          <a:solidFill>
            <a:srgbClr val="B9A26D"/>
          </a:solidFill>
          <a:ln w="12700">
            <a:solidFill>
              <a:srgbClr val="B9A26D"/>
            </a:solidFill>
            <a:prstDash val="solid"/>
          </a:ln>
        </p:spPr>
        <p:txBody>
          <a:bodyPr/>
          <a:lstStyle/>
          <a:p>
            <a:endParaRPr lang="fr-FR"/>
          </a:p>
        </p:txBody>
      </p:sp>
      <p:sp>
        <p:nvSpPr>
          <p:cNvPr id="4" name="Shape 2"/>
          <p:cNvSpPr/>
          <p:nvPr/>
        </p:nvSpPr>
        <p:spPr>
          <a:xfrm>
            <a:off x="365760" y="822960"/>
            <a:ext cx="3931920" cy="3474720"/>
          </a:xfrm>
          <a:prstGeom prst="rect">
            <a:avLst/>
          </a:prstGeom>
          <a:solidFill>
            <a:srgbClr val="111B44"/>
          </a:solidFill>
          <a:ln w="12700">
            <a:solidFill>
              <a:srgbClr val="B9A26D"/>
            </a:solidFill>
            <a:prstDash val="solid"/>
          </a:ln>
          <a:effectLst>
            <a:outerShdw blurRad="152400" dist="50800" dir="8100000" algn="bl" rotWithShape="0">
              <a:srgbClr val="000000">
                <a:alpha val="35000"/>
              </a:srgbClr>
            </a:outerShdw>
          </a:effectLst>
        </p:spPr>
        <p:txBody>
          <a:bodyPr/>
          <a:lstStyle/>
          <a:p>
            <a:endParaRPr lang="fr-FR">
              <a:solidFill>
                <a:srgbClr val="B9A26D"/>
              </a:solidFill>
              <a:highlight>
                <a:srgbClr val="B9A26D"/>
              </a:highlight>
            </a:endParaRPr>
          </a:p>
        </p:txBody>
      </p:sp>
      <p:sp>
        <p:nvSpPr>
          <p:cNvPr id="5" name="Text 3"/>
          <p:cNvSpPr/>
          <p:nvPr/>
        </p:nvSpPr>
        <p:spPr>
          <a:xfrm>
            <a:off x="502920" y="914400"/>
            <a:ext cx="3657600" cy="365760"/>
          </a:xfrm>
          <a:prstGeom prst="rect">
            <a:avLst/>
          </a:prstGeom>
          <a:noFill/>
          <a:ln/>
        </p:spPr>
        <p:txBody>
          <a:bodyPr wrap="square" rtlCol="0" anchor="ctr"/>
          <a:lstStyle/>
          <a:p>
            <a:pPr marL="0" indent="0">
              <a:buNone/>
            </a:pPr>
            <a:r>
              <a:rPr lang="en-US" sz="1300" b="1" dirty="0">
                <a:solidFill>
                  <a:srgbClr val="FFD166"/>
                </a:solidFill>
                <a:latin typeface="Calibri" pitchFamily="34" charset="0"/>
                <a:ea typeface="Calibri" pitchFamily="34" charset="-122"/>
                <a:cs typeface="Calibri" pitchFamily="34" charset="-120"/>
              </a:rPr>
              <a:t>⚠  Le Défi Quantique</a:t>
            </a:r>
            <a:endParaRPr lang="en-US" sz="1300" dirty="0"/>
          </a:p>
        </p:txBody>
      </p:sp>
      <p:sp>
        <p:nvSpPr>
          <p:cNvPr id="6" name="Shape 4"/>
          <p:cNvSpPr/>
          <p:nvPr/>
        </p:nvSpPr>
        <p:spPr>
          <a:xfrm>
            <a:off x="548640" y="1417320"/>
            <a:ext cx="164592" cy="164592"/>
          </a:xfrm>
          <a:prstGeom prst="ellipse">
            <a:avLst/>
          </a:prstGeom>
          <a:solidFill>
            <a:srgbClr val="B9A26D"/>
          </a:solidFill>
          <a:ln w="12700">
            <a:solidFill>
              <a:srgbClr val="B9A26D"/>
            </a:solidFill>
            <a:prstDash val="solid"/>
          </a:ln>
        </p:spPr>
        <p:txBody>
          <a:bodyPr/>
          <a:lstStyle/>
          <a:p>
            <a:endParaRPr lang="fr-FR">
              <a:solidFill>
                <a:srgbClr val="B9A26D"/>
              </a:solidFill>
              <a:highlight>
                <a:srgbClr val="B9A26D"/>
              </a:highlight>
            </a:endParaRPr>
          </a:p>
        </p:txBody>
      </p:sp>
      <p:sp>
        <p:nvSpPr>
          <p:cNvPr id="7" name="Text 5"/>
          <p:cNvSpPr/>
          <p:nvPr/>
        </p:nvSpPr>
        <p:spPr>
          <a:xfrm>
            <a:off x="804672" y="1371600"/>
            <a:ext cx="338328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Les qubits sont extrêmement fragiles</a:t>
            </a:r>
            <a:endParaRPr lang="en-US" sz="1200" dirty="0"/>
          </a:p>
        </p:txBody>
      </p:sp>
      <p:sp>
        <p:nvSpPr>
          <p:cNvPr id="8" name="Shape 6"/>
          <p:cNvSpPr/>
          <p:nvPr/>
        </p:nvSpPr>
        <p:spPr>
          <a:xfrm>
            <a:off x="548640" y="1984248"/>
            <a:ext cx="164592" cy="164592"/>
          </a:xfrm>
          <a:prstGeom prst="ellipse">
            <a:avLst/>
          </a:prstGeom>
          <a:solidFill>
            <a:srgbClr val="B9A26D"/>
          </a:solidFill>
          <a:ln w="12700">
            <a:solidFill>
              <a:srgbClr val="B9A26D"/>
            </a:solidFill>
            <a:prstDash val="solid"/>
          </a:ln>
        </p:spPr>
        <p:txBody>
          <a:bodyPr/>
          <a:lstStyle/>
          <a:p>
            <a:endParaRPr lang="fr-FR">
              <a:solidFill>
                <a:srgbClr val="B9A26D"/>
              </a:solidFill>
              <a:highlight>
                <a:srgbClr val="B9A26D"/>
              </a:highlight>
            </a:endParaRPr>
          </a:p>
        </p:txBody>
      </p:sp>
      <p:sp>
        <p:nvSpPr>
          <p:cNvPr id="9" name="Text 7"/>
          <p:cNvSpPr/>
          <p:nvPr/>
        </p:nvSpPr>
        <p:spPr>
          <a:xfrm>
            <a:off x="804672" y="1938528"/>
            <a:ext cx="338328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Décohérence = perte d'information</a:t>
            </a:r>
            <a:endParaRPr lang="en-US" sz="1200" dirty="0"/>
          </a:p>
        </p:txBody>
      </p:sp>
      <p:sp>
        <p:nvSpPr>
          <p:cNvPr id="10" name="Shape 8"/>
          <p:cNvSpPr/>
          <p:nvPr/>
        </p:nvSpPr>
        <p:spPr>
          <a:xfrm>
            <a:off x="548640" y="2551176"/>
            <a:ext cx="164592" cy="164592"/>
          </a:xfrm>
          <a:prstGeom prst="ellipse">
            <a:avLst/>
          </a:prstGeom>
          <a:solidFill>
            <a:srgbClr val="B9A26D"/>
          </a:solidFill>
          <a:ln w="12700">
            <a:solidFill>
              <a:srgbClr val="B9A26D"/>
            </a:solidFill>
            <a:prstDash val="solid"/>
          </a:ln>
        </p:spPr>
        <p:txBody>
          <a:bodyPr/>
          <a:lstStyle/>
          <a:p>
            <a:endParaRPr lang="fr-FR">
              <a:solidFill>
                <a:srgbClr val="B9A26D"/>
              </a:solidFill>
              <a:highlight>
                <a:srgbClr val="B9A26D"/>
              </a:highlight>
            </a:endParaRPr>
          </a:p>
        </p:txBody>
      </p:sp>
      <p:sp>
        <p:nvSpPr>
          <p:cNvPr id="11" name="Text 9"/>
          <p:cNvSpPr/>
          <p:nvPr/>
        </p:nvSpPr>
        <p:spPr>
          <a:xfrm>
            <a:off x="804672" y="2505456"/>
            <a:ext cx="338328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Interconnexions à grande échelle impossibles</a:t>
            </a:r>
            <a:endParaRPr lang="en-US" sz="1200" dirty="0"/>
          </a:p>
        </p:txBody>
      </p:sp>
      <p:sp>
        <p:nvSpPr>
          <p:cNvPr id="12" name="Shape 10"/>
          <p:cNvSpPr/>
          <p:nvPr/>
        </p:nvSpPr>
        <p:spPr>
          <a:xfrm>
            <a:off x="548640" y="3118104"/>
            <a:ext cx="164592" cy="164592"/>
          </a:xfrm>
          <a:prstGeom prst="ellipse">
            <a:avLst/>
          </a:prstGeom>
          <a:solidFill>
            <a:srgbClr val="B9A26D"/>
          </a:solidFill>
          <a:ln w="12700">
            <a:solidFill>
              <a:srgbClr val="B9A26D"/>
            </a:solidFill>
            <a:prstDash val="solid"/>
          </a:ln>
        </p:spPr>
        <p:txBody>
          <a:bodyPr/>
          <a:lstStyle/>
          <a:p>
            <a:endParaRPr lang="fr-FR">
              <a:solidFill>
                <a:srgbClr val="B9A26D"/>
              </a:solidFill>
              <a:highlight>
                <a:srgbClr val="B9A26D"/>
              </a:highlight>
            </a:endParaRPr>
          </a:p>
        </p:txBody>
      </p:sp>
      <p:sp>
        <p:nvSpPr>
          <p:cNvPr id="13" name="Text 11"/>
          <p:cNvSpPr/>
          <p:nvPr/>
        </p:nvSpPr>
        <p:spPr>
          <a:xfrm>
            <a:off x="804672" y="3072384"/>
            <a:ext cx="338328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Les méthodes classiques (redondance) ne fonctionnent pas en quantique</a:t>
            </a:r>
            <a:endParaRPr lang="en-US" sz="1200" dirty="0"/>
          </a:p>
        </p:txBody>
      </p:sp>
      <p:sp>
        <p:nvSpPr>
          <p:cNvPr id="14" name="Shape 12"/>
          <p:cNvSpPr/>
          <p:nvPr/>
        </p:nvSpPr>
        <p:spPr>
          <a:xfrm>
            <a:off x="4572000" y="822960"/>
            <a:ext cx="4114800" cy="3474720"/>
          </a:xfrm>
          <a:prstGeom prst="rect">
            <a:avLst/>
          </a:prstGeom>
          <a:solidFill>
            <a:srgbClr val="111B44"/>
          </a:solidFill>
          <a:ln w="1270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sp>
        <p:nvSpPr>
          <p:cNvPr id="15" name="Text 13"/>
          <p:cNvSpPr/>
          <p:nvPr/>
        </p:nvSpPr>
        <p:spPr>
          <a:xfrm>
            <a:off x="4709160" y="914400"/>
            <a:ext cx="3840480" cy="365760"/>
          </a:xfrm>
          <a:prstGeom prst="rect">
            <a:avLst/>
          </a:prstGeom>
          <a:noFill/>
          <a:ln/>
        </p:spPr>
        <p:txBody>
          <a:bodyPr wrap="square" rtlCol="0" anchor="ctr"/>
          <a:lstStyle/>
          <a:p>
            <a:pPr marL="0" indent="0">
              <a:buNone/>
            </a:pPr>
            <a:r>
              <a:rPr lang="en-US" sz="1300" b="1" dirty="0">
                <a:solidFill>
                  <a:srgbClr val="B9A26D"/>
                </a:solidFill>
                <a:latin typeface="Calibri" pitchFamily="34" charset="0"/>
                <a:ea typeface="Calibri" pitchFamily="34" charset="-122"/>
                <a:cs typeface="Calibri" pitchFamily="34" charset="-120"/>
              </a:rPr>
              <a:t>✦  L'Approche Holographique</a:t>
            </a:r>
            <a:endParaRPr lang="en-US" sz="1300" dirty="0">
              <a:solidFill>
                <a:srgbClr val="B9A26D"/>
              </a:solidFill>
            </a:endParaRPr>
          </a:p>
        </p:txBody>
      </p:sp>
      <p:sp>
        <p:nvSpPr>
          <p:cNvPr id="16" name="Shape 14"/>
          <p:cNvSpPr/>
          <p:nvPr/>
        </p:nvSpPr>
        <p:spPr>
          <a:xfrm>
            <a:off x="4709160" y="1417320"/>
            <a:ext cx="164592" cy="164592"/>
          </a:xfrm>
          <a:prstGeom prst="ellipse">
            <a:avLst/>
          </a:prstGeom>
          <a:solidFill>
            <a:srgbClr val="B9A26D"/>
          </a:solidFill>
          <a:ln w="12700">
            <a:solidFill>
              <a:srgbClr val="B9A26D"/>
            </a:solidFill>
            <a:prstDash val="solid"/>
          </a:ln>
        </p:spPr>
        <p:txBody>
          <a:bodyPr/>
          <a:lstStyle/>
          <a:p>
            <a:endParaRPr lang="fr-FR" dirty="0">
              <a:solidFill>
                <a:srgbClr val="B9A26D"/>
              </a:solidFill>
              <a:highlight>
                <a:srgbClr val="B9A26D"/>
              </a:highlight>
            </a:endParaRPr>
          </a:p>
        </p:txBody>
      </p:sp>
      <p:sp>
        <p:nvSpPr>
          <p:cNvPr id="17" name="Text 15"/>
          <p:cNvSpPr/>
          <p:nvPr/>
        </p:nvSpPr>
        <p:spPr>
          <a:xfrm>
            <a:off x="4965192" y="1371600"/>
            <a:ext cx="356616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Projeter l'info du cœur vers la périphérie</a:t>
            </a:r>
            <a:endParaRPr lang="en-US" sz="1200" dirty="0"/>
          </a:p>
        </p:txBody>
      </p:sp>
      <p:sp>
        <p:nvSpPr>
          <p:cNvPr id="18" name="Shape 16"/>
          <p:cNvSpPr/>
          <p:nvPr/>
        </p:nvSpPr>
        <p:spPr>
          <a:xfrm>
            <a:off x="4709160" y="1984248"/>
            <a:ext cx="164592" cy="164592"/>
          </a:xfrm>
          <a:prstGeom prst="ellipse">
            <a:avLst/>
          </a:prstGeom>
          <a:solidFill>
            <a:srgbClr val="B9A26D"/>
          </a:solidFill>
          <a:ln w="12700">
            <a:solidFill>
              <a:srgbClr val="B9A26D"/>
            </a:solidFill>
            <a:prstDash val="solid"/>
          </a:ln>
        </p:spPr>
        <p:txBody>
          <a:bodyPr/>
          <a:lstStyle/>
          <a:p>
            <a:endParaRPr lang="fr-FR">
              <a:solidFill>
                <a:srgbClr val="B9A26D"/>
              </a:solidFill>
              <a:highlight>
                <a:srgbClr val="B9A26D"/>
              </a:highlight>
            </a:endParaRPr>
          </a:p>
        </p:txBody>
      </p:sp>
      <p:sp>
        <p:nvSpPr>
          <p:cNvPr id="19" name="Text 17"/>
          <p:cNvSpPr/>
          <p:nvPr/>
        </p:nvSpPr>
        <p:spPr>
          <a:xfrm>
            <a:off x="4965192" y="1938528"/>
            <a:ext cx="356616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Protection "par construction" géométrique</a:t>
            </a:r>
            <a:endParaRPr lang="en-US" sz="1200" dirty="0"/>
          </a:p>
        </p:txBody>
      </p:sp>
      <p:sp>
        <p:nvSpPr>
          <p:cNvPr id="20" name="Shape 18"/>
          <p:cNvSpPr/>
          <p:nvPr/>
        </p:nvSpPr>
        <p:spPr>
          <a:xfrm>
            <a:off x="4709160" y="2551176"/>
            <a:ext cx="164592" cy="164592"/>
          </a:xfrm>
          <a:prstGeom prst="ellipse">
            <a:avLst/>
          </a:prstGeom>
          <a:solidFill>
            <a:srgbClr val="B9A26D"/>
          </a:solidFill>
          <a:ln w="12700">
            <a:solidFill>
              <a:srgbClr val="B9A26D"/>
            </a:solidFill>
            <a:prstDash val="solid"/>
          </a:ln>
        </p:spPr>
        <p:txBody>
          <a:bodyPr/>
          <a:lstStyle/>
          <a:p>
            <a:endParaRPr lang="fr-FR">
              <a:solidFill>
                <a:srgbClr val="B9A26D"/>
              </a:solidFill>
              <a:highlight>
                <a:srgbClr val="B9A26D"/>
              </a:highlight>
            </a:endParaRPr>
          </a:p>
        </p:txBody>
      </p:sp>
      <p:sp>
        <p:nvSpPr>
          <p:cNvPr id="21" name="Text 19"/>
          <p:cNvSpPr/>
          <p:nvPr/>
        </p:nvSpPr>
        <p:spPr>
          <a:xfrm>
            <a:off x="4965192" y="2505456"/>
            <a:ext cx="356616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Simuler D dimensions avec D-1 qubits</a:t>
            </a:r>
            <a:endParaRPr lang="en-US" sz="1200" dirty="0"/>
          </a:p>
        </p:txBody>
      </p:sp>
      <p:sp>
        <p:nvSpPr>
          <p:cNvPr id="22" name="Shape 20"/>
          <p:cNvSpPr/>
          <p:nvPr/>
        </p:nvSpPr>
        <p:spPr>
          <a:xfrm>
            <a:off x="4709160" y="3118104"/>
            <a:ext cx="164592" cy="164592"/>
          </a:xfrm>
          <a:prstGeom prst="ellipse">
            <a:avLst/>
          </a:prstGeom>
          <a:solidFill>
            <a:srgbClr val="B9A26D"/>
          </a:solidFill>
          <a:ln w="12700">
            <a:solidFill>
              <a:srgbClr val="B9A26D"/>
            </a:solidFill>
            <a:prstDash val="solid"/>
          </a:ln>
        </p:spPr>
        <p:txBody>
          <a:bodyPr/>
          <a:lstStyle/>
          <a:p>
            <a:endParaRPr lang="fr-FR">
              <a:solidFill>
                <a:srgbClr val="B9A26D"/>
              </a:solidFill>
              <a:highlight>
                <a:srgbClr val="B9A26D"/>
              </a:highlight>
            </a:endParaRPr>
          </a:p>
        </p:txBody>
      </p:sp>
      <p:sp>
        <p:nvSpPr>
          <p:cNvPr id="23" name="Text 21"/>
          <p:cNvSpPr/>
          <p:nvPr/>
        </p:nvSpPr>
        <p:spPr>
          <a:xfrm>
            <a:off x="4965192" y="3072384"/>
            <a:ext cx="3566160" cy="365760"/>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Correction d'erreurs intrinsèque au réseau</a:t>
            </a:r>
            <a:endParaRPr lang="en-US" sz="1200" dirty="0"/>
          </a:p>
        </p:txBody>
      </p:sp>
      <p:sp>
        <p:nvSpPr>
          <p:cNvPr id="24" name="Shape 22"/>
          <p:cNvSpPr/>
          <p:nvPr/>
        </p:nvSpPr>
        <p:spPr>
          <a:xfrm>
            <a:off x="365760" y="4407408"/>
            <a:ext cx="8412480" cy="548640"/>
          </a:xfrm>
          <a:prstGeom prst="rect">
            <a:avLst/>
          </a:prstGeom>
          <a:solidFill>
            <a:srgbClr val="0A1A44"/>
          </a:solidFill>
          <a:ln w="12700">
            <a:solidFill>
              <a:srgbClr val="FFD166"/>
            </a:solidFill>
            <a:prstDash val="solid"/>
          </a:ln>
        </p:spPr>
        <p:txBody>
          <a:bodyPr/>
          <a:lstStyle/>
          <a:p>
            <a:endParaRPr lang="fr-FR" sz="1200"/>
          </a:p>
        </p:txBody>
      </p:sp>
      <p:sp>
        <p:nvSpPr>
          <p:cNvPr id="25" name="Text 23"/>
          <p:cNvSpPr/>
          <p:nvPr/>
        </p:nvSpPr>
        <p:spPr>
          <a:xfrm>
            <a:off x="548640" y="4453128"/>
            <a:ext cx="8046720" cy="457200"/>
          </a:xfrm>
          <a:prstGeom prst="rect">
            <a:avLst/>
          </a:prstGeom>
          <a:noFill/>
          <a:ln/>
        </p:spPr>
        <p:txBody>
          <a:bodyPr wrap="square" rtlCol="0" anchor="ctr"/>
          <a:lstStyle/>
          <a:p>
            <a:pPr marL="0" indent="0" algn="ctr">
              <a:buNone/>
            </a:pPr>
            <a:r>
              <a:rPr lang="en-US" sz="1200" i="1" dirty="0">
                <a:solidFill>
                  <a:srgbClr val="FFD166"/>
                </a:solidFill>
                <a:latin typeface="Calibri" pitchFamily="34" charset="0"/>
                <a:ea typeface="Calibri" pitchFamily="34" charset="-122"/>
                <a:cs typeface="Calibri" pitchFamily="34" charset="-120"/>
              </a:rPr>
              <a:t>" Concevoir de nouvelles architectures qui protègent intrinsèquement l'information par sa simple structure géométrique "</a:t>
            </a:r>
            <a:endParaRPr lang="en-US" sz="1200" dirty="0"/>
          </a:p>
        </p:txBody>
      </p:sp>
      <p:pic>
        <p:nvPicPr>
          <p:cNvPr id="26" name="Image 0" descr="preencoded.png"/>
          <p:cNvPicPr>
            <a:picLocks noChangeAspect="1"/>
          </p:cNvPicPr>
          <p:nvPr/>
        </p:nvPicPr>
        <p:blipFill>
          <a:blip r:embed="rId3"/>
          <a:stretch>
            <a:fillRect/>
          </a:stretch>
        </p:blipFill>
        <p:spPr>
          <a:xfrm>
            <a:off x="8321040" y="182880"/>
            <a:ext cx="640080" cy="640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1000"/>
                                        <p:tgtEl>
                                          <p:spTgt spid="24"/>
                                        </p:tgtEl>
                                      </p:cBhvr>
                                    </p:animEffect>
                                    <p:anim calcmode="lin" valueType="num">
                                      <p:cBhvr>
                                        <p:cTn id="118" dur="1000" fill="hold"/>
                                        <p:tgtEl>
                                          <p:spTgt spid="24"/>
                                        </p:tgtEl>
                                        <p:attrNameLst>
                                          <p:attrName>ppt_x</p:attrName>
                                        </p:attrNameLst>
                                      </p:cBhvr>
                                      <p:tavLst>
                                        <p:tav tm="0">
                                          <p:val>
                                            <p:strVal val="#ppt_x"/>
                                          </p:val>
                                        </p:tav>
                                        <p:tav tm="100000">
                                          <p:val>
                                            <p:strVal val="#ppt_x"/>
                                          </p:val>
                                        </p:tav>
                                      </p:tavLst>
                                    </p:anim>
                                    <p:anim calcmode="lin" valueType="num">
                                      <p:cBhvr>
                                        <p:cTn id="119" dur="10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1000"/>
                                        <p:tgtEl>
                                          <p:spTgt spid="25"/>
                                        </p:tgtEl>
                                      </p:cBhvr>
                                    </p:animEffect>
                                    <p:anim calcmode="lin" valueType="num">
                                      <p:cBhvr>
                                        <p:cTn id="123" dur="1000" fill="hold"/>
                                        <p:tgtEl>
                                          <p:spTgt spid="25"/>
                                        </p:tgtEl>
                                        <p:attrNameLst>
                                          <p:attrName>ppt_x</p:attrName>
                                        </p:attrNameLst>
                                      </p:cBhvr>
                                      <p:tavLst>
                                        <p:tav tm="0">
                                          <p:val>
                                            <p:strVal val="#ppt_x"/>
                                          </p:val>
                                        </p:tav>
                                        <p:tav tm="100000">
                                          <p:val>
                                            <p:strVal val="#ppt_x"/>
                                          </p:val>
                                        </p:tav>
                                      </p:tavLst>
                                    </p:anim>
                                    <p:anim calcmode="lin" valueType="num">
                                      <p:cBhvr>
                                        <p:cTn id="124" dur="10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1000"/>
                                        <p:tgtEl>
                                          <p:spTgt spid="26"/>
                                        </p:tgtEl>
                                      </p:cBhvr>
                                    </p:animEffect>
                                    <p:anim calcmode="lin" valueType="num">
                                      <p:cBhvr>
                                        <p:cTn id="128" dur="1000" fill="hold"/>
                                        <p:tgtEl>
                                          <p:spTgt spid="26"/>
                                        </p:tgtEl>
                                        <p:attrNameLst>
                                          <p:attrName>ppt_x</p:attrName>
                                        </p:attrNameLst>
                                      </p:cBhvr>
                                      <p:tavLst>
                                        <p:tav tm="0">
                                          <p:val>
                                            <p:strVal val="#ppt_x"/>
                                          </p:val>
                                        </p:tav>
                                        <p:tav tm="100000">
                                          <p:val>
                                            <p:strVal val="#ppt_x"/>
                                          </p:val>
                                        </p:tav>
                                      </p:tavLst>
                                    </p:anim>
                                    <p:anim calcmode="lin" valueType="num">
                                      <p:cBhvr>
                                        <p:cTn id="12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1800" b="1" kern="0" spc="100" dirty="0">
                <a:solidFill>
                  <a:srgbClr val="B9A26D"/>
                </a:solidFill>
                <a:latin typeface="Calibri" pitchFamily="34" charset="0"/>
                <a:ea typeface="Calibri" pitchFamily="34" charset="-122"/>
                <a:cs typeface="Calibri" pitchFamily="34" charset="-120"/>
              </a:rPr>
              <a:t>02  QHIQ — QUANTUM HOLOGRAPHIC IQ</a:t>
            </a:r>
            <a:endParaRPr lang="en-US" sz="1800" dirty="0">
              <a:solidFill>
                <a:srgbClr val="B9A26D"/>
              </a:solidFill>
            </a:endParaRPr>
          </a:p>
        </p:txBody>
      </p:sp>
      <p:sp>
        <p:nvSpPr>
          <p:cNvPr id="3" name="Shape 1"/>
          <p:cNvSpPr/>
          <p:nvPr/>
        </p:nvSpPr>
        <p:spPr>
          <a:xfrm>
            <a:off x="457200" y="658368"/>
            <a:ext cx="8229600" cy="27432"/>
          </a:xfrm>
          <a:prstGeom prst="rect">
            <a:avLst/>
          </a:prstGeom>
          <a:solidFill>
            <a:srgbClr val="B9A26D"/>
          </a:solidFill>
          <a:ln w="12700">
            <a:solidFill>
              <a:srgbClr val="B9A26D"/>
            </a:solidFill>
            <a:prstDash val="solid"/>
          </a:ln>
        </p:spPr>
        <p:txBody>
          <a:bodyPr/>
          <a:lstStyle/>
          <a:p>
            <a:endParaRPr lang="fr-FR"/>
          </a:p>
        </p:txBody>
      </p:sp>
      <p:sp>
        <p:nvSpPr>
          <p:cNvPr id="4" name="Shape 2"/>
          <p:cNvSpPr/>
          <p:nvPr/>
        </p:nvSpPr>
        <p:spPr>
          <a:xfrm>
            <a:off x="365760" y="777240"/>
            <a:ext cx="8412480" cy="914400"/>
          </a:xfrm>
          <a:prstGeom prst="rect">
            <a:avLst/>
          </a:prstGeom>
          <a:solidFill>
            <a:srgbClr val="111B44"/>
          </a:solidFill>
          <a:ln w="12700">
            <a:solidFill>
              <a:srgbClr val="B9A26D"/>
            </a:solidFill>
            <a:prstDash val="solid"/>
          </a:ln>
          <a:effectLst>
            <a:outerShdw blurRad="152400" dist="50800" dir="8100000" algn="bl" rotWithShape="0">
              <a:srgbClr val="000000">
                <a:alpha val="35000"/>
              </a:srgbClr>
            </a:outerShdw>
          </a:effectLst>
        </p:spPr>
        <p:txBody>
          <a:bodyPr/>
          <a:lstStyle/>
          <a:p>
            <a:endParaRPr lang="fr-FR" sz="1100"/>
          </a:p>
        </p:txBody>
      </p:sp>
      <p:sp>
        <p:nvSpPr>
          <p:cNvPr id="5" name="Text 3"/>
          <p:cNvSpPr/>
          <p:nvPr/>
        </p:nvSpPr>
        <p:spPr>
          <a:xfrm>
            <a:off x="548640" y="868680"/>
            <a:ext cx="1005840" cy="228600"/>
          </a:xfrm>
          <a:prstGeom prst="rect">
            <a:avLst/>
          </a:prstGeom>
          <a:noFill/>
          <a:ln/>
        </p:spPr>
        <p:txBody>
          <a:bodyPr wrap="square" rtlCol="0" anchor="ctr"/>
          <a:lstStyle/>
          <a:p>
            <a:pPr marL="0" indent="0">
              <a:buNone/>
            </a:pPr>
            <a:r>
              <a:rPr lang="en-US" sz="1100" b="1" dirty="0">
                <a:solidFill>
                  <a:srgbClr val="B9A26D"/>
                </a:solidFill>
                <a:latin typeface="Calibri" pitchFamily="34" charset="0"/>
                <a:ea typeface="Calibri" pitchFamily="34" charset="-122"/>
                <a:cs typeface="Calibri" pitchFamily="34" charset="-120"/>
              </a:rPr>
              <a:t>Fondateur :</a:t>
            </a:r>
            <a:endParaRPr lang="en-US" sz="1100" dirty="0">
              <a:solidFill>
                <a:srgbClr val="B9A26D"/>
              </a:solidFill>
            </a:endParaRPr>
          </a:p>
        </p:txBody>
      </p:sp>
      <p:sp>
        <p:nvSpPr>
          <p:cNvPr id="6" name="Text 4"/>
          <p:cNvSpPr/>
          <p:nvPr/>
        </p:nvSpPr>
        <p:spPr>
          <a:xfrm>
            <a:off x="548640" y="1097280"/>
            <a:ext cx="2651760" cy="457200"/>
          </a:xfrm>
          <a:prstGeom prst="rect">
            <a:avLst/>
          </a:prstGeom>
          <a:noFill/>
          <a:ln/>
        </p:spPr>
        <p:txBody>
          <a:bodyPr wrap="square" rtlCol="0" anchor="ctr"/>
          <a:lstStyle/>
          <a:p>
            <a:pPr marL="0" indent="0">
              <a:buNone/>
            </a:pPr>
            <a:r>
              <a:rPr lang="en-US" sz="1100" dirty="0">
                <a:solidFill>
                  <a:srgbClr val="E8F0FE"/>
                </a:solidFill>
                <a:latin typeface="Calibri" pitchFamily="34" charset="0"/>
                <a:ea typeface="Calibri" pitchFamily="34" charset="-122"/>
                <a:cs typeface="Calibri" pitchFamily="34" charset="-120"/>
              </a:rPr>
              <a:t>Alexander Mitchell — MIT · Quantum Physics + ML</a:t>
            </a:r>
            <a:endParaRPr lang="en-US" sz="1100" dirty="0"/>
          </a:p>
        </p:txBody>
      </p:sp>
      <p:sp>
        <p:nvSpPr>
          <p:cNvPr id="7" name="Text 5"/>
          <p:cNvSpPr/>
          <p:nvPr/>
        </p:nvSpPr>
        <p:spPr>
          <a:xfrm>
            <a:off x="3383280" y="868680"/>
            <a:ext cx="1005840" cy="228600"/>
          </a:xfrm>
          <a:prstGeom prst="rect">
            <a:avLst/>
          </a:prstGeom>
          <a:noFill/>
          <a:ln/>
        </p:spPr>
        <p:txBody>
          <a:bodyPr wrap="square" rtlCol="0" anchor="ctr"/>
          <a:lstStyle/>
          <a:p>
            <a:pPr marL="0" indent="0">
              <a:buNone/>
            </a:pPr>
            <a:r>
              <a:rPr lang="en-US" sz="1100" b="1" dirty="0">
                <a:solidFill>
                  <a:srgbClr val="B9A26D"/>
                </a:solidFill>
                <a:latin typeface="Calibri" pitchFamily="34" charset="0"/>
                <a:ea typeface="Calibri" pitchFamily="34" charset="-122"/>
                <a:cs typeface="Calibri" pitchFamily="34" charset="-120"/>
              </a:rPr>
              <a:t>Siège :</a:t>
            </a:r>
            <a:endParaRPr lang="en-US" sz="1100" dirty="0">
              <a:solidFill>
                <a:srgbClr val="B9A26D"/>
              </a:solidFill>
            </a:endParaRPr>
          </a:p>
        </p:txBody>
      </p:sp>
      <p:sp>
        <p:nvSpPr>
          <p:cNvPr id="8" name="Text 6"/>
          <p:cNvSpPr/>
          <p:nvPr/>
        </p:nvSpPr>
        <p:spPr>
          <a:xfrm>
            <a:off x="3383280" y="1097280"/>
            <a:ext cx="2651760" cy="457200"/>
          </a:xfrm>
          <a:prstGeom prst="rect">
            <a:avLst/>
          </a:prstGeom>
          <a:noFill/>
          <a:ln/>
        </p:spPr>
        <p:txBody>
          <a:bodyPr wrap="square" rtlCol="0" anchor="ctr"/>
          <a:lstStyle/>
          <a:p>
            <a:pPr marL="0" indent="0">
              <a:buNone/>
            </a:pPr>
            <a:r>
              <a:rPr lang="en-US" sz="1100" dirty="0">
                <a:solidFill>
                  <a:srgbClr val="E8F0FE"/>
                </a:solidFill>
                <a:latin typeface="Calibri" pitchFamily="34" charset="0"/>
                <a:ea typeface="Calibri" pitchFamily="34" charset="-122"/>
                <a:cs typeface="Calibri" pitchFamily="34" charset="-120"/>
              </a:rPr>
              <a:t>San Francisco, California, USA</a:t>
            </a:r>
            <a:endParaRPr lang="en-US" sz="1100" dirty="0"/>
          </a:p>
        </p:txBody>
      </p:sp>
      <p:sp>
        <p:nvSpPr>
          <p:cNvPr id="9" name="Text 7"/>
          <p:cNvSpPr/>
          <p:nvPr/>
        </p:nvSpPr>
        <p:spPr>
          <a:xfrm>
            <a:off x="6217920" y="868680"/>
            <a:ext cx="1005840" cy="228600"/>
          </a:xfrm>
          <a:prstGeom prst="rect">
            <a:avLst/>
          </a:prstGeom>
          <a:noFill/>
          <a:ln/>
        </p:spPr>
        <p:txBody>
          <a:bodyPr wrap="square" rtlCol="0" anchor="ctr"/>
          <a:lstStyle/>
          <a:p>
            <a:pPr marL="0" indent="0">
              <a:buNone/>
            </a:pPr>
            <a:r>
              <a:rPr lang="en-US" sz="1100" b="1" dirty="0">
                <a:solidFill>
                  <a:srgbClr val="0D1B4B"/>
                </a:solidFill>
                <a:highlight>
                  <a:srgbClr val="B9A26D"/>
                </a:highlight>
                <a:latin typeface="Calibri" pitchFamily="34" charset="0"/>
                <a:ea typeface="Calibri" pitchFamily="34" charset="-122"/>
                <a:cs typeface="Calibri" pitchFamily="34" charset="-120"/>
              </a:rPr>
              <a:t>Mission :</a:t>
            </a:r>
            <a:endParaRPr lang="en-US" sz="1100" dirty="0">
              <a:solidFill>
                <a:srgbClr val="0D1B4B"/>
              </a:solidFill>
              <a:highlight>
                <a:srgbClr val="B9A26D"/>
              </a:highlight>
            </a:endParaRPr>
          </a:p>
        </p:txBody>
      </p:sp>
      <p:sp>
        <p:nvSpPr>
          <p:cNvPr id="10" name="Text 8"/>
          <p:cNvSpPr/>
          <p:nvPr/>
        </p:nvSpPr>
        <p:spPr>
          <a:xfrm>
            <a:off x="6217920" y="1097280"/>
            <a:ext cx="2651760" cy="457200"/>
          </a:xfrm>
          <a:prstGeom prst="rect">
            <a:avLst/>
          </a:prstGeom>
          <a:noFill/>
          <a:ln/>
        </p:spPr>
        <p:txBody>
          <a:bodyPr wrap="square" rtlCol="0" anchor="ctr"/>
          <a:lstStyle/>
          <a:p>
            <a:pPr marL="0" indent="0">
              <a:buNone/>
            </a:pPr>
            <a:r>
              <a:rPr lang="en-US" sz="1100" dirty="0">
                <a:solidFill>
                  <a:srgbClr val="E8F0FE"/>
                </a:solidFill>
                <a:latin typeface="Calibri" pitchFamily="34" charset="0"/>
                <a:ea typeface="Calibri" pitchFamily="34" charset="-122"/>
                <a:cs typeface="Calibri" pitchFamily="34" charset="-120"/>
              </a:rPr>
              <a:t>Fusionner Quantum Computing + Holographie → QHAI</a:t>
            </a:r>
            <a:endParaRPr lang="en-US" sz="1100" dirty="0"/>
          </a:p>
        </p:txBody>
      </p:sp>
      <p:sp>
        <p:nvSpPr>
          <p:cNvPr id="11" name="Shape 9"/>
          <p:cNvSpPr/>
          <p:nvPr/>
        </p:nvSpPr>
        <p:spPr>
          <a:xfrm>
            <a:off x="365760" y="1874520"/>
            <a:ext cx="2743200" cy="2377440"/>
          </a:xfrm>
          <a:prstGeom prst="rect">
            <a:avLst/>
          </a:prstGeom>
          <a:solidFill>
            <a:srgbClr val="111B44"/>
          </a:solidFill>
          <a:ln w="1905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pic>
        <p:nvPicPr>
          <p:cNvPr id="12" name="Image 0" descr="preencoded.png"/>
          <p:cNvPicPr>
            <a:picLocks noChangeAspect="1"/>
          </p:cNvPicPr>
          <p:nvPr/>
        </p:nvPicPr>
        <p:blipFill>
          <a:blip r:embed="rId3"/>
          <a:stretch>
            <a:fillRect/>
          </a:stretch>
        </p:blipFill>
        <p:spPr>
          <a:xfrm>
            <a:off x="1371600" y="2011680"/>
            <a:ext cx="640080" cy="640080"/>
          </a:xfrm>
          <a:prstGeom prst="rect">
            <a:avLst/>
          </a:prstGeom>
        </p:spPr>
      </p:pic>
      <p:sp>
        <p:nvSpPr>
          <p:cNvPr id="13" name="Text 10"/>
          <p:cNvSpPr/>
          <p:nvPr/>
        </p:nvSpPr>
        <p:spPr>
          <a:xfrm>
            <a:off x="502920" y="2788920"/>
            <a:ext cx="2468880" cy="320040"/>
          </a:xfrm>
          <a:prstGeom prst="rect">
            <a:avLst/>
          </a:prstGeom>
          <a:noFill/>
          <a:ln/>
        </p:spPr>
        <p:txBody>
          <a:bodyPr wrap="square" rtlCol="0" anchor="ctr"/>
          <a:lstStyle/>
          <a:p>
            <a:pPr marL="0" indent="0" algn="ctr">
              <a:buNone/>
            </a:pPr>
            <a:r>
              <a:rPr lang="en-US" sz="1300" b="1" dirty="0">
                <a:solidFill>
                  <a:srgbClr val="B9A26D"/>
                </a:solidFill>
                <a:latin typeface="Calibri" pitchFamily="34" charset="0"/>
                <a:ea typeface="Calibri" pitchFamily="34" charset="-122"/>
                <a:cs typeface="Calibri" pitchFamily="34" charset="-120"/>
              </a:rPr>
              <a:t>QHAI</a:t>
            </a:r>
            <a:endParaRPr lang="en-US" sz="1300" dirty="0">
              <a:solidFill>
                <a:srgbClr val="B9A26D"/>
              </a:solidFill>
            </a:endParaRPr>
          </a:p>
        </p:txBody>
      </p:sp>
      <p:sp>
        <p:nvSpPr>
          <p:cNvPr id="14" name="Text 11"/>
          <p:cNvSpPr/>
          <p:nvPr/>
        </p:nvSpPr>
        <p:spPr>
          <a:xfrm>
            <a:off x="502920" y="3154680"/>
            <a:ext cx="2468880" cy="1005840"/>
          </a:xfrm>
          <a:prstGeom prst="rect">
            <a:avLst/>
          </a:prstGeom>
          <a:noFill/>
          <a:ln/>
        </p:spPr>
        <p:txBody>
          <a:bodyPr wrap="square" rtlCol="0" anchor="ctr"/>
          <a:lstStyle/>
          <a:p>
            <a:pPr marL="0" indent="0" algn="ctr">
              <a:buNone/>
            </a:pPr>
            <a:r>
              <a:rPr lang="en-US" sz="1100" dirty="0">
                <a:solidFill>
                  <a:srgbClr val="E8F0FE"/>
                </a:solidFill>
                <a:latin typeface="Calibri" pitchFamily="34" charset="0"/>
                <a:ea typeface="Calibri" pitchFamily="34" charset="-122"/>
                <a:cs typeface="Calibri" pitchFamily="34" charset="-120"/>
              </a:rPr>
              <a:t>Quantum Holographic Artificial Intelligence — traitement de données massives par principes quantiques</a:t>
            </a:r>
            <a:endParaRPr lang="en-US" sz="1100" dirty="0"/>
          </a:p>
        </p:txBody>
      </p:sp>
      <p:sp>
        <p:nvSpPr>
          <p:cNvPr id="15" name="Shape 12"/>
          <p:cNvSpPr/>
          <p:nvPr/>
        </p:nvSpPr>
        <p:spPr>
          <a:xfrm>
            <a:off x="3246120" y="1874520"/>
            <a:ext cx="2743200" cy="2377440"/>
          </a:xfrm>
          <a:prstGeom prst="rect">
            <a:avLst/>
          </a:prstGeom>
          <a:solidFill>
            <a:srgbClr val="111B44"/>
          </a:solidFill>
          <a:ln w="19050">
            <a:solidFill>
              <a:srgbClr val="FFD166"/>
            </a:solidFill>
            <a:prstDash val="solid"/>
          </a:ln>
          <a:effectLst>
            <a:outerShdw blurRad="152400" dist="50800" dir="8100000" algn="bl" rotWithShape="0">
              <a:srgbClr val="000000">
                <a:alpha val="35000"/>
              </a:srgbClr>
            </a:outerShdw>
          </a:effectLst>
        </p:spPr>
        <p:txBody>
          <a:bodyPr/>
          <a:lstStyle/>
          <a:p>
            <a:endParaRPr lang="fr-FR"/>
          </a:p>
        </p:txBody>
      </p:sp>
      <p:pic>
        <p:nvPicPr>
          <p:cNvPr id="16" name="Image 1" descr="preencoded.png"/>
          <p:cNvPicPr>
            <a:picLocks noChangeAspect="1"/>
          </p:cNvPicPr>
          <p:nvPr/>
        </p:nvPicPr>
        <p:blipFill>
          <a:blip r:embed="rId4"/>
          <a:stretch>
            <a:fillRect/>
          </a:stretch>
        </p:blipFill>
        <p:spPr>
          <a:xfrm>
            <a:off x="4251960" y="2011680"/>
            <a:ext cx="640080" cy="640080"/>
          </a:xfrm>
          <a:prstGeom prst="rect">
            <a:avLst/>
          </a:prstGeom>
        </p:spPr>
      </p:pic>
      <p:sp>
        <p:nvSpPr>
          <p:cNvPr id="17" name="Text 13"/>
          <p:cNvSpPr/>
          <p:nvPr/>
        </p:nvSpPr>
        <p:spPr>
          <a:xfrm>
            <a:off x="3383280" y="2788920"/>
            <a:ext cx="2468880" cy="320040"/>
          </a:xfrm>
          <a:prstGeom prst="rect">
            <a:avLst/>
          </a:prstGeom>
          <a:noFill/>
          <a:ln/>
        </p:spPr>
        <p:txBody>
          <a:bodyPr wrap="square" rtlCol="0" anchor="ctr"/>
          <a:lstStyle/>
          <a:p>
            <a:pPr marL="0" indent="0" algn="ctr">
              <a:buNone/>
            </a:pPr>
            <a:r>
              <a:rPr lang="en-US" sz="1300" b="1" dirty="0">
                <a:solidFill>
                  <a:srgbClr val="B9A26D"/>
                </a:solidFill>
                <a:latin typeface="Calibri" pitchFamily="34" charset="0"/>
                <a:ea typeface="Calibri" pitchFamily="34" charset="-122"/>
                <a:cs typeface="Calibri" pitchFamily="34" charset="-120"/>
              </a:rPr>
              <a:t>Vulgarisation</a:t>
            </a:r>
            <a:endParaRPr lang="en-US" sz="1300" dirty="0">
              <a:solidFill>
                <a:srgbClr val="B9A26D"/>
              </a:solidFill>
            </a:endParaRPr>
          </a:p>
        </p:txBody>
      </p:sp>
      <p:sp>
        <p:nvSpPr>
          <p:cNvPr id="18" name="Text 14"/>
          <p:cNvSpPr/>
          <p:nvPr/>
        </p:nvSpPr>
        <p:spPr>
          <a:xfrm>
            <a:off x="3383280" y="3154680"/>
            <a:ext cx="2468880" cy="1005840"/>
          </a:xfrm>
          <a:prstGeom prst="rect">
            <a:avLst/>
          </a:prstGeom>
          <a:noFill/>
          <a:ln/>
        </p:spPr>
        <p:txBody>
          <a:bodyPr wrap="square" rtlCol="0" anchor="ctr"/>
          <a:lstStyle/>
          <a:p>
            <a:pPr marL="0" indent="0" algn="ctr">
              <a:buNone/>
            </a:pPr>
            <a:r>
              <a:rPr lang="en-US" sz="1100" dirty="0">
                <a:solidFill>
                  <a:srgbClr val="E8F0FE"/>
                </a:solidFill>
                <a:latin typeface="Calibri" pitchFamily="34" charset="0"/>
                <a:ea typeface="Calibri" pitchFamily="34" charset="-122"/>
                <a:cs typeface="Calibri" pitchFamily="34" charset="-120"/>
              </a:rPr>
              <a:t>133+ articles pour expliquer les enjeux aux ingénieurs et décideurs — pont entre recherche et industrie</a:t>
            </a:r>
            <a:endParaRPr lang="en-US" sz="1100" dirty="0"/>
          </a:p>
        </p:txBody>
      </p:sp>
      <p:sp>
        <p:nvSpPr>
          <p:cNvPr id="19" name="Shape 15"/>
          <p:cNvSpPr/>
          <p:nvPr/>
        </p:nvSpPr>
        <p:spPr>
          <a:xfrm>
            <a:off x="6126480" y="1874520"/>
            <a:ext cx="2743200" cy="2377440"/>
          </a:xfrm>
          <a:prstGeom prst="rect">
            <a:avLst/>
          </a:prstGeom>
          <a:solidFill>
            <a:srgbClr val="111B44"/>
          </a:solidFill>
          <a:ln w="1905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pic>
        <p:nvPicPr>
          <p:cNvPr id="20" name="Image 2" descr="preencoded.png"/>
          <p:cNvPicPr>
            <a:picLocks noChangeAspect="1"/>
          </p:cNvPicPr>
          <p:nvPr/>
        </p:nvPicPr>
        <p:blipFill>
          <a:blip r:embed="rId5"/>
          <a:stretch>
            <a:fillRect/>
          </a:stretch>
        </p:blipFill>
        <p:spPr>
          <a:xfrm>
            <a:off x="7132320" y="2011680"/>
            <a:ext cx="640080" cy="640080"/>
          </a:xfrm>
          <a:prstGeom prst="rect">
            <a:avLst/>
          </a:prstGeom>
        </p:spPr>
      </p:pic>
      <p:sp>
        <p:nvSpPr>
          <p:cNvPr id="21" name="Text 16"/>
          <p:cNvSpPr/>
          <p:nvPr/>
        </p:nvSpPr>
        <p:spPr>
          <a:xfrm>
            <a:off x="6263640" y="2788920"/>
            <a:ext cx="2468880" cy="320040"/>
          </a:xfrm>
          <a:prstGeom prst="rect">
            <a:avLst/>
          </a:prstGeom>
          <a:noFill/>
          <a:ln/>
        </p:spPr>
        <p:txBody>
          <a:bodyPr wrap="square" rtlCol="0" anchor="ctr"/>
          <a:lstStyle/>
          <a:p>
            <a:pPr marL="0" indent="0" algn="ctr">
              <a:buNone/>
            </a:pPr>
            <a:r>
              <a:rPr lang="en-US" sz="1300" b="1" dirty="0">
                <a:solidFill>
                  <a:srgbClr val="B9A26D"/>
                </a:solidFill>
                <a:latin typeface="Calibri" pitchFamily="34" charset="0"/>
                <a:ea typeface="Calibri" pitchFamily="34" charset="-122"/>
                <a:cs typeface="Calibri" pitchFamily="34" charset="-120"/>
              </a:rPr>
              <a:t>Vision</a:t>
            </a:r>
            <a:endParaRPr lang="en-US" sz="1300" dirty="0">
              <a:solidFill>
                <a:srgbClr val="B9A26D"/>
              </a:solidFill>
            </a:endParaRPr>
          </a:p>
        </p:txBody>
      </p:sp>
      <p:sp>
        <p:nvSpPr>
          <p:cNvPr id="22" name="Text 17"/>
          <p:cNvSpPr/>
          <p:nvPr/>
        </p:nvSpPr>
        <p:spPr>
          <a:xfrm>
            <a:off x="6263640" y="3154680"/>
            <a:ext cx="2468880" cy="1005840"/>
          </a:xfrm>
          <a:prstGeom prst="rect">
            <a:avLst/>
          </a:prstGeom>
          <a:noFill/>
          <a:ln/>
        </p:spPr>
        <p:txBody>
          <a:bodyPr wrap="square" rtlCol="0" anchor="ctr"/>
          <a:lstStyle/>
          <a:p>
            <a:pPr marL="0" indent="0" algn="ctr">
              <a:buNone/>
            </a:pPr>
            <a:r>
              <a:rPr lang="en-US" sz="1100" dirty="0">
                <a:solidFill>
                  <a:srgbClr val="E8F0FE"/>
                </a:solidFill>
                <a:latin typeface="Calibri" pitchFamily="34" charset="0"/>
                <a:ea typeface="Calibri" pitchFamily="34" charset="-122"/>
                <a:cs typeface="Calibri" pitchFamily="34" charset="-120"/>
              </a:rPr>
              <a:t>Sortir le quantum holographique du laboratoire vers l'ingénierie des réseaux de communication</a:t>
            </a:r>
            <a:endParaRPr lang="en-US" sz="1100" dirty="0"/>
          </a:p>
        </p:txBody>
      </p:sp>
      <p:sp>
        <p:nvSpPr>
          <p:cNvPr id="23" name="Shape 18"/>
          <p:cNvSpPr/>
          <p:nvPr/>
        </p:nvSpPr>
        <p:spPr>
          <a:xfrm>
            <a:off x="365760" y="4407408"/>
            <a:ext cx="8412480" cy="548640"/>
          </a:xfrm>
          <a:prstGeom prst="rect">
            <a:avLst/>
          </a:prstGeom>
          <a:solidFill>
            <a:srgbClr val="091230"/>
          </a:solidFill>
          <a:ln w="12700">
            <a:solidFill>
              <a:srgbClr val="B9A26D"/>
            </a:solidFill>
            <a:prstDash val="solid"/>
          </a:ln>
        </p:spPr>
        <p:txBody>
          <a:bodyPr/>
          <a:lstStyle/>
          <a:p>
            <a:endParaRPr lang="fr-FR"/>
          </a:p>
        </p:txBody>
      </p:sp>
      <p:sp>
        <p:nvSpPr>
          <p:cNvPr id="24" name="Text 19"/>
          <p:cNvSpPr/>
          <p:nvPr/>
        </p:nvSpPr>
        <p:spPr>
          <a:xfrm>
            <a:off x="548640" y="4453128"/>
            <a:ext cx="8046720" cy="457200"/>
          </a:xfrm>
          <a:prstGeom prst="rect">
            <a:avLst/>
          </a:prstGeom>
          <a:noFill/>
          <a:ln/>
        </p:spPr>
        <p:txBody>
          <a:bodyPr wrap="square" rtlCol="0" anchor="ctr"/>
          <a:lstStyle/>
          <a:p>
            <a:pPr marL="0" indent="0" algn="ctr">
              <a:buNone/>
            </a:pPr>
            <a:r>
              <a:rPr lang="en-US" sz="1100" i="1" dirty="0">
                <a:solidFill>
                  <a:srgbClr val="E8F0FE"/>
                </a:solidFill>
                <a:latin typeface="Calibri" pitchFamily="34" charset="0"/>
                <a:ea typeface="Calibri" pitchFamily="34" charset="-122"/>
                <a:cs typeface="Calibri" pitchFamily="34" charset="-120"/>
              </a:rPr>
              <a:t>🔗  Pertinence pour notre thèse : QHIQ confirme que l'approche holographique est en train de quitter le laboratoire pour entrer dans l'ingénierie des réseaux.</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1000"/>
                                        <p:tgtEl>
                                          <p:spTgt spid="24"/>
                                        </p:tgtEl>
                                      </p:cBhvr>
                                    </p:animEffect>
                                    <p:anim calcmode="lin" valueType="num">
                                      <p:cBhvr>
                                        <p:cTn id="118" dur="1000" fill="hold"/>
                                        <p:tgtEl>
                                          <p:spTgt spid="24"/>
                                        </p:tgtEl>
                                        <p:attrNameLst>
                                          <p:attrName>ppt_x</p:attrName>
                                        </p:attrNameLst>
                                      </p:cBhvr>
                                      <p:tavLst>
                                        <p:tav tm="0">
                                          <p:val>
                                            <p:strVal val="#ppt_x"/>
                                          </p:val>
                                        </p:tav>
                                        <p:tav tm="100000">
                                          <p:val>
                                            <p:strVal val="#ppt_x"/>
                                          </p:val>
                                        </p:tav>
                                      </p:tavLst>
                                    </p:anim>
                                    <p:anim calcmode="lin" valueType="num">
                                      <p:cBhvr>
                                        <p:cTn id="11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1600" b="1" kern="0" spc="100" dirty="0">
                <a:solidFill>
                  <a:srgbClr val="B9A26D"/>
                </a:solidFill>
                <a:latin typeface="Calibri" pitchFamily="34" charset="0"/>
                <a:ea typeface="Calibri" pitchFamily="34" charset="-122"/>
                <a:cs typeface="Calibri" pitchFamily="34" charset="-120"/>
              </a:rPr>
              <a:t>03  SIMULATEUR GITHUB — HOLOGRAPHIC QUANTUM COMPUTING</a:t>
            </a:r>
            <a:endParaRPr lang="en-US" sz="1600" dirty="0">
              <a:solidFill>
                <a:srgbClr val="B9A26D"/>
              </a:solidFill>
            </a:endParaRPr>
          </a:p>
        </p:txBody>
      </p:sp>
      <p:sp>
        <p:nvSpPr>
          <p:cNvPr id="3" name="Shape 1"/>
          <p:cNvSpPr/>
          <p:nvPr/>
        </p:nvSpPr>
        <p:spPr>
          <a:xfrm>
            <a:off x="457200" y="658368"/>
            <a:ext cx="8229600" cy="27432"/>
          </a:xfrm>
          <a:prstGeom prst="rect">
            <a:avLst/>
          </a:prstGeom>
          <a:solidFill>
            <a:srgbClr val="B9A26D"/>
          </a:solidFill>
          <a:ln w="12700">
            <a:solidFill>
              <a:srgbClr val="B9A26D"/>
            </a:solidFill>
            <a:prstDash val="solid"/>
          </a:ln>
        </p:spPr>
        <p:txBody>
          <a:bodyPr/>
          <a:lstStyle/>
          <a:p>
            <a:endParaRPr lang="fr-FR"/>
          </a:p>
        </p:txBody>
      </p:sp>
      <p:sp>
        <p:nvSpPr>
          <p:cNvPr id="4" name="Shape 2"/>
          <p:cNvSpPr/>
          <p:nvPr/>
        </p:nvSpPr>
        <p:spPr>
          <a:xfrm>
            <a:off x="365760" y="777240"/>
            <a:ext cx="8412480" cy="640080"/>
          </a:xfrm>
          <a:prstGeom prst="rect">
            <a:avLst/>
          </a:prstGeom>
          <a:solidFill>
            <a:srgbClr val="111B44"/>
          </a:solidFill>
          <a:ln w="12700">
            <a:solidFill>
              <a:srgbClr val="FFD166"/>
            </a:solidFill>
            <a:prstDash val="solid"/>
          </a:ln>
        </p:spPr>
        <p:txBody>
          <a:bodyPr/>
          <a:lstStyle/>
          <a:p>
            <a:endParaRPr lang="fr-FR"/>
          </a:p>
        </p:txBody>
      </p:sp>
      <p:sp>
        <p:nvSpPr>
          <p:cNvPr id="5" name="Text 3"/>
          <p:cNvSpPr/>
          <p:nvPr/>
        </p:nvSpPr>
        <p:spPr>
          <a:xfrm>
            <a:off x="548640" y="886968"/>
            <a:ext cx="8046720" cy="347472"/>
          </a:xfrm>
          <a:prstGeom prst="rect">
            <a:avLst/>
          </a:prstGeom>
          <a:noFill/>
          <a:ln/>
        </p:spPr>
        <p:txBody>
          <a:bodyPr wrap="square" rtlCol="0" anchor="ctr"/>
          <a:lstStyle/>
          <a:p>
            <a:pPr marL="0" indent="0" algn="ctr">
              <a:buNone/>
            </a:pPr>
            <a:r>
              <a:rPr lang="en-US" sz="1100" b="1" dirty="0">
                <a:solidFill>
                  <a:srgbClr val="FFD166"/>
                </a:solidFill>
                <a:latin typeface="Consolas" pitchFamily="34" charset="0"/>
                <a:ea typeface="Consolas" pitchFamily="34" charset="-122"/>
                <a:cs typeface="Consolas" pitchFamily="34" charset="-120"/>
              </a:rPr>
              <a:t>cbrwx / Holographic-Quantum-Computing-Simulator   ·   Python 100%   ·   MIT License   ·   Outil : Qiskit</a:t>
            </a:r>
            <a:endParaRPr lang="en-US" sz="1100" dirty="0"/>
          </a:p>
        </p:txBody>
      </p:sp>
      <p:sp>
        <p:nvSpPr>
          <p:cNvPr id="6" name="Shape 4"/>
          <p:cNvSpPr/>
          <p:nvPr/>
        </p:nvSpPr>
        <p:spPr>
          <a:xfrm>
            <a:off x="365760" y="1572768"/>
            <a:ext cx="4114800" cy="1417320"/>
          </a:xfrm>
          <a:prstGeom prst="rect">
            <a:avLst/>
          </a:prstGeom>
          <a:solidFill>
            <a:srgbClr val="111B44"/>
          </a:solidFill>
          <a:ln w="1905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pic>
        <p:nvPicPr>
          <p:cNvPr id="7" name="Image 0" descr="preencoded.png"/>
          <p:cNvPicPr>
            <a:picLocks noChangeAspect="1"/>
          </p:cNvPicPr>
          <p:nvPr/>
        </p:nvPicPr>
        <p:blipFill>
          <a:blip r:embed="rId3"/>
          <a:stretch>
            <a:fillRect/>
          </a:stretch>
        </p:blipFill>
        <p:spPr>
          <a:xfrm>
            <a:off x="502920" y="1965960"/>
            <a:ext cx="548640" cy="548640"/>
          </a:xfrm>
          <a:prstGeom prst="rect">
            <a:avLst/>
          </a:prstGeom>
        </p:spPr>
      </p:pic>
      <p:sp>
        <p:nvSpPr>
          <p:cNvPr id="8" name="Text 5"/>
          <p:cNvSpPr/>
          <p:nvPr/>
        </p:nvSpPr>
        <p:spPr>
          <a:xfrm>
            <a:off x="1143000" y="1682496"/>
            <a:ext cx="3200400" cy="347472"/>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Principe Holographique</a:t>
            </a:r>
            <a:endParaRPr lang="en-US" sz="1200" dirty="0">
              <a:solidFill>
                <a:srgbClr val="B9A26D"/>
              </a:solidFill>
            </a:endParaRPr>
          </a:p>
        </p:txBody>
      </p:sp>
      <p:sp>
        <p:nvSpPr>
          <p:cNvPr id="9" name="Text 6"/>
          <p:cNvSpPr/>
          <p:nvPr/>
        </p:nvSpPr>
        <p:spPr>
          <a:xfrm>
            <a:off x="1143000" y="2048256"/>
            <a:ext cx="3200400" cy="868680"/>
          </a:xfrm>
          <a:prstGeom prst="rect">
            <a:avLst/>
          </a:prstGeom>
          <a:noFill/>
          <a:ln/>
        </p:spPr>
        <p:txBody>
          <a:bodyPr wrap="square" rtlCol="0" anchor="ctr"/>
          <a:lstStyle/>
          <a:p>
            <a:pPr marL="0" indent="0">
              <a:buNone/>
            </a:pPr>
            <a:r>
              <a:rPr lang="en-US" sz="1100" dirty="0">
                <a:solidFill>
                  <a:srgbClr val="E8F0FE"/>
                </a:solidFill>
                <a:latin typeface="Calibri" pitchFamily="34" charset="0"/>
                <a:ea typeface="Calibri" pitchFamily="34" charset="-122"/>
                <a:cs typeface="Calibri" pitchFamily="34" charset="-120"/>
              </a:rPr>
              <a:t>L'info d'un espace 3D est encodée sur sa frontière 2D — analogue au trou noir (event horizon)</a:t>
            </a:r>
            <a:endParaRPr lang="en-US" sz="1100" dirty="0"/>
          </a:p>
        </p:txBody>
      </p:sp>
      <p:sp>
        <p:nvSpPr>
          <p:cNvPr id="10" name="Shape 7"/>
          <p:cNvSpPr/>
          <p:nvPr/>
        </p:nvSpPr>
        <p:spPr>
          <a:xfrm>
            <a:off x="4709160" y="1572768"/>
            <a:ext cx="4114800" cy="1417320"/>
          </a:xfrm>
          <a:prstGeom prst="rect">
            <a:avLst/>
          </a:prstGeom>
          <a:solidFill>
            <a:srgbClr val="111B44"/>
          </a:solidFill>
          <a:ln w="1905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4846320" y="1965960"/>
            <a:ext cx="548640" cy="548640"/>
          </a:xfrm>
          <a:prstGeom prst="rect">
            <a:avLst/>
          </a:prstGeom>
        </p:spPr>
      </p:pic>
      <p:sp>
        <p:nvSpPr>
          <p:cNvPr id="12" name="Text 8"/>
          <p:cNvSpPr/>
          <p:nvPr/>
        </p:nvSpPr>
        <p:spPr>
          <a:xfrm>
            <a:off x="5486400" y="1682496"/>
            <a:ext cx="3200400" cy="347472"/>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AdS/CFT Correspondence</a:t>
            </a:r>
            <a:endParaRPr lang="en-US" sz="1200" dirty="0">
              <a:solidFill>
                <a:srgbClr val="B9A26D"/>
              </a:solidFill>
            </a:endParaRPr>
          </a:p>
        </p:txBody>
      </p:sp>
      <p:sp>
        <p:nvSpPr>
          <p:cNvPr id="13" name="Text 9"/>
          <p:cNvSpPr/>
          <p:nvPr/>
        </p:nvSpPr>
        <p:spPr>
          <a:xfrm>
            <a:off x="5486400" y="2048256"/>
            <a:ext cx="3200400" cy="868680"/>
          </a:xfrm>
          <a:prstGeom prst="rect">
            <a:avLst/>
          </a:prstGeom>
          <a:noFill/>
          <a:ln/>
        </p:spPr>
        <p:txBody>
          <a:bodyPr wrap="square" rtlCol="0" anchor="ctr"/>
          <a:lstStyle/>
          <a:p>
            <a:pPr marL="0" indent="0">
              <a:buNone/>
            </a:pPr>
            <a:r>
              <a:rPr lang="en-US" sz="1100" dirty="0">
                <a:solidFill>
                  <a:srgbClr val="E8F0FE"/>
                </a:solidFill>
                <a:latin typeface="Calibri" pitchFamily="34" charset="0"/>
                <a:ea typeface="Calibri" pitchFamily="34" charset="-122"/>
                <a:cs typeface="Calibri" pitchFamily="34" charset="-120"/>
              </a:rPr>
              <a:t>Relation entre gravité quantique (bulk) et théorie des champs (boundary) — fondement mathématique</a:t>
            </a:r>
            <a:endParaRPr lang="en-US" sz="1100" dirty="0"/>
          </a:p>
        </p:txBody>
      </p:sp>
      <p:sp>
        <p:nvSpPr>
          <p:cNvPr id="14" name="Shape 10"/>
          <p:cNvSpPr/>
          <p:nvPr/>
        </p:nvSpPr>
        <p:spPr>
          <a:xfrm>
            <a:off x="365760" y="3172968"/>
            <a:ext cx="4114800" cy="1417320"/>
          </a:xfrm>
          <a:prstGeom prst="rect">
            <a:avLst/>
          </a:prstGeom>
          <a:solidFill>
            <a:srgbClr val="111B44"/>
          </a:solidFill>
          <a:ln w="1905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pic>
        <p:nvPicPr>
          <p:cNvPr id="15" name="Image 2" descr="preencoded.png"/>
          <p:cNvPicPr>
            <a:picLocks noChangeAspect="1"/>
          </p:cNvPicPr>
          <p:nvPr/>
        </p:nvPicPr>
        <p:blipFill>
          <a:blip r:embed="rId5"/>
          <a:stretch>
            <a:fillRect/>
          </a:stretch>
        </p:blipFill>
        <p:spPr>
          <a:xfrm>
            <a:off x="502920" y="3566160"/>
            <a:ext cx="548640" cy="548640"/>
          </a:xfrm>
          <a:prstGeom prst="rect">
            <a:avLst/>
          </a:prstGeom>
        </p:spPr>
      </p:pic>
      <p:sp>
        <p:nvSpPr>
          <p:cNvPr id="16" name="Text 11"/>
          <p:cNvSpPr/>
          <p:nvPr/>
        </p:nvSpPr>
        <p:spPr>
          <a:xfrm>
            <a:off x="1143000" y="3282696"/>
            <a:ext cx="3200400" cy="347472"/>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Quantum Error Correction</a:t>
            </a:r>
            <a:endParaRPr lang="en-US" sz="1200" dirty="0">
              <a:solidFill>
                <a:srgbClr val="B9A26D"/>
              </a:solidFill>
            </a:endParaRPr>
          </a:p>
        </p:txBody>
      </p:sp>
      <p:sp>
        <p:nvSpPr>
          <p:cNvPr id="17" name="Text 12"/>
          <p:cNvSpPr/>
          <p:nvPr/>
        </p:nvSpPr>
        <p:spPr>
          <a:xfrm>
            <a:off x="1143000" y="3648456"/>
            <a:ext cx="3200400" cy="868680"/>
          </a:xfrm>
          <a:prstGeom prst="rect">
            <a:avLst/>
          </a:prstGeom>
          <a:noFill/>
          <a:ln/>
        </p:spPr>
        <p:txBody>
          <a:bodyPr wrap="square" rtlCol="0" anchor="ctr"/>
          <a:lstStyle/>
          <a:p>
            <a:pPr marL="0" indent="0">
              <a:buNone/>
            </a:pPr>
            <a:r>
              <a:rPr lang="en-US" sz="1100" dirty="0">
                <a:solidFill>
                  <a:srgbClr val="E8F0FE"/>
                </a:solidFill>
                <a:latin typeface="Calibri" pitchFamily="34" charset="0"/>
                <a:ea typeface="Calibri" pitchFamily="34" charset="-122"/>
                <a:cs typeface="Calibri" pitchFamily="34" charset="-120"/>
              </a:rPr>
              <a:t>Correction active + protection passive par structure holographique — robustesse aux erreurs</a:t>
            </a:r>
            <a:endParaRPr lang="en-US" sz="1100" dirty="0"/>
          </a:p>
        </p:txBody>
      </p:sp>
      <p:sp>
        <p:nvSpPr>
          <p:cNvPr id="18" name="Shape 13"/>
          <p:cNvSpPr/>
          <p:nvPr/>
        </p:nvSpPr>
        <p:spPr>
          <a:xfrm>
            <a:off x="4709160" y="3172968"/>
            <a:ext cx="4114800" cy="1417320"/>
          </a:xfrm>
          <a:prstGeom prst="rect">
            <a:avLst/>
          </a:prstGeom>
          <a:solidFill>
            <a:srgbClr val="111B44"/>
          </a:solidFill>
          <a:ln w="19050">
            <a:solidFill>
              <a:srgbClr val="FFD166"/>
            </a:solidFill>
            <a:prstDash val="solid"/>
          </a:ln>
          <a:effectLst>
            <a:outerShdw blurRad="152400" dist="50800" dir="8100000" algn="bl" rotWithShape="0">
              <a:srgbClr val="000000">
                <a:alpha val="35000"/>
              </a:srgbClr>
            </a:outerShdw>
          </a:effectLst>
        </p:spPr>
        <p:txBody>
          <a:bodyPr/>
          <a:lstStyle/>
          <a:p>
            <a:endParaRPr lang="fr-FR"/>
          </a:p>
        </p:txBody>
      </p:sp>
      <p:pic>
        <p:nvPicPr>
          <p:cNvPr id="19" name="Image 3" descr="preencoded.png"/>
          <p:cNvPicPr>
            <a:picLocks noChangeAspect="1"/>
          </p:cNvPicPr>
          <p:nvPr/>
        </p:nvPicPr>
        <p:blipFill>
          <a:blip r:embed="rId6"/>
          <a:stretch>
            <a:fillRect/>
          </a:stretch>
        </p:blipFill>
        <p:spPr>
          <a:xfrm>
            <a:off x="4846320" y="3566160"/>
            <a:ext cx="548640" cy="548640"/>
          </a:xfrm>
          <a:prstGeom prst="rect">
            <a:avLst/>
          </a:prstGeom>
        </p:spPr>
      </p:pic>
      <p:sp>
        <p:nvSpPr>
          <p:cNvPr id="20" name="Text 14"/>
          <p:cNvSpPr/>
          <p:nvPr/>
        </p:nvSpPr>
        <p:spPr>
          <a:xfrm>
            <a:off x="5486400" y="3282696"/>
            <a:ext cx="3200400" cy="347472"/>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Tensor Networks</a:t>
            </a:r>
            <a:endParaRPr lang="en-US" sz="1200" dirty="0">
              <a:solidFill>
                <a:srgbClr val="B9A26D"/>
              </a:solidFill>
            </a:endParaRPr>
          </a:p>
        </p:txBody>
      </p:sp>
      <p:sp>
        <p:nvSpPr>
          <p:cNvPr id="21" name="Text 15"/>
          <p:cNvSpPr/>
          <p:nvPr/>
        </p:nvSpPr>
        <p:spPr>
          <a:xfrm>
            <a:off x="5486400" y="3648456"/>
            <a:ext cx="3200400" cy="868680"/>
          </a:xfrm>
          <a:prstGeom prst="rect">
            <a:avLst/>
          </a:prstGeom>
          <a:noFill/>
          <a:ln/>
        </p:spPr>
        <p:txBody>
          <a:bodyPr wrap="square" rtlCol="0" anchor="ctr"/>
          <a:lstStyle/>
          <a:p>
            <a:pPr marL="0" indent="0">
              <a:buNone/>
            </a:pPr>
            <a:r>
              <a:rPr lang="en-US" sz="1100" dirty="0">
                <a:solidFill>
                  <a:srgbClr val="E8F0FE"/>
                </a:solidFill>
                <a:latin typeface="Calibri" pitchFamily="34" charset="0"/>
                <a:ea typeface="Calibri" pitchFamily="34" charset="-122"/>
                <a:cs typeface="Calibri" pitchFamily="34" charset="-120"/>
              </a:rPr>
              <a:t>Implémentation computationnelle de l'encodage holographique — contraction optimisée AdS</a:t>
            </a:r>
            <a:endParaRPr lang="en-US" sz="1100" dirty="0"/>
          </a:p>
        </p:txBody>
      </p:sp>
      <p:sp>
        <p:nvSpPr>
          <p:cNvPr id="22" name="Shape 16"/>
          <p:cNvSpPr/>
          <p:nvPr/>
        </p:nvSpPr>
        <p:spPr>
          <a:xfrm>
            <a:off x="457200" y="4617720"/>
            <a:ext cx="1920240" cy="411480"/>
          </a:xfrm>
          <a:prstGeom prst="rect">
            <a:avLst/>
          </a:prstGeom>
          <a:solidFill>
            <a:srgbClr val="0A0E2A"/>
          </a:solidFill>
          <a:ln w="12700">
            <a:solidFill>
              <a:srgbClr val="B9A26D"/>
            </a:solidFill>
            <a:prstDash val="solid"/>
          </a:ln>
        </p:spPr>
        <p:txBody>
          <a:bodyPr/>
          <a:lstStyle/>
          <a:p>
            <a:endParaRPr lang="fr-FR"/>
          </a:p>
        </p:txBody>
      </p:sp>
      <p:sp>
        <p:nvSpPr>
          <p:cNvPr id="23" name="Text 17"/>
          <p:cNvSpPr/>
          <p:nvPr/>
        </p:nvSpPr>
        <p:spPr>
          <a:xfrm>
            <a:off x="502920" y="4636008"/>
            <a:ext cx="914400" cy="347472"/>
          </a:xfrm>
          <a:prstGeom prst="rect">
            <a:avLst/>
          </a:prstGeom>
          <a:noFill/>
          <a:ln/>
        </p:spPr>
        <p:txBody>
          <a:bodyPr wrap="square" rtlCol="0" anchor="ctr"/>
          <a:lstStyle/>
          <a:p>
            <a:pPr marL="0" indent="0">
              <a:buNone/>
            </a:pPr>
            <a:r>
              <a:rPr lang="en-US" sz="1400" b="1" dirty="0">
                <a:solidFill>
                  <a:srgbClr val="B9A26D"/>
                </a:solidFill>
                <a:latin typeface="Calibri" pitchFamily="34" charset="0"/>
                <a:ea typeface="Calibri" pitchFamily="34" charset="-122"/>
                <a:cs typeface="Calibri" pitchFamily="34" charset="-120"/>
              </a:rPr>
              <a:t>0.9824</a:t>
            </a:r>
            <a:r>
              <a:rPr lang="en-US" sz="1400" b="1" dirty="0">
                <a:solidFill>
                  <a:srgbClr val="00D4FF"/>
                </a:solidFill>
                <a:latin typeface="Calibri" pitchFamily="34" charset="0"/>
                <a:ea typeface="Calibri" pitchFamily="34" charset="-122"/>
                <a:cs typeface="Calibri" pitchFamily="34" charset="-120"/>
              </a:rPr>
              <a:t>  </a:t>
            </a:r>
            <a:endParaRPr lang="en-US" sz="1400" dirty="0"/>
          </a:p>
        </p:txBody>
      </p:sp>
      <p:sp>
        <p:nvSpPr>
          <p:cNvPr id="24" name="Text 18"/>
          <p:cNvSpPr/>
          <p:nvPr/>
        </p:nvSpPr>
        <p:spPr>
          <a:xfrm>
            <a:off x="1325880" y="4681728"/>
            <a:ext cx="1005840" cy="27432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Fidelity</a:t>
            </a:r>
            <a:endParaRPr lang="en-US" sz="1100" dirty="0"/>
          </a:p>
        </p:txBody>
      </p:sp>
      <p:sp>
        <p:nvSpPr>
          <p:cNvPr id="25" name="Shape 19"/>
          <p:cNvSpPr/>
          <p:nvPr/>
        </p:nvSpPr>
        <p:spPr>
          <a:xfrm>
            <a:off x="2606040" y="4617720"/>
            <a:ext cx="1920240" cy="411480"/>
          </a:xfrm>
          <a:prstGeom prst="rect">
            <a:avLst/>
          </a:prstGeom>
          <a:solidFill>
            <a:srgbClr val="0A0E2A"/>
          </a:solidFill>
          <a:ln w="12700">
            <a:solidFill>
              <a:srgbClr val="B9A26D"/>
            </a:solidFill>
            <a:prstDash val="solid"/>
          </a:ln>
        </p:spPr>
        <p:txBody>
          <a:bodyPr/>
          <a:lstStyle/>
          <a:p>
            <a:endParaRPr lang="fr-FR"/>
          </a:p>
        </p:txBody>
      </p:sp>
      <p:sp>
        <p:nvSpPr>
          <p:cNvPr id="26" name="Text 20"/>
          <p:cNvSpPr/>
          <p:nvPr/>
        </p:nvSpPr>
        <p:spPr>
          <a:xfrm>
            <a:off x="2651760" y="4636008"/>
            <a:ext cx="914400" cy="347472"/>
          </a:xfrm>
          <a:prstGeom prst="rect">
            <a:avLst/>
          </a:prstGeom>
          <a:noFill/>
          <a:ln/>
        </p:spPr>
        <p:txBody>
          <a:bodyPr wrap="square" rtlCol="0" anchor="ctr"/>
          <a:lstStyle/>
          <a:p>
            <a:pPr marL="0" indent="0">
              <a:buNone/>
            </a:pPr>
            <a:r>
              <a:rPr lang="en-US" sz="1400" b="1" dirty="0">
                <a:solidFill>
                  <a:srgbClr val="B9A26D"/>
                </a:solidFill>
                <a:latin typeface="Calibri" pitchFamily="34" charset="0"/>
                <a:ea typeface="Calibri" pitchFamily="34" charset="-122"/>
                <a:cs typeface="Calibri" pitchFamily="34" charset="-120"/>
              </a:rPr>
              <a:t>12+  </a:t>
            </a:r>
            <a:endParaRPr lang="en-US" sz="1400" dirty="0">
              <a:solidFill>
                <a:srgbClr val="B9A26D"/>
              </a:solidFill>
            </a:endParaRPr>
          </a:p>
        </p:txBody>
      </p:sp>
      <p:sp>
        <p:nvSpPr>
          <p:cNvPr id="27" name="Text 21"/>
          <p:cNvSpPr/>
          <p:nvPr/>
        </p:nvSpPr>
        <p:spPr>
          <a:xfrm>
            <a:off x="3474720" y="4681728"/>
            <a:ext cx="1005840" cy="27432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Surface qubits</a:t>
            </a:r>
            <a:endParaRPr lang="en-US" sz="1100" dirty="0"/>
          </a:p>
        </p:txBody>
      </p:sp>
      <p:sp>
        <p:nvSpPr>
          <p:cNvPr id="28" name="Shape 22"/>
          <p:cNvSpPr/>
          <p:nvPr/>
        </p:nvSpPr>
        <p:spPr>
          <a:xfrm>
            <a:off x="4754880" y="4617720"/>
            <a:ext cx="1920240" cy="411480"/>
          </a:xfrm>
          <a:prstGeom prst="rect">
            <a:avLst/>
          </a:prstGeom>
          <a:solidFill>
            <a:srgbClr val="0A0E2A"/>
          </a:solidFill>
          <a:ln w="12700">
            <a:solidFill>
              <a:srgbClr val="B9A26D"/>
            </a:solidFill>
            <a:prstDash val="solid"/>
          </a:ln>
        </p:spPr>
        <p:txBody>
          <a:bodyPr/>
          <a:lstStyle/>
          <a:p>
            <a:endParaRPr lang="fr-FR"/>
          </a:p>
        </p:txBody>
      </p:sp>
      <p:sp>
        <p:nvSpPr>
          <p:cNvPr id="29" name="Text 23"/>
          <p:cNvSpPr/>
          <p:nvPr/>
        </p:nvSpPr>
        <p:spPr>
          <a:xfrm>
            <a:off x="4800600" y="4636008"/>
            <a:ext cx="914400" cy="347472"/>
          </a:xfrm>
          <a:prstGeom prst="rect">
            <a:avLst/>
          </a:prstGeom>
          <a:noFill/>
          <a:ln/>
        </p:spPr>
        <p:txBody>
          <a:bodyPr wrap="square" rtlCol="0" anchor="ctr"/>
          <a:lstStyle/>
          <a:p>
            <a:pPr marL="0" indent="0">
              <a:buNone/>
            </a:pPr>
            <a:r>
              <a:rPr lang="en-US" sz="1400" b="1" dirty="0">
                <a:solidFill>
                  <a:srgbClr val="B9A26D"/>
                </a:solidFill>
                <a:latin typeface="Calibri" pitchFamily="34" charset="0"/>
                <a:ea typeface="Calibri" pitchFamily="34" charset="-122"/>
                <a:cs typeface="Calibri" pitchFamily="34" charset="-120"/>
              </a:rPr>
              <a:t>3  </a:t>
            </a:r>
            <a:endParaRPr lang="en-US" sz="1400" dirty="0">
              <a:solidFill>
                <a:srgbClr val="B9A26D"/>
              </a:solidFill>
            </a:endParaRPr>
          </a:p>
        </p:txBody>
      </p:sp>
      <p:sp>
        <p:nvSpPr>
          <p:cNvPr id="30" name="Text 24"/>
          <p:cNvSpPr/>
          <p:nvPr/>
        </p:nvSpPr>
        <p:spPr>
          <a:xfrm>
            <a:off x="5623560" y="4681728"/>
            <a:ext cx="1005840" cy="27432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Bulk qubits</a:t>
            </a:r>
            <a:endParaRPr lang="en-US" sz="1100" dirty="0"/>
          </a:p>
        </p:txBody>
      </p:sp>
      <p:sp>
        <p:nvSpPr>
          <p:cNvPr id="31" name="Shape 25"/>
          <p:cNvSpPr/>
          <p:nvPr/>
        </p:nvSpPr>
        <p:spPr>
          <a:xfrm>
            <a:off x="6903720" y="4617720"/>
            <a:ext cx="1920240" cy="411480"/>
          </a:xfrm>
          <a:prstGeom prst="rect">
            <a:avLst/>
          </a:prstGeom>
          <a:solidFill>
            <a:srgbClr val="0A0E2A"/>
          </a:solidFill>
          <a:ln w="12700">
            <a:solidFill>
              <a:srgbClr val="B9A26D"/>
            </a:solidFill>
            <a:prstDash val="solid"/>
          </a:ln>
        </p:spPr>
        <p:txBody>
          <a:bodyPr/>
          <a:lstStyle/>
          <a:p>
            <a:endParaRPr lang="fr-FR"/>
          </a:p>
        </p:txBody>
      </p:sp>
      <p:sp>
        <p:nvSpPr>
          <p:cNvPr id="32" name="Text 26"/>
          <p:cNvSpPr/>
          <p:nvPr/>
        </p:nvSpPr>
        <p:spPr>
          <a:xfrm>
            <a:off x="6949440" y="4636008"/>
            <a:ext cx="914400" cy="347472"/>
          </a:xfrm>
          <a:prstGeom prst="rect">
            <a:avLst/>
          </a:prstGeom>
          <a:noFill/>
          <a:ln/>
        </p:spPr>
        <p:txBody>
          <a:bodyPr wrap="square" rtlCol="0" anchor="ctr"/>
          <a:lstStyle/>
          <a:p>
            <a:pPr marL="0" indent="0">
              <a:buNone/>
            </a:pPr>
            <a:r>
              <a:rPr lang="en-US" sz="1400" b="1" dirty="0">
                <a:solidFill>
                  <a:srgbClr val="B9A26D"/>
                </a:solidFill>
                <a:latin typeface="Calibri" pitchFamily="34" charset="0"/>
                <a:ea typeface="Calibri" pitchFamily="34" charset="-122"/>
                <a:cs typeface="Calibri" pitchFamily="34" charset="-120"/>
              </a:rPr>
              <a:t>98%  </a:t>
            </a:r>
            <a:endParaRPr lang="en-US" sz="1400" dirty="0">
              <a:solidFill>
                <a:srgbClr val="B9A26D"/>
              </a:solidFill>
            </a:endParaRPr>
          </a:p>
        </p:txBody>
      </p:sp>
      <p:sp>
        <p:nvSpPr>
          <p:cNvPr id="33" name="Text 27"/>
          <p:cNvSpPr/>
          <p:nvPr/>
        </p:nvSpPr>
        <p:spPr>
          <a:xfrm>
            <a:off x="7772400" y="4681728"/>
            <a:ext cx="1005840" cy="27432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Précision encodage</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1000"/>
                                        <p:tgtEl>
                                          <p:spTgt spid="24"/>
                                        </p:tgtEl>
                                      </p:cBhvr>
                                    </p:animEffect>
                                    <p:anim calcmode="lin" valueType="num">
                                      <p:cBhvr>
                                        <p:cTn id="118" dur="1000" fill="hold"/>
                                        <p:tgtEl>
                                          <p:spTgt spid="24"/>
                                        </p:tgtEl>
                                        <p:attrNameLst>
                                          <p:attrName>ppt_x</p:attrName>
                                        </p:attrNameLst>
                                      </p:cBhvr>
                                      <p:tavLst>
                                        <p:tav tm="0">
                                          <p:val>
                                            <p:strVal val="#ppt_x"/>
                                          </p:val>
                                        </p:tav>
                                        <p:tav tm="100000">
                                          <p:val>
                                            <p:strVal val="#ppt_x"/>
                                          </p:val>
                                        </p:tav>
                                      </p:tavLst>
                                    </p:anim>
                                    <p:anim calcmode="lin" valueType="num">
                                      <p:cBhvr>
                                        <p:cTn id="119" dur="10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1000"/>
                                        <p:tgtEl>
                                          <p:spTgt spid="25"/>
                                        </p:tgtEl>
                                      </p:cBhvr>
                                    </p:animEffect>
                                    <p:anim calcmode="lin" valueType="num">
                                      <p:cBhvr>
                                        <p:cTn id="123" dur="1000" fill="hold"/>
                                        <p:tgtEl>
                                          <p:spTgt spid="25"/>
                                        </p:tgtEl>
                                        <p:attrNameLst>
                                          <p:attrName>ppt_x</p:attrName>
                                        </p:attrNameLst>
                                      </p:cBhvr>
                                      <p:tavLst>
                                        <p:tav tm="0">
                                          <p:val>
                                            <p:strVal val="#ppt_x"/>
                                          </p:val>
                                        </p:tav>
                                        <p:tav tm="100000">
                                          <p:val>
                                            <p:strVal val="#ppt_x"/>
                                          </p:val>
                                        </p:tav>
                                      </p:tavLst>
                                    </p:anim>
                                    <p:anim calcmode="lin" valueType="num">
                                      <p:cBhvr>
                                        <p:cTn id="124" dur="10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1000"/>
                                        <p:tgtEl>
                                          <p:spTgt spid="26"/>
                                        </p:tgtEl>
                                      </p:cBhvr>
                                    </p:animEffect>
                                    <p:anim calcmode="lin" valueType="num">
                                      <p:cBhvr>
                                        <p:cTn id="128" dur="1000" fill="hold"/>
                                        <p:tgtEl>
                                          <p:spTgt spid="26"/>
                                        </p:tgtEl>
                                        <p:attrNameLst>
                                          <p:attrName>ppt_x</p:attrName>
                                        </p:attrNameLst>
                                      </p:cBhvr>
                                      <p:tavLst>
                                        <p:tav tm="0">
                                          <p:val>
                                            <p:strVal val="#ppt_x"/>
                                          </p:val>
                                        </p:tav>
                                        <p:tav tm="100000">
                                          <p:val>
                                            <p:strVal val="#ppt_x"/>
                                          </p:val>
                                        </p:tav>
                                      </p:tavLst>
                                    </p:anim>
                                    <p:anim calcmode="lin" valueType="num">
                                      <p:cBhvr>
                                        <p:cTn id="129" dur="1000" fill="hold"/>
                                        <p:tgtEl>
                                          <p:spTgt spid="26"/>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1000"/>
                                        <p:tgtEl>
                                          <p:spTgt spid="27"/>
                                        </p:tgtEl>
                                      </p:cBhvr>
                                    </p:animEffect>
                                    <p:anim calcmode="lin" valueType="num">
                                      <p:cBhvr>
                                        <p:cTn id="133" dur="1000" fill="hold"/>
                                        <p:tgtEl>
                                          <p:spTgt spid="27"/>
                                        </p:tgtEl>
                                        <p:attrNameLst>
                                          <p:attrName>ppt_x</p:attrName>
                                        </p:attrNameLst>
                                      </p:cBhvr>
                                      <p:tavLst>
                                        <p:tav tm="0">
                                          <p:val>
                                            <p:strVal val="#ppt_x"/>
                                          </p:val>
                                        </p:tav>
                                        <p:tav tm="100000">
                                          <p:val>
                                            <p:strVal val="#ppt_x"/>
                                          </p:val>
                                        </p:tav>
                                      </p:tavLst>
                                    </p:anim>
                                    <p:anim calcmode="lin" valueType="num">
                                      <p:cBhvr>
                                        <p:cTn id="134" dur="1000" fill="hold"/>
                                        <p:tgtEl>
                                          <p:spTgt spid="27"/>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1000"/>
                                        <p:tgtEl>
                                          <p:spTgt spid="28"/>
                                        </p:tgtEl>
                                      </p:cBhvr>
                                    </p:animEffect>
                                    <p:anim calcmode="lin" valueType="num">
                                      <p:cBhvr>
                                        <p:cTn id="138" dur="1000" fill="hold"/>
                                        <p:tgtEl>
                                          <p:spTgt spid="28"/>
                                        </p:tgtEl>
                                        <p:attrNameLst>
                                          <p:attrName>ppt_x</p:attrName>
                                        </p:attrNameLst>
                                      </p:cBhvr>
                                      <p:tavLst>
                                        <p:tav tm="0">
                                          <p:val>
                                            <p:strVal val="#ppt_x"/>
                                          </p:val>
                                        </p:tav>
                                        <p:tav tm="100000">
                                          <p:val>
                                            <p:strVal val="#ppt_x"/>
                                          </p:val>
                                        </p:tav>
                                      </p:tavLst>
                                    </p:anim>
                                    <p:anim calcmode="lin" valueType="num">
                                      <p:cBhvr>
                                        <p:cTn id="139" dur="1000" fill="hold"/>
                                        <p:tgtEl>
                                          <p:spTgt spid="28"/>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1000"/>
                                        <p:tgtEl>
                                          <p:spTgt spid="29"/>
                                        </p:tgtEl>
                                      </p:cBhvr>
                                    </p:animEffect>
                                    <p:anim calcmode="lin" valueType="num">
                                      <p:cBhvr>
                                        <p:cTn id="143" dur="1000" fill="hold"/>
                                        <p:tgtEl>
                                          <p:spTgt spid="29"/>
                                        </p:tgtEl>
                                        <p:attrNameLst>
                                          <p:attrName>ppt_x</p:attrName>
                                        </p:attrNameLst>
                                      </p:cBhvr>
                                      <p:tavLst>
                                        <p:tav tm="0">
                                          <p:val>
                                            <p:strVal val="#ppt_x"/>
                                          </p:val>
                                        </p:tav>
                                        <p:tav tm="100000">
                                          <p:val>
                                            <p:strVal val="#ppt_x"/>
                                          </p:val>
                                        </p:tav>
                                      </p:tavLst>
                                    </p:anim>
                                    <p:anim calcmode="lin" valueType="num">
                                      <p:cBhvr>
                                        <p:cTn id="144" dur="1000" fill="hold"/>
                                        <p:tgtEl>
                                          <p:spTgt spid="29"/>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1000"/>
                                        <p:tgtEl>
                                          <p:spTgt spid="30"/>
                                        </p:tgtEl>
                                      </p:cBhvr>
                                    </p:animEffect>
                                    <p:anim calcmode="lin" valueType="num">
                                      <p:cBhvr>
                                        <p:cTn id="148" dur="1000" fill="hold"/>
                                        <p:tgtEl>
                                          <p:spTgt spid="30"/>
                                        </p:tgtEl>
                                        <p:attrNameLst>
                                          <p:attrName>ppt_x</p:attrName>
                                        </p:attrNameLst>
                                      </p:cBhvr>
                                      <p:tavLst>
                                        <p:tav tm="0">
                                          <p:val>
                                            <p:strVal val="#ppt_x"/>
                                          </p:val>
                                        </p:tav>
                                        <p:tav tm="100000">
                                          <p:val>
                                            <p:strVal val="#ppt_x"/>
                                          </p:val>
                                        </p:tav>
                                      </p:tavLst>
                                    </p:anim>
                                    <p:anim calcmode="lin" valueType="num">
                                      <p:cBhvr>
                                        <p:cTn id="149" dur="1000" fill="hold"/>
                                        <p:tgtEl>
                                          <p:spTgt spid="30"/>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1000"/>
                                        <p:tgtEl>
                                          <p:spTgt spid="31"/>
                                        </p:tgtEl>
                                      </p:cBhvr>
                                    </p:animEffect>
                                    <p:anim calcmode="lin" valueType="num">
                                      <p:cBhvr>
                                        <p:cTn id="153" dur="1000" fill="hold"/>
                                        <p:tgtEl>
                                          <p:spTgt spid="31"/>
                                        </p:tgtEl>
                                        <p:attrNameLst>
                                          <p:attrName>ppt_x</p:attrName>
                                        </p:attrNameLst>
                                      </p:cBhvr>
                                      <p:tavLst>
                                        <p:tav tm="0">
                                          <p:val>
                                            <p:strVal val="#ppt_x"/>
                                          </p:val>
                                        </p:tav>
                                        <p:tav tm="100000">
                                          <p:val>
                                            <p:strVal val="#ppt_x"/>
                                          </p:val>
                                        </p:tav>
                                      </p:tavLst>
                                    </p:anim>
                                    <p:anim calcmode="lin" valueType="num">
                                      <p:cBhvr>
                                        <p:cTn id="154" dur="1000" fill="hold"/>
                                        <p:tgtEl>
                                          <p:spTgt spid="31"/>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1000"/>
                                        <p:tgtEl>
                                          <p:spTgt spid="32"/>
                                        </p:tgtEl>
                                      </p:cBhvr>
                                    </p:animEffect>
                                    <p:anim calcmode="lin" valueType="num">
                                      <p:cBhvr>
                                        <p:cTn id="158" dur="1000" fill="hold"/>
                                        <p:tgtEl>
                                          <p:spTgt spid="32"/>
                                        </p:tgtEl>
                                        <p:attrNameLst>
                                          <p:attrName>ppt_x</p:attrName>
                                        </p:attrNameLst>
                                      </p:cBhvr>
                                      <p:tavLst>
                                        <p:tav tm="0">
                                          <p:val>
                                            <p:strVal val="#ppt_x"/>
                                          </p:val>
                                        </p:tav>
                                        <p:tav tm="100000">
                                          <p:val>
                                            <p:strVal val="#ppt_x"/>
                                          </p:val>
                                        </p:tav>
                                      </p:tavLst>
                                    </p:anim>
                                    <p:anim calcmode="lin" valueType="num">
                                      <p:cBhvr>
                                        <p:cTn id="159" dur="1000" fill="hold"/>
                                        <p:tgtEl>
                                          <p:spTgt spid="32"/>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1000"/>
                                        <p:tgtEl>
                                          <p:spTgt spid="33"/>
                                        </p:tgtEl>
                                      </p:cBhvr>
                                    </p:animEffect>
                                    <p:anim calcmode="lin" valueType="num">
                                      <p:cBhvr>
                                        <p:cTn id="163" dur="1000" fill="hold"/>
                                        <p:tgtEl>
                                          <p:spTgt spid="33"/>
                                        </p:tgtEl>
                                        <p:attrNameLst>
                                          <p:attrName>ppt_x</p:attrName>
                                        </p:attrNameLst>
                                      </p:cBhvr>
                                      <p:tavLst>
                                        <p:tav tm="0">
                                          <p:val>
                                            <p:strVal val="#ppt_x"/>
                                          </p:val>
                                        </p:tav>
                                        <p:tav tm="100000">
                                          <p:val>
                                            <p:strVal val="#ppt_x"/>
                                          </p:val>
                                        </p:tav>
                                      </p:tavLst>
                                    </p:anim>
                                    <p:anim calcmode="lin" valueType="num">
                                      <p:cBhvr>
                                        <p:cTn id="16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166BF-0E5E-D73C-4F9F-C5CF8AA667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5E129DE-5E01-E02F-E19C-2381C3D9EE5C}"/>
              </a:ext>
            </a:extLst>
          </p:cNvPr>
          <p:cNvSpPr/>
          <p:nvPr/>
        </p:nvSpPr>
        <p:spPr>
          <a:xfrm>
            <a:off x="0" y="0"/>
            <a:ext cx="9144000" cy="658368"/>
          </a:xfrm>
          <a:prstGeom prst="rect">
            <a:avLst/>
          </a:prstGeom>
          <a:solidFill>
            <a:srgbClr val="0A1628"/>
          </a:solidFill>
        </p:spPr>
        <p:txBody>
          <a:bodyPr/>
          <a:lstStyle/>
          <a:p>
            <a:endParaRPr lang="fr-FR"/>
          </a:p>
        </p:txBody>
      </p:sp>
      <p:sp>
        <p:nvSpPr>
          <p:cNvPr id="3" name="Shape 1">
            <a:extLst>
              <a:ext uri="{FF2B5EF4-FFF2-40B4-BE49-F238E27FC236}">
                <a16:creationId xmlns:a16="http://schemas.microsoft.com/office/drawing/2014/main" id="{71146894-1815-70AC-C443-E8D116E4776B}"/>
              </a:ext>
            </a:extLst>
          </p:cNvPr>
          <p:cNvSpPr/>
          <p:nvPr/>
        </p:nvSpPr>
        <p:spPr>
          <a:xfrm>
            <a:off x="0" y="0"/>
            <a:ext cx="54864" cy="658368"/>
          </a:xfrm>
          <a:prstGeom prst="rect">
            <a:avLst/>
          </a:prstGeom>
          <a:solidFill>
            <a:schemeClr val="bg1"/>
          </a:solidFill>
          <a:ln>
            <a:solidFill>
              <a:schemeClr val="bg1"/>
            </a:solidFill>
          </a:ln>
        </p:spPr>
        <p:txBody>
          <a:bodyPr/>
          <a:lstStyle/>
          <a:p>
            <a:endParaRPr lang="fr-FR"/>
          </a:p>
        </p:txBody>
      </p:sp>
      <p:sp>
        <p:nvSpPr>
          <p:cNvPr id="4" name="Text 2">
            <a:extLst>
              <a:ext uri="{FF2B5EF4-FFF2-40B4-BE49-F238E27FC236}">
                <a16:creationId xmlns:a16="http://schemas.microsoft.com/office/drawing/2014/main" id="{D1E93D9A-C457-58BC-FAE2-AF94A202913A}"/>
              </a:ext>
            </a:extLst>
          </p:cNvPr>
          <p:cNvSpPr/>
          <p:nvPr/>
        </p:nvSpPr>
        <p:spPr>
          <a:xfrm>
            <a:off x="164592" y="0"/>
            <a:ext cx="8778240" cy="658368"/>
          </a:xfrm>
          <a:prstGeom prst="rect">
            <a:avLst/>
          </a:prstGeom>
          <a:noFill/>
        </p:spPr>
        <p:txBody>
          <a:bodyPr wrap="square" lIns="0" tIns="0" rIns="0" bIns="0" rtlCol="0" anchor="ctr"/>
          <a:lstStyle/>
          <a:p>
            <a:pPr marL="0" indent="0">
              <a:buNone/>
            </a:pPr>
            <a:r>
              <a:rPr lang="en-US" sz="2000" b="1" dirty="0">
                <a:solidFill>
                  <a:srgbClr val="B9A26D"/>
                </a:solidFill>
                <a:latin typeface="Calibri" panose="020F0502020204030204" pitchFamily="34" charset="0"/>
                <a:ea typeface="Calibri" panose="020F0502020204030204" pitchFamily="34" charset="-122"/>
                <a:cs typeface="Calibri" panose="020F0502020204030204" pitchFamily="34" charset="-120"/>
              </a:rPr>
              <a:t>Simulateur Holographique Quantique — GitHub</a:t>
            </a:r>
            <a:endParaRPr lang="en-US" sz="2000" dirty="0">
              <a:solidFill>
                <a:srgbClr val="B9A26D"/>
              </a:solidFill>
            </a:endParaRPr>
          </a:p>
        </p:txBody>
      </p:sp>
      <p:sp>
        <p:nvSpPr>
          <p:cNvPr id="5" name="Text 3">
            <a:extLst>
              <a:ext uri="{FF2B5EF4-FFF2-40B4-BE49-F238E27FC236}">
                <a16:creationId xmlns:a16="http://schemas.microsoft.com/office/drawing/2014/main" id="{258E762F-06B1-8E0A-1DBB-40A2BD9D645E}"/>
              </a:ext>
            </a:extLst>
          </p:cNvPr>
          <p:cNvSpPr/>
          <p:nvPr/>
        </p:nvSpPr>
        <p:spPr>
          <a:xfrm>
            <a:off x="320040" y="777240"/>
            <a:ext cx="8503920" cy="384048"/>
          </a:xfrm>
          <a:prstGeom prst="rect">
            <a:avLst/>
          </a:prstGeom>
          <a:noFill/>
        </p:spPr>
        <p:txBody>
          <a:bodyPr wrap="square" lIns="0" tIns="0" rIns="0" bIns="0" rtlCol="0" anchor="ctr"/>
          <a:lstStyle/>
          <a:p>
            <a:pPr marL="0" indent="0">
              <a:buNone/>
            </a:pPr>
            <a:r>
              <a:rPr lang="en-US" sz="1800" b="1" dirty="0">
                <a:solidFill>
                  <a:srgbClr val="B9A26D"/>
                </a:solidFill>
                <a:latin typeface="Calibri" panose="020F0502020204030204" pitchFamily="34" charset="0"/>
                <a:ea typeface="Calibri" panose="020F0502020204030204" pitchFamily="34" charset="-122"/>
                <a:cs typeface="Calibri" panose="020F0502020204030204" pitchFamily="34" charset="-120"/>
              </a:rPr>
              <a:t>Holographic Quantum Computing Simulator</a:t>
            </a:r>
            <a:endParaRPr lang="en-US" sz="1800" dirty="0">
              <a:solidFill>
                <a:srgbClr val="B9A26D"/>
              </a:solidFill>
            </a:endParaRPr>
          </a:p>
        </p:txBody>
      </p:sp>
      <p:sp>
        <p:nvSpPr>
          <p:cNvPr id="6" name="Shape 4">
            <a:extLst>
              <a:ext uri="{FF2B5EF4-FFF2-40B4-BE49-F238E27FC236}">
                <a16:creationId xmlns:a16="http://schemas.microsoft.com/office/drawing/2014/main" id="{1371B1BA-11C3-BDC8-7956-6AB9E21B7D50}"/>
              </a:ext>
            </a:extLst>
          </p:cNvPr>
          <p:cNvSpPr/>
          <p:nvPr/>
        </p:nvSpPr>
        <p:spPr>
          <a:xfrm>
            <a:off x="320040" y="1261872"/>
            <a:ext cx="5029200" cy="2834640"/>
          </a:xfrm>
          <a:prstGeom prst="rect">
            <a:avLst/>
          </a:prstGeom>
          <a:solidFill>
            <a:srgbClr val="0F1E36"/>
          </a:solidFill>
          <a:ln w="6350">
            <a:solidFill>
              <a:srgbClr val="B9A26D"/>
            </a:solidFill>
            <a:prstDash val="solid"/>
          </a:ln>
        </p:spPr>
        <p:txBody>
          <a:bodyPr/>
          <a:lstStyle/>
          <a:p>
            <a:endParaRPr lang="fr-FR"/>
          </a:p>
        </p:txBody>
      </p:sp>
      <p:sp>
        <p:nvSpPr>
          <p:cNvPr id="7" name="Text 5">
            <a:extLst>
              <a:ext uri="{FF2B5EF4-FFF2-40B4-BE49-F238E27FC236}">
                <a16:creationId xmlns:a16="http://schemas.microsoft.com/office/drawing/2014/main" id="{22CBA47C-DC17-D139-E03F-0EA246C4C688}"/>
              </a:ext>
            </a:extLst>
          </p:cNvPr>
          <p:cNvSpPr/>
          <p:nvPr/>
        </p:nvSpPr>
        <p:spPr>
          <a:xfrm>
            <a:off x="457200" y="1371600"/>
            <a:ext cx="4572000" cy="292608"/>
          </a:xfrm>
          <a:prstGeom prst="rect">
            <a:avLst/>
          </a:prstGeom>
          <a:noFill/>
        </p:spPr>
        <p:txBody>
          <a:bodyPr wrap="square" lIns="0" tIns="0" rIns="0" bIns="0" rtlCol="0" anchor="ctr"/>
          <a:lstStyle/>
          <a:p>
            <a:pPr marL="0" indent="0">
              <a:buNone/>
            </a:pPr>
            <a:r>
              <a:rPr lang="en-US" sz="1300" b="1" dirty="0">
                <a:solidFill>
                  <a:srgbClr val="B9A26D"/>
                </a:solidFill>
                <a:latin typeface="Calibri" panose="020F0502020204030204" pitchFamily="34" charset="0"/>
                <a:ea typeface="Calibri" panose="020F0502020204030204" pitchFamily="34" charset="-122"/>
                <a:cs typeface="Calibri" panose="020F0502020204030204" pitchFamily="34" charset="-120"/>
              </a:rPr>
              <a:t>Fonctionnalités du simulateur</a:t>
            </a:r>
            <a:endParaRPr lang="en-US" sz="1300" dirty="0">
              <a:solidFill>
                <a:srgbClr val="B9A26D"/>
              </a:solidFill>
            </a:endParaRPr>
          </a:p>
        </p:txBody>
      </p:sp>
      <p:sp>
        <p:nvSpPr>
          <p:cNvPr id="8" name="Text 6">
            <a:extLst>
              <a:ext uri="{FF2B5EF4-FFF2-40B4-BE49-F238E27FC236}">
                <a16:creationId xmlns:a16="http://schemas.microsoft.com/office/drawing/2014/main" id="{3A11AA88-09F4-1DE2-5502-F1C18F24849E}"/>
              </a:ext>
            </a:extLst>
          </p:cNvPr>
          <p:cNvSpPr/>
          <p:nvPr/>
        </p:nvSpPr>
        <p:spPr>
          <a:xfrm>
            <a:off x="457200" y="1773936"/>
            <a:ext cx="4663440" cy="384048"/>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Simulation d'architectures quantiques holographiques expérimentales</a:t>
            </a:r>
            <a:endParaRPr lang="en-US" sz="1200" dirty="0"/>
          </a:p>
        </p:txBody>
      </p:sp>
      <p:sp>
        <p:nvSpPr>
          <p:cNvPr id="9" name="Text 7">
            <a:extLst>
              <a:ext uri="{FF2B5EF4-FFF2-40B4-BE49-F238E27FC236}">
                <a16:creationId xmlns:a16="http://schemas.microsoft.com/office/drawing/2014/main" id="{EC8E6020-FD5C-F6F8-56CC-0B17E75C6D43}"/>
              </a:ext>
            </a:extLst>
          </p:cNvPr>
          <p:cNvSpPr/>
          <p:nvPr/>
        </p:nvSpPr>
        <p:spPr>
          <a:xfrm>
            <a:off x="457200" y="2203704"/>
            <a:ext cx="4663440" cy="384048"/>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Test de circuits quantiques avant implémentation réelle</a:t>
            </a:r>
            <a:endParaRPr lang="en-US" sz="1200" dirty="0"/>
          </a:p>
        </p:txBody>
      </p:sp>
      <p:sp>
        <p:nvSpPr>
          <p:cNvPr id="10" name="Text 8">
            <a:extLst>
              <a:ext uri="{FF2B5EF4-FFF2-40B4-BE49-F238E27FC236}">
                <a16:creationId xmlns:a16="http://schemas.microsoft.com/office/drawing/2014/main" id="{66E01940-566D-150A-99AD-ED29A5EDF3F4}"/>
              </a:ext>
            </a:extLst>
          </p:cNvPr>
          <p:cNvSpPr/>
          <p:nvPr/>
        </p:nvSpPr>
        <p:spPr>
          <a:xfrm>
            <a:off x="457200" y="2633472"/>
            <a:ext cx="4663440" cy="384048"/>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Exploration des corrélations quantiques à grande échelle</a:t>
            </a:r>
            <a:endParaRPr lang="en-US" sz="1200" dirty="0"/>
          </a:p>
        </p:txBody>
      </p:sp>
      <p:sp>
        <p:nvSpPr>
          <p:cNvPr id="11" name="Text 9">
            <a:extLst>
              <a:ext uri="{FF2B5EF4-FFF2-40B4-BE49-F238E27FC236}">
                <a16:creationId xmlns:a16="http://schemas.microsoft.com/office/drawing/2014/main" id="{E27681CF-017E-C7A3-F932-27F31708C5B9}"/>
              </a:ext>
            </a:extLst>
          </p:cNvPr>
          <p:cNvSpPr/>
          <p:nvPr/>
        </p:nvSpPr>
        <p:spPr>
          <a:xfrm>
            <a:off x="457200" y="3063240"/>
            <a:ext cx="4663440" cy="384048"/>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Modélisation du bruit et de la décohérence</a:t>
            </a:r>
            <a:endParaRPr lang="en-US" sz="1200" dirty="0"/>
          </a:p>
        </p:txBody>
      </p:sp>
      <p:sp>
        <p:nvSpPr>
          <p:cNvPr id="12" name="Text 10">
            <a:extLst>
              <a:ext uri="{FF2B5EF4-FFF2-40B4-BE49-F238E27FC236}">
                <a16:creationId xmlns:a16="http://schemas.microsoft.com/office/drawing/2014/main" id="{AEF2F22A-A2E4-4A3F-67A0-18D1F1A22EE8}"/>
              </a:ext>
            </a:extLst>
          </p:cNvPr>
          <p:cNvSpPr/>
          <p:nvPr/>
        </p:nvSpPr>
        <p:spPr>
          <a:xfrm>
            <a:off x="457200" y="3493008"/>
            <a:ext cx="4663440" cy="384048"/>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Visualisation des états intriqués et de leur évolution</a:t>
            </a:r>
            <a:endParaRPr lang="en-US" sz="1200" dirty="0"/>
          </a:p>
        </p:txBody>
      </p:sp>
      <p:sp>
        <p:nvSpPr>
          <p:cNvPr id="13" name="Shape 11">
            <a:extLst>
              <a:ext uri="{FF2B5EF4-FFF2-40B4-BE49-F238E27FC236}">
                <a16:creationId xmlns:a16="http://schemas.microsoft.com/office/drawing/2014/main" id="{99D69B78-7D35-DE53-7EE0-053B4B48D7EE}"/>
              </a:ext>
            </a:extLst>
          </p:cNvPr>
          <p:cNvSpPr/>
          <p:nvPr/>
        </p:nvSpPr>
        <p:spPr>
          <a:xfrm>
            <a:off x="5577840" y="1261872"/>
            <a:ext cx="3246120" cy="2834640"/>
          </a:xfrm>
          <a:prstGeom prst="rect">
            <a:avLst/>
          </a:prstGeom>
          <a:solidFill>
            <a:srgbClr val="0F1E36"/>
          </a:solidFill>
          <a:ln w="6350">
            <a:solidFill>
              <a:srgbClr val="B9A26D"/>
            </a:solidFill>
            <a:prstDash val="solid"/>
          </a:ln>
        </p:spPr>
        <p:txBody>
          <a:bodyPr/>
          <a:lstStyle/>
          <a:p>
            <a:endParaRPr lang="fr-FR" sz="1200"/>
          </a:p>
        </p:txBody>
      </p:sp>
      <p:sp>
        <p:nvSpPr>
          <p:cNvPr id="14" name="Text 12">
            <a:extLst>
              <a:ext uri="{FF2B5EF4-FFF2-40B4-BE49-F238E27FC236}">
                <a16:creationId xmlns:a16="http://schemas.microsoft.com/office/drawing/2014/main" id="{708DC790-587D-FB0F-9C4E-7362C52DC6C5}"/>
              </a:ext>
            </a:extLst>
          </p:cNvPr>
          <p:cNvSpPr/>
          <p:nvPr/>
        </p:nvSpPr>
        <p:spPr>
          <a:xfrm>
            <a:off x="5715000" y="1371600"/>
            <a:ext cx="2926080" cy="292608"/>
          </a:xfrm>
          <a:prstGeom prst="rect">
            <a:avLst/>
          </a:prstGeom>
          <a:noFill/>
        </p:spPr>
        <p:txBody>
          <a:bodyPr wrap="square" lIns="0" tIns="0" rIns="0" bIns="0" rtlCol="0" anchor="ctr"/>
          <a:lstStyle/>
          <a:p>
            <a:pPr marL="0" indent="0">
              <a:buNone/>
            </a:pPr>
            <a:r>
              <a:rPr lang="en-US" sz="1300" b="1" dirty="0">
                <a:solidFill>
                  <a:srgbClr val="B9A26D"/>
                </a:solidFill>
                <a:latin typeface="Calibri" panose="020F0502020204030204" pitchFamily="34" charset="0"/>
                <a:ea typeface="Calibri" panose="020F0502020204030204" pitchFamily="34" charset="-122"/>
                <a:cs typeface="Calibri" panose="020F0502020204030204" pitchFamily="34" charset="-120"/>
              </a:rPr>
              <a:t>Pourquoi simuler ?</a:t>
            </a:r>
            <a:endParaRPr lang="en-US" sz="1300" dirty="0">
              <a:solidFill>
                <a:srgbClr val="B9A26D"/>
              </a:solidFill>
            </a:endParaRPr>
          </a:p>
        </p:txBody>
      </p:sp>
      <p:sp>
        <p:nvSpPr>
          <p:cNvPr id="15" name="Text 13">
            <a:extLst>
              <a:ext uri="{FF2B5EF4-FFF2-40B4-BE49-F238E27FC236}">
                <a16:creationId xmlns:a16="http://schemas.microsoft.com/office/drawing/2014/main" id="{A2E16A0E-ACC1-81A9-3B1D-0506EEF55440}"/>
              </a:ext>
            </a:extLst>
          </p:cNvPr>
          <p:cNvSpPr/>
          <p:nvPr/>
        </p:nvSpPr>
        <p:spPr>
          <a:xfrm>
            <a:off x="5715000" y="1783080"/>
            <a:ext cx="914400" cy="219456"/>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Coût</a:t>
            </a:r>
            <a:endParaRPr lang="en-US" sz="1200" dirty="0">
              <a:solidFill>
                <a:srgbClr val="B9A26D"/>
              </a:solidFill>
            </a:endParaRPr>
          </a:p>
        </p:txBody>
      </p:sp>
      <p:sp>
        <p:nvSpPr>
          <p:cNvPr id="16" name="Text 14">
            <a:extLst>
              <a:ext uri="{FF2B5EF4-FFF2-40B4-BE49-F238E27FC236}">
                <a16:creationId xmlns:a16="http://schemas.microsoft.com/office/drawing/2014/main" id="{CC41FF19-D14F-661D-64F5-BC4711D478CF}"/>
              </a:ext>
            </a:extLst>
          </p:cNvPr>
          <p:cNvSpPr/>
          <p:nvPr/>
        </p:nvSpPr>
        <p:spPr>
          <a:xfrm>
            <a:off x="6675120" y="1783080"/>
            <a:ext cx="2011680" cy="365760"/>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Les ordinateurs quantiques réels sont rares et chers</a:t>
            </a:r>
            <a:endParaRPr lang="en-US" sz="1200" dirty="0"/>
          </a:p>
        </p:txBody>
      </p:sp>
      <p:sp>
        <p:nvSpPr>
          <p:cNvPr id="17" name="Text 15">
            <a:extLst>
              <a:ext uri="{FF2B5EF4-FFF2-40B4-BE49-F238E27FC236}">
                <a16:creationId xmlns:a16="http://schemas.microsoft.com/office/drawing/2014/main" id="{D357812A-69B4-F21B-2A19-07F435D082E3}"/>
              </a:ext>
            </a:extLst>
          </p:cNvPr>
          <p:cNvSpPr/>
          <p:nvPr/>
        </p:nvSpPr>
        <p:spPr>
          <a:xfrm>
            <a:off x="5715000" y="2295144"/>
            <a:ext cx="914400" cy="219456"/>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Bruit</a:t>
            </a:r>
            <a:endParaRPr lang="en-US" sz="1200" dirty="0">
              <a:solidFill>
                <a:srgbClr val="B9A26D"/>
              </a:solidFill>
            </a:endParaRPr>
          </a:p>
        </p:txBody>
      </p:sp>
      <p:sp>
        <p:nvSpPr>
          <p:cNvPr id="18" name="Text 16">
            <a:extLst>
              <a:ext uri="{FF2B5EF4-FFF2-40B4-BE49-F238E27FC236}">
                <a16:creationId xmlns:a16="http://schemas.microsoft.com/office/drawing/2014/main" id="{8E4E5ED7-682C-D387-F9D3-282923E7908A}"/>
              </a:ext>
            </a:extLst>
          </p:cNvPr>
          <p:cNvSpPr/>
          <p:nvPr/>
        </p:nvSpPr>
        <p:spPr>
          <a:xfrm>
            <a:off x="6675120" y="2295144"/>
            <a:ext cx="2011680" cy="365760"/>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Les machines actuelles sont très bruitées (NISQ era)</a:t>
            </a:r>
            <a:endParaRPr lang="en-US" sz="1200" dirty="0"/>
          </a:p>
        </p:txBody>
      </p:sp>
      <p:sp>
        <p:nvSpPr>
          <p:cNvPr id="19" name="Text 17">
            <a:extLst>
              <a:ext uri="{FF2B5EF4-FFF2-40B4-BE49-F238E27FC236}">
                <a16:creationId xmlns:a16="http://schemas.microsoft.com/office/drawing/2014/main" id="{96056025-2EC6-7D99-9E60-4E4C29E7AB1F}"/>
              </a:ext>
            </a:extLst>
          </p:cNvPr>
          <p:cNvSpPr/>
          <p:nvPr/>
        </p:nvSpPr>
        <p:spPr>
          <a:xfrm>
            <a:off x="5715000" y="2807208"/>
            <a:ext cx="914400" cy="219456"/>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Scalabilité</a:t>
            </a:r>
            <a:endParaRPr lang="en-US" sz="1200" dirty="0">
              <a:solidFill>
                <a:srgbClr val="B9A26D"/>
              </a:solidFill>
            </a:endParaRPr>
          </a:p>
        </p:txBody>
      </p:sp>
      <p:sp>
        <p:nvSpPr>
          <p:cNvPr id="20" name="Text 18">
            <a:extLst>
              <a:ext uri="{FF2B5EF4-FFF2-40B4-BE49-F238E27FC236}">
                <a16:creationId xmlns:a16="http://schemas.microsoft.com/office/drawing/2014/main" id="{2E69888C-316D-E79A-DADB-051137106A9B}"/>
              </a:ext>
            </a:extLst>
          </p:cNvPr>
          <p:cNvSpPr/>
          <p:nvPr/>
        </p:nvSpPr>
        <p:spPr>
          <a:xfrm>
            <a:off x="6675120" y="2807208"/>
            <a:ext cx="2011680" cy="365760"/>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Simuler des systèmes impossibles à tester physiquement</a:t>
            </a:r>
            <a:endParaRPr lang="en-US" sz="1200" dirty="0"/>
          </a:p>
        </p:txBody>
      </p:sp>
      <p:sp>
        <p:nvSpPr>
          <p:cNvPr id="21" name="Text 19">
            <a:extLst>
              <a:ext uri="{FF2B5EF4-FFF2-40B4-BE49-F238E27FC236}">
                <a16:creationId xmlns:a16="http://schemas.microsoft.com/office/drawing/2014/main" id="{7330D146-2EC8-86E4-4A0F-DC184CADFED9}"/>
              </a:ext>
            </a:extLst>
          </p:cNvPr>
          <p:cNvSpPr/>
          <p:nvPr/>
        </p:nvSpPr>
        <p:spPr>
          <a:xfrm>
            <a:off x="5715000" y="3319272"/>
            <a:ext cx="914400" cy="219456"/>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Itération</a:t>
            </a:r>
            <a:endParaRPr lang="en-US" sz="1200" dirty="0">
              <a:solidFill>
                <a:srgbClr val="B9A26D"/>
              </a:solidFill>
            </a:endParaRPr>
          </a:p>
        </p:txBody>
      </p:sp>
      <p:sp>
        <p:nvSpPr>
          <p:cNvPr id="22" name="Text 20">
            <a:extLst>
              <a:ext uri="{FF2B5EF4-FFF2-40B4-BE49-F238E27FC236}">
                <a16:creationId xmlns:a16="http://schemas.microsoft.com/office/drawing/2014/main" id="{74A772EA-DA5F-5170-3C11-148B1DA3556B}"/>
              </a:ext>
            </a:extLst>
          </p:cNvPr>
          <p:cNvSpPr/>
          <p:nvPr/>
        </p:nvSpPr>
        <p:spPr>
          <a:xfrm>
            <a:off x="6675120" y="3319272"/>
            <a:ext cx="2011680" cy="365760"/>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Tester et corriger rapidement avant le déploiement</a:t>
            </a:r>
            <a:endParaRPr lang="en-US" sz="1200" dirty="0"/>
          </a:p>
        </p:txBody>
      </p:sp>
      <p:sp>
        <p:nvSpPr>
          <p:cNvPr id="23" name="Shape 21">
            <a:extLst>
              <a:ext uri="{FF2B5EF4-FFF2-40B4-BE49-F238E27FC236}">
                <a16:creationId xmlns:a16="http://schemas.microsoft.com/office/drawing/2014/main" id="{F4A7AE35-CDCD-ECD0-C7E4-823BEDA5B55F}"/>
              </a:ext>
            </a:extLst>
          </p:cNvPr>
          <p:cNvSpPr/>
          <p:nvPr/>
        </p:nvSpPr>
        <p:spPr>
          <a:xfrm>
            <a:off x="320040" y="4233672"/>
            <a:ext cx="8503920" cy="749808"/>
          </a:xfrm>
          <a:prstGeom prst="rect">
            <a:avLst/>
          </a:prstGeom>
          <a:solidFill>
            <a:srgbClr val="0C2240"/>
          </a:solidFill>
          <a:ln w="6350">
            <a:solidFill>
              <a:srgbClr val="B9A26D"/>
            </a:solidFill>
            <a:prstDash val="solid"/>
          </a:ln>
        </p:spPr>
        <p:txBody>
          <a:bodyPr/>
          <a:lstStyle/>
          <a:p>
            <a:endParaRPr lang="fr-FR"/>
          </a:p>
        </p:txBody>
      </p:sp>
      <p:sp>
        <p:nvSpPr>
          <p:cNvPr id="24" name="Text 22">
            <a:extLst>
              <a:ext uri="{FF2B5EF4-FFF2-40B4-BE49-F238E27FC236}">
                <a16:creationId xmlns:a16="http://schemas.microsoft.com/office/drawing/2014/main" id="{18792C42-7442-1E34-2119-32FD2E1B0307}"/>
              </a:ext>
            </a:extLst>
          </p:cNvPr>
          <p:cNvSpPr/>
          <p:nvPr/>
        </p:nvSpPr>
        <p:spPr>
          <a:xfrm>
            <a:off x="502920" y="4279392"/>
            <a:ext cx="2743200" cy="22860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Lien avec la thèse</a:t>
            </a:r>
            <a:endParaRPr lang="en-US" sz="1200" dirty="0">
              <a:solidFill>
                <a:srgbClr val="B9A26D"/>
              </a:solidFill>
            </a:endParaRPr>
          </a:p>
        </p:txBody>
      </p:sp>
      <p:sp>
        <p:nvSpPr>
          <p:cNvPr id="25" name="Text 23">
            <a:extLst>
              <a:ext uri="{FF2B5EF4-FFF2-40B4-BE49-F238E27FC236}">
                <a16:creationId xmlns:a16="http://schemas.microsoft.com/office/drawing/2014/main" id="{9758629B-1B93-BE5B-7CEA-B69B7855F2B1}"/>
              </a:ext>
            </a:extLst>
          </p:cNvPr>
          <p:cNvSpPr/>
          <p:nvPr/>
        </p:nvSpPr>
        <p:spPr>
          <a:xfrm>
            <a:off x="502920" y="4507992"/>
            <a:ext cx="8229600" cy="384048"/>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Notre travail de thèse utilise la simulation pour étudier des réseaux quantiques robustes, tester des architectures MERA et analyser la fidélité des transmissions quantiques dans des conditions de bruit réalistes.</a:t>
            </a:r>
            <a:endParaRPr lang="en-US" sz="1200" dirty="0"/>
          </a:p>
        </p:txBody>
      </p:sp>
    </p:spTree>
    <p:extLst>
      <p:ext uri="{BB962C8B-B14F-4D97-AF65-F5344CB8AC3E}">
        <p14:creationId xmlns:p14="http://schemas.microsoft.com/office/powerpoint/2010/main" val="308248988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70B9F-A050-18EE-2C5A-A8A647A7D2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BF83CD4-985D-0C8A-0C70-78C93D7C82DD}"/>
              </a:ext>
            </a:extLst>
          </p:cNvPr>
          <p:cNvSpPr/>
          <p:nvPr/>
        </p:nvSpPr>
        <p:spPr>
          <a:xfrm>
            <a:off x="0" y="0"/>
            <a:ext cx="9144000" cy="658368"/>
          </a:xfrm>
          <a:prstGeom prst="rect">
            <a:avLst/>
          </a:prstGeom>
          <a:solidFill>
            <a:srgbClr val="0A1628"/>
          </a:solidFill>
        </p:spPr>
        <p:txBody>
          <a:bodyPr/>
          <a:lstStyle/>
          <a:p>
            <a:endParaRPr lang="fr-FR"/>
          </a:p>
        </p:txBody>
      </p:sp>
      <p:sp>
        <p:nvSpPr>
          <p:cNvPr id="3" name="Shape 1">
            <a:extLst>
              <a:ext uri="{FF2B5EF4-FFF2-40B4-BE49-F238E27FC236}">
                <a16:creationId xmlns:a16="http://schemas.microsoft.com/office/drawing/2014/main" id="{AE89ADB2-FDDE-5B0E-E331-8B0100CF7C13}"/>
              </a:ext>
            </a:extLst>
          </p:cNvPr>
          <p:cNvSpPr/>
          <p:nvPr/>
        </p:nvSpPr>
        <p:spPr>
          <a:xfrm>
            <a:off x="0" y="0"/>
            <a:ext cx="54864" cy="658368"/>
          </a:xfrm>
          <a:prstGeom prst="rect">
            <a:avLst/>
          </a:prstGeom>
          <a:solidFill>
            <a:srgbClr val="B9A26D"/>
          </a:solidFill>
        </p:spPr>
        <p:txBody>
          <a:bodyPr/>
          <a:lstStyle/>
          <a:p>
            <a:endParaRPr lang="fr-FR"/>
          </a:p>
        </p:txBody>
      </p:sp>
      <p:sp>
        <p:nvSpPr>
          <p:cNvPr id="4" name="Text 2">
            <a:extLst>
              <a:ext uri="{FF2B5EF4-FFF2-40B4-BE49-F238E27FC236}">
                <a16:creationId xmlns:a16="http://schemas.microsoft.com/office/drawing/2014/main" id="{A0F7CEC7-71B6-F76C-CA86-D1A9303A273C}"/>
              </a:ext>
            </a:extLst>
          </p:cNvPr>
          <p:cNvSpPr/>
          <p:nvPr/>
        </p:nvSpPr>
        <p:spPr>
          <a:xfrm>
            <a:off x="164592" y="0"/>
            <a:ext cx="8778240" cy="658368"/>
          </a:xfrm>
          <a:prstGeom prst="rect">
            <a:avLst/>
          </a:prstGeom>
          <a:noFill/>
        </p:spPr>
        <p:txBody>
          <a:bodyPr wrap="square" lIns="0" tIns="0" rIns="0" bIns="0"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Article Scientifique — MERA &amp; Holographic Quantum Simulation</a:t>
            </a:r>
            <a:endParaRPr lang="en-US" sz="2000" dirty="0"/>
          </a:p>
        </p:txBody>
      </p:sp>
      <p:sp>
        <p:nvSpPr>
          <p:cNvPr id="5" name="Shape 3">
            <a:extLst>
              <a:ext uri="{FF2B5EF4-FFF2-40B4-BE49-F238E27FC236}">
                <a16:creationId xmlns:a16="http://schemas.microsoft.com/office/drawing/2014/main" id="{45B8F17C-53FF-E0CB-18DF-6E41AEBEE23C}"/>
              </a:ext>
            </a:extLst>
          </p:cNvPr>
          <p:cNvSpPr/>
          <p:nvPr/>
        </p:nvSpPr>
        <p:spPr>
          <a:xfrm>
            <a:off x="320040" y="768096"/>
            <a:ext cx="1554480" cy="228600"/>
          </a:xfrm>
          <a:prstGeom prst="rect">
            <a:avLst/>
          </a:prstGeom>
          <a:solidFill>
            <a:srgbClr val="7C3AED"/>
          </a:solidFill>
        </p:spPr>
        <p:txBody>
          <a:bodyPr/>
          <a:lstStyle/>
          <a:p>
            <a:endParaRPr lang="fr-FR"/>
          </a:p>
        </p:txBody>
      </p:sp>
      <p:sp>
        <p:nvSpPr>
          <p:cNvPr id="6" name="Text 4">
            <a:extLst>
              <a:ext uri="{FF2B5EF4-FFF2-40B4-BE49-F238E27FC236}">
                <a16:creationId xmlns:a16="http://schemas.microsoft.com/office/drawing/2014/main" id="{FC012788-62CB-9E55-663E-C1A95BA40B83}"/>
              </a:ext>
            </a:extLst>
          </p:cNvPr>
          <p:cNvSpPr/>
          <p:nvPr/>
        </p:nvSpPr>
        <p:spPr>
          <a:xfrm>
            <a:off x="320040" y="768096"/>
            <a:ext cx="1554480" cy="228600"/>
          </a:xfrm>
          <a:prstGeom prst="rect">
            <a:avLst/>
          </a:prstGeom>
          <a:solidFill>
            <a:srgbClr val="B9A26D"/>
          </a:solidFill>
        </p:spPr>
        <p:txBody>
          <a:bodyPr wrap="square" lIns="0" tIns="0" rIns="0" bIns="0" rtlCol="0" anchor="ctr"/>
          <a:lstStyle/>
          <a:p>
            <a:pPr marL="0" indent="0" algn="ctr">
              <a:buNone/>
            </a:pPr>
            <a:r>
              <a:rPr lang="en-US" sz="900" b="1" dirty="0">
                <a:solidFill>
                  <a:srgbClr val="050D1A"/>
                </a:solidFill>
                <a:latin typeface="Calibri" panose="020F0502020204030204" pitchFamily="34" charset="0"/>
                <a:ea typeface="Calibri" panose="020F0502020204030204" pitchFamily="34" charset="-122"/>
                <a:cs typeface="Calibri" panose="020F0502020204030204" pitchFamily="34" charset="-120"/>
              </a:rPr>
              <a:t>PUBLICATION SCIENTIFIQUE</a:t>
            </a:r>
            <a:endParaRPr lang="en-US" sz="900" dirty="0"/>
          </a:p>
        </p:txBody>
      </p:sp>
      <p:sp>
        <p:nvSpPr>
          <p:cNvPr id="7" name="Text 5">
            <a:extLst>
              <a:ext uri="{FF2B5EF4-FFF2-40B4-BE49-F238E27FC236}">
                <a16:creationId xmlns:a16="http://schemas.microsoft.com/office/drawing/2014/main" id="{DEBA38AC-2720-CDFE-3D21-FF93690AB01E}"/>
              </a:ext>
            </a:extLst>
          </p:cNvPr>
          <p:cNvSpPr/>
          <p:nvPr/>
        </p:nvSpPr>
        <p:spPr>
          <a:xfrm>
            <a:off x="320040" y="1042416"/>
            <a:ext cx="8503920" cy="347472"/>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"Holographic Quantum Simulation" — Architecture MERA</a:t>
            </a:r>
            <a:endParaRPr lang="en-US" sz="1500" dirty="0"/>
          </a:p>
        </p:txBody>
      </p:sp>
      <p:sp>
        <p:nvSpPr>
          <p:cNvPr id="8" name="Shape 6">
            <a:extLst>
              <a:ext uri="{FF2B5EF4-FFF2-40B4-BE49-F238E27FC236}">
                <a16:creationId xmlns:a16="http://schemas.microsoft.com/office/drawing/2014/main" id="{D472F2DE-C2B4-1DF5-50E7-4C8704730474}"/>
              </a:ext>
            </a:extLst>
          </p:cNvPr>
          <p:cNvSpPr/>
          <p:nvPr/>
        </p:nvSpPr>
        <p:spPr>
          <a:xfrm>
            <a:off x="320040" y="1481328"/>
            <a:ext cx="8503920" cy="658368"/>
          </a:xfrm>
          <a:prstGeom prst="rect">
            <a:avLst/>
          </a:prstGeom>
          <a:solidFill>
            <a:srgbClr val="0C2240"/>
          </a:solidFill>
          <a:ln w="19050">
            <a:solidFill>
              <a:srgbClr val="B9A26D"/>
            </a:solidFill>
            <a:prstDash val="solid"/>
          </a:ln>
        </p:spPr>
        <p:txBody>
          <a:bodyPr/>
          <a:lstStyle/>
          <a:p>
            <a:endParaRPr lang="fr-FR" sz="1200"/>
          </a:p>
        </p:txBody>
      </p:sp>
      <p:sp>
        <p:nvSpPr>
          <p:cNvPr id="9" name="Text 7">
            <a:extLst>
              <a:ext uri="{FF2B5EF4-FFF2-40B4-BE49-F238E27FC236}">
                <a16:creationId xmlns:a16="http://schemas.microsoft.com/office/drawing/2014/main" id="{CE57C5AA-9F7A-63DF-58F8-133926E33958}"/>
              </a:ext>
            </a:extLst>
          </p:cNvPr>
          <p:cNvSpPr/>
          <p:nvPr/>
        </p:nvSpPr>
        <p:spPr>
          <a:xfrm>
            <a:off x="502920" y="1517904"/>
            <a:ext cx="182880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Résultat clé</a:t>
            </a:r>
            <a:endParaRPr lang="en-US" sz="1200" dirty="0">
              <a:solidFill>
                <a:srgbClr val="B9A26D"/>
              </a:solidFill>
            </a:endParaRPr>
          </a:p>
        </p:txBody>
      </p:sp>
      <p:sp>
        <p:nvSpPr>
          <p:cNvPr id="10" name="Text 8">
            <a:extLst>
              <a:ext uri="{FF2B5EF4-FFF2-40B4-BE49-F238E27FC236}">
                <a16:creationId xmlns:a16="http://schemas.microsoft.com/office/drawing/2014/main" id="{16C184B8-094D-651B-9BF1-39812C5210FB}"/>
              </a:ext>
            </a:extLst>
          </p:cNvPr>
          <p:cNvSpPr/>
          <p:nvPr/>
        </p:nvSpPr>
        <p:spPr>
          <a:xfrm>
            <a:off x="502920" y="1783080"/>
            <a:ext cx="8229600" cy="292608"/>
          </a:xfrm>
          <a:prstGeom prst="rect">
            <a:avLst/>
          </a:prstGeom>
          <a:noFill/>
        </p:spPr>
        <p:txBody>
          <a:bodyPr wrap="square" lIns="0" tIns="0" rIns="0" bIns="0" rtlCol="0" anchor="ctr"/>
          <a:lstStyle/>
          <a:p>
            <a:pPr marL="0" indent="0">
              <a:buNone/>
            </a:pPr>
            <a:r>
              <a:rPr lang="en-US" sz="1200" i="1" dirty="0">
                <a:solidFill>
                  <a:srgbClr val="B9A26D"/>
                </a:solidFill>
                <a:latin typeface="Calibri" panose="020F0502020204030204" pitchFamily="34" charset="0"/>
                <a:ea typeface="Calibri" panose="020F0502020204030204" pitchFamily="34" charset="-122"/>
                <a:cs typeface="Calibri" panose="020F0502020204030204" pitchFamily="34" charset="-120"/>
              </a:rPr>
              <a:t>Simulation d'un système de 32 sites quantiques avec seulement 10 qubits grâce à l'architecture holographique MERA — réduction de 68% des ressources requises.</a:t>
            </a:r>
            <a:endParaRPr lang="en-US" sz="1200" dirty="0">
              <a:solidFill>
                <a:srgbClr val="B9A26D"/>
              </a:solidFill>
            </a:endParaRPr>
          </a:p>
        </p:txBody>
      </p:sp>
      <p:sp>
        <p:nvSpPr>
          <p:cNvPr id="11" name="Shape 9">
            <a:extLst>
              <a:ext uri="{FF2B5EF4-FFF2-40B4-BE49-F238E27FC236}">
                <a16:creationId xmlns:a16="http://schemas.microsoft.com/office/drawing/2014/main" id="{7559B0EA-4436-0806-430B-2D03EC912411}"/>
              </a:ext>
            </a:extLst>
          </p:cNvPr>
          <p:cNvSpPr/>
          <p:nvPr/>
        </p:nvSpPr>
        <p:spPr>
          <a:xfrm>
            <a:off x="320040" y="2267712"/>
            <a:ext cx="54864" cy="548640"/>
          </a:xfrm>
          <a:prstGeom prst="rect">
            <a:avLst/>
          </a:prstGeom>
          <a:solidFill>
            <a:srgbClr val="0D1B4B"/>
          </a:solidFill>
        </p:spPr>
        <p:txBody>
          <a:bodyPr/>
          <a:lstStyle/>
          <a:p>
            <a:endParaRPr lang="fr-FR"/>
          </a:p>
        </p:txBody>
      </p:sp>
      <p:sp>
        <p:nvSpPr>
          <p:cNvPr id="12" name="Text 10">
            <a:extLst>
              <a:ext uri="{FF2B5EF4-FFF2-40B4-BE49-F238E27FC236}">
                <a16:creationId xmlns:a16="http://schemas.microsoft.com/office/drawing/2014/main" id="{392AF226-7B39-DC31-20AC-3BA85A8D2C8E}"/>
              </a:ext>
            </a:extLst>
          </p:cNvPr>
          <p:cNvSpPr/>
          <p:nvPr/>
        </p:nvSpPr>
        <p:spPr>
          <a:xfrm>
            <a:off x="502920" y="2286000"/>
            <a:ext cx="32004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Couche 1 : Disentanglers</a:t>
            </a:r>
            <a:endParaRPr lang="en-US" sz="1200" dirty="0">
              <a:solidFill>
                <a:srgbClr val="B9A26D"/>
              </a:solidFill>
            </a:endParaRPr>
          </a:p>
        </p:txBody>
      </p:sp>
      <p:sp>
        <p:nvSpPr>
          <p:cNvPr id="13" name="Text 11">
            <a:extLst>
              <a:ext uri="{FF2B5EF4-FFF2-40B4-BE49-F238E27FC236}">
                <a16:creationId xmlns:a16="http://schemas.microsoft.com/office/drawing/2014/main" id="{5322DD78-4623-81D7-BDAA-93BC339672A9}"/>
              </a:ext>
            </a:extLst>
          </p:cNvPr>
          <p:cNvSpPr/>
          <p:nvPr/>
        </p:nvSpPr>
        <p:spPr>
          <a:xfrm>
            <a:off x="502920" y="2542032"/>
            <a:ext cx="8229600" cy="25603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Portes unitaires qui réduisent les corrélations à courte portée entre qubits voisins avant la renormalisation.</a:t>
            </a:r>
            <a:endParaRPr lang="en-US" sz="1200" dirty="0"/>
          </a:p>
        </p:txBody>
      </p:sp>
      <p:sp>
        <p:nvSpPr>
          <p:cNvPr id="14" name="Shape 12">
            <a:extLst>
              <a:ext uri="{FF2B5EF4-FFF2-40B4-BE49-F238E27FC236}">
                <a16:creationId xmlns:a16="http://schemas.microsoft.com/office/drawing/2014/main" id="{FD03B388-5095-D5BA-099D-50AB56B1D37E}"/>
              </a:ext>
            </a:extLst>
          </p:cNvPr>
          <p:cNvSpPr/>
          <p:nvPr/>
        </p:nvSpPr>
        <p:spPr>
          <a:xfrm>
            <a:off x="320040" y="2935224"/>
            <a:ext cx="54864" cy="548640"/>
          </a:xfrm>
          <a:prstGeom prst="rect">
            <a:avLst/>
          </a:prstGeom>
          <a:solidFill>
            <a:srgbClr val="B9A26D"/>
          </a:solidFill>
        </p:spPr>
        <p:txBody>
          <a:bodyPr/>
          <a:lstStyle/>
          <a:p>
            <a:endParaRPr lang="fr-FR"/>
          </a:p>
        </p:txBody>
      </p:sp>
      <p:sp>
        <p:nvSpPr>
          <p:cNvPr id="15" name="Text 13">
            <a:extLst>
              <a:ext uri="{FF2B5EF4-FFF2-40B4-BE49-F238E27FC236}">
                <a16:creationId xmlns:a16="http://schemas.microsoft.com/office/drawing/2014/main" id="{650FDCD9-B059-AA4B-E949-F14641D7B09E}"/>
              </a:ext>
            </a:extLst>
          </p:cNvPr>
          <p:cNvSpPr/>
          <p:nvPr/>
        </p:nvSpPr>
        <p:spPr>
          <a:xfrm>
            <a:off x="502920" y="2953512"/>
            <a:ext cx="32004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Couche 2 : Isometries</a:t>
            </a:r>
            <a:endParaRPr lang="en-US" sz="1200" dirty="0">
              <a:solidFill>
                <a:srgbClr val="B9A26D"/>
              </a:solidFill>
            </a:endParaRPr>
          </a:p>
        </p:txBody>
      </p:sp>
      <p:sp>
        <p:nvSpPr>
          <p:cNvPr id="16" name="Text 14">
            <a:extLst>
              <a:ext uri="{FF2B5EF4-FFF2-40B4-BE49-F238E27FC236}">
                <a16:creationId xmlns:a16="http://schemas.microsoft.com/office/drawing/2014/main" id="{1A1DED39-EAC2-A546-D338-ABF78F255B6C}"/>
              </a:ext>
            </a:extLst>
          </p:cNvPr>
          <p:cNvSpPr/>
          <p:nvPr/>
        </p:nvSpPr>
        <p:spPr>
          <a:xfrm>
            <a:off x="502920" y="3209544"/>
            <a:ext cx="8229600" cy="25603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Opérations qui projettent l'espace de Hilbert vers un espace de dimension inférieure, préservant les corrélations essentielles.</a:t>
            </a:r>
            <a:endParaRPr lang="en-US" sz="1200" dirty="0"/>
          </a:p>
        </p:txBody>
      </p:sp>
      <p:sp>
        <p:nvSpPr>
          <p:cNvPr id="17" name="Shape 15">
            <a:extLst>
              <a:ext uri="{FF2B5EF4-FFF2-40B4-BE49-F238E27FC236}">
                <a16:creationId xmlns:a16="http://schemas.microsoft.com/office/drawing/2014/main" id="{E68CB361-7DBF-5143-CF07-AE9B437DD2C4}"/>
              </a:ext>
            </a:extLst>
          </p:cNvPr>
          <p:cNvSpPr/>
          <p:nvPr/>
        </p:nvSpPr>
        <p:spPr>
          <a:xfrm>
            <a:off x="320040" y="3602736"/>
            <a:ext cx="54864" cy="548640"/>
          </a:xfrm>
          <a:prstGeom prst="rect">
            <a:avLst/>
          </a:prstGeom>
          <a:solidFill>
            <a:srgbClr val="0D1B4B"/>
          </a:solidFill>
          <a:ln>
            <a:solidFill>
              <a:srgbClr val="0D1B4B"/>
            </a:solidFill>
          </a:ln>
        </p:spPr>
        <p:txBody>
          <a:bodyPr/>
          <a:lstStyle/>
          <a:p>
            <a:endParaRPr lang="fr-FR"/>
          </a:p>
        </p:txBody>
      </p:sp>
      <p:sp>
        <p:nvSpPr>
          <p:cNvPr id="18" name="Text 16">
            <a:extLst>
              <a:ext uri="{FF2B5EF4-FFF2-40B4-BE49-F238E27FC236}">
                <a16:creationId xmlns:a16="http://schemas.microsoft.com/office/drawing/2014/main" id="{79AAC1D2-77DD-0355-1425-C633D97252C1}"/>
              </a:ext>
            </a:extLst>
          </p:cNvPr>
          <p:cNvSpPr/>
          <p:nvPr/>
        </p:nvSpPr>
        <p:spPr>
          <a:xfrm>
            <a:off x="502920" y="3621024"/>
            <a:ext cx="32004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Couche 3 : Structure Hiérarchique</a:t>
            </a:r>
            <a:endParaRPr lang="en-US" sz="1200" dirty="0">
              <a:solidFill>
                <a:srgbClr val="B9A26D"/>
              </a:solidFill>
            </a:endParaRPr>
          </a:p>
        </p:txBody>
      </p:sp>
      <p:sp>
        <p:nvSpPr>
          <p:cNvPr id="19" name="Text 17">
            <a:extLst>
              <a:ext uri="{FF2B5EF4-FFF2-40B4-BE49-F238E27FC236}">
                <a16:creationId xmlns:a16="http://schemas.microsoft.com/office/drawing/2014/main" id="{D3E2A476-5F11-205A-3A24-CB7B2713589A}"/>
              </a:ext>
            </a:extLst>
          </p:cNvPr>
          <p:cNvSpPr/>
          <p:nvPr/>
        </p:nvSpPr>
        <p:spPr>
          <a:xfrm>
            <a:off x="502920" y="3877056"/>
            <a:ext cx="8229600" cy="25603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Les couches successives capturent les corrélations à portées de plus en plus grandes — du local au global.</a:t>
            </a:r>
            <a:endParaRPr lang="en-US" sz="1200" dirty="0"/>
          </a:p>
        </p:txBody>
      </p:sp>
      <p:sp>
        <p:nvSpPr>
          <p:cNvPr id="20" name="Shape 18">
            <a:extLst>
              <a:ext uri="{FF2B5EF4-FFF2-40B4-BE49-F238E27FC236}">
                <a16:creationId xmlns:a16="http://schemas.microsoft.com/office/drawing/2014/main" id="{1C150926-3261-33B7-C397-BFF190DBE9DD}"/>
              </a:ext>
            </a:extLst>
          </p:cNvPr>
          <p:cNvSpPr/>
          <p:nvPr/>
        </p:nvSpPr>
        <p:spPr>
          <a:xfrm>
            <a:off x="320040" y="4270248"/>
            <a:ext cx="54864" cy="548640"/>
          </a:xfrm>
          <a:prstGeom prst="rect">
            <a:avLst/>
          </a:prstGeom>
          <a:solidFill>
            <a:srgbClr val="B9A26D"/>
          </a:solidFill>
        </p:spPr>
        <p:txBody>
          <a:bodyPr/>
          <a:lstStyle/>
          <a:p>
            <a:endParaRPr lang="fr-FR"/>
          </a:p>
        </p:txBody>
      </p:sp>
      <p:sp>
        <p:nvSpPr>
          <p:cNvPr id="21" name="Text 19">
            <a:extLst>
              <a:ext uri="{FF2B5EF4-FFF2-40B4-BE49-F238E27FC236}">
                <a16:creationId xmlns:a16="http://schemas.microsoft.com/office/drawing/2014/main" id="{E7E4A325-7ED2-3AA4-DC51-35396822B05A}"/>
              </a:ext>
            </a:extLst>
          </p:cNvPr>
          <p:cNvSpPr/>
          <p:nvPr/>
        </p:nvSpPr>
        <p:spPr>
          <a:xfrm>
            <a:off x="502920" y="4288536"/>
            <a:ext cx="32004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Résultat : Holographie</a:t>
            </a:r>
            <a:endParaRPr lang="en-US" sz="1200" dirty="0">
              <a:solidFill>
                <a:srgbClr val="B9A26D"/>
              </a:solidFill>
            </a:endParaRPr>
          </a:p>
        </p:txBody>
      </p:sp>
      <p:sp>
        <p:nvSpPr>
          <p:cNvPr id="22" name="Text 20">
            <a:extLst>
              <a:ext uri="{FF2B5EF4-FFF2-40B4-BE49-F238E27FC236}">
                <a16:creationId xmlns:a16="http://schemas.microsoft.com/office/drawing/2014/main" id="{E2906E67-4132-4091-876B-3149E2069EBC}"/>
              </a:ext>
            </a:extLst>
          </p:cNvPr>
          <p:cNvSpPr/>
          <p:nvPr/>
        </p:nvSpPr>
        <p:spPr>
          <a:xfrm>
            <a:off x="502920" y="4544568"/>
            <a:ext cx="8229600" cy="25603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L'information d'un système 1D peut être encodée sur un réseau 2D de taille logarithmiquement réduite — principe holographique.</a:t>
            </a:r>
            <a:endParaRPr lang="en-US" sz="1200" dirty="0"/>
          </a:p>
        </p:txBody>
      </p:sp>
      <p:sp>
        <p:nvSpPr>
          <p:cNvPr id="24" name="Text 22">
            <a:extLst>
              <a:ext uri="{FF2B5EF4-FFF2-40B4-BE49-F238E27FC236}">
                <a16:creationId xmlns:a16="http://schemas.microsoft.com/office/drawing/2014/main" id="{C6AD5603-6424-30F0-B1FF-DC7FF3466422}"/>
              </a:ext>
            </a:extLst>
          </p:cNvPr>
          <p:cNvSpPr/>
          <p:nvPr/>
        </p:nvSpPr>
        <p:spPr>
          <a:xfrm>
            <a:off x="411480" y="4956048"/>
            <a:ext cx="8229600" cy="128016"/>
          </a:xfrm>
          <a:prstGeom prst="rect">
            <a:avLst/>
          </a:prstGeom>
          <a:noFill/>
        </p:spPr>
        <p:txBody>
          <a:bodyPr wrap="square" lIns="0" tIns="0" rIns="0" bIns="0" rtlCol="0" anchor="ctr"/>
          <a:lstStyle/>
          <a:p>
            <a:pPr marL="0" indent="0">
              <a:buNone/>
            </a:pPr>
            <a:r>
              <a:rPr lang="en-US" sz="1200" b="1" dirty="0">
                <a:solidFill>
                  <a:srgbClr val="7E0000"/>
                </a:solidFill>
                <a:latin typeface="Calibri" panose="020F0502020204030204" pitchFamily="34" charset="0"/>
                <a:ea typeface="Calibri" panose="020F0502020204030204" pitchFamily="34" charset="-122"/>
                <a:cs typeface="Calibri" panose="020F0502020204030204" pitchFamily="34" charset="-120"/>
              </a:rPr>
              <a:t>MERA organise les qubits en couches hiérarchiques afin de préserver les corrélations quantiques importantes tout en minimisant les ressources.</a:t>
            </a:r>
            <a:endParaRPr lang="en-US" sz="1200" b="1" dirty="0">
              <a:solidFill>
                <a:srgbClr val="7E0000"/>
              </a:solidFill>
            </a:endParaRPr>
          </a:p>
        </p:txBody>
      </p:sp>
    </p:spTree>
    <p:extLst>
      <p:ext uri="{BB962C8B-B14F-4D97-AF65-F5344CB8AC3E}">
        <p14:creationId xmlns:p14="http://schemas.microsoft.com/office/powerpoint/2010/main" val="814797257"/>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9EBEA-7819-071E-735B-19473465131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E1C3C7-95FE-646B-0ACD-541FEFBC0BFB}"/>
              </a:ext>
            </a:extLst>
          </p:cNvPr>
          <p:cNvSpPr/>
          <p:nvPr/>
        </p:nvSpPr>
        <p:spPr>
          <a:xfrm>
            <a:off x="0" y="0"/>
            <a:ext cx="9144000" cy="658368"/>
          </a:xfrm>
          <a:prstGeom prst="rect">
            <a:avLst/>
          </a:prstGeom>
          <a:solidFill>
            <a:srgbClr val="0A1628"/>
          </a:solidFill>
        </p:spPr>
        <p:txBody>
          <a:bodyPr/>
          <a:lstStyle/>
          <a:p>
            <a:endParaRPr lang="fr-FR"/>
          </a:p>
        </p:txBody>
      </p:sp>
      <p:sp>
        <p:nvSpPr>
          <p:cNvPr id="3" name="Shape 1">
            <a:extLst>
              <a:ext uri="{FF2B5EF4-FFF2-40B4-BE49-F238E27FC236}">
                <a16:creationId xmlns:a16="http://schemas.microsoft.com/office/drawing/2014/main" id="{D92246CE-BDC9-0D7B-71DD-4332849E1463}"/>
              </a:ext>
            </a:extLst>
          </p:cNvPr>
          <p:cNvSpPr/>
          <p:nvPr/>
        </p:nvSpPr>
        <p:spPr>
          <a:xfrm>
            <a:off x="0" y="0"/>
            <a:ext cx="54864" cy="658368"/>
          </a:xfrm>
          <a:prstGeom prst="rect">
            <a:avLst/>
          </a:prstGeom>
          <a:solidFill>
            <a:srgbClr val="B9A26D"/>
          </a:solidFill>
        </p:spPr>
        <p:txBody>
          <a:bodyPr/>
          <a:lstStyle/>
          <a:p>
            <a:endParaRPr lang="fr-FR"/>
          </a:p>
        </p:txBody>
      </p:sp>
      <p:sp>
        <p:nvSpPr>
          <p:cNvPr id="4" name="Text 2">
            <a:extLst>
              <a:ext uri="{FF2B5EF4-FFF2-40B4-BE49-F238E27FC236}">
                <a16:creationId xmlns:a16="http://schemas.microsoft.com/office/drawing/2014/main" id="{E906E48E-2F7B-79E0-834A-EAD755BAFFAF}"/>
              </a:ext>
            </a:extLst>
          </p:cNvPr>
          <p:cNvSpPr/>
          <p:nvPr/>
        </p:nvSpPr>
        <p:spPr>
          <a:xfrm>
            <a:off x="164592" y="0"/>
            <a:ext cx="8778240" cy="658368"/>
          </a:xfrm>
          <a:prstGeom prst="rect">
            <a:avLst/>
          </a:prstGeom>
          <a:noFill/>
        </p:spPr>
        <p:txBody>
          <a:bodyPr wrap="square" lIns="0" tIns="0" rIns="0" bIns="0"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 Simulation Personnelle avec Qiskit</a:t>
            </a:r>
            <a:endParaRPr lang="en-US" sz="2000" dirty="0"/>
          </a:p>
        </p:txBody>
      </p:sp>
      <p:sp>
        <p:nvSpPr>
          <p:cNvPr id="5" name="Shape 3">
            <a:extLst>
              <a:ext uri="{FF2B5EF4-FFF2-40B4-BE49-F238E27FC236}">
                <a16:creationId xmlns:a16="http://schemas.microsoft.com/office/drawing/2014/main" id="{BCD25146-CDF1-E251-2B08-5204F236E603}"/>
              </a:ext>
            </a:extLst>
          </p:cNvPr>
          <p:cNvSpPr/>
          <p:nvPr/>
        </p:nvSpPr>
        <p:spPr>
          <a:xfrm>
            <a:off x="320040" y="749808"/>
            <a:ext cx="2011680" cy="822960"/>
          </a:xfrm>
          <a:prstGeom prst="rect">
            <a:avLst/>
          </a:prstGeom>
          <a:solidFill>
            <a:srgbClr val="0F1E36"/>
          </a:solidFill>
          <a:ln w="12700">
            <a:solidFill>
              <a:srgbClr val="B9A26D"/>
            </a:solidFill>
            <a:prstDash val="solid"/>
          </a:ln>
        </p:spPr>
        <p:txBody>
          <a:bodyPr/>
          <a:lstStyle/>
          <a:p>
            <a:endParaRPr lang="fr-FR"/>
          </a:p>
        </p:txBody>
      </p:sp>
      <p:sp>
        <p:nvSpPr>
          <p:cNvPr id="6" name="Shape 4">
            <a:extLst>
              <a:ext uri="{FF2B5EF4-FFF2-40B4-BE49-F238E27FC236}">
                <a16:creationId xmlns:a16="http://schemas.microsoft.com/office/drawing/2014/main" id="{02F9B039-9CBB-49AC-71CD-C8BF62D1986C}"/>
              </a:ext>
            </a:extLst>
          </p:cNvPr>
          <p:cNvSpPr/>
          <p:nvPr/>
        </p:nvSpPr>
        <p:spPr>
          <a:xfrm>
            <a:off x="320040" y="749808"/>
            <a:ext cx="2011680" cy="91440"/>
          </a:xfrm>
          <a:prstGeom prst="rect">
            <a:avLst/>
          </a:prstGeom>
          <a:solidFill>
            <a:srgbClr val="B9A26D"/>
          </a:solidFill>
        </p:spPr>
        <p:txBody>
          <a:bodyPr/>
          <a:lstStyle/>
          <a:p>
            <a:endParaRPr lang="fr-FR"/>
          </a:p>
        </p:txBody>
      </p:sp>
      <p:sp>
        <p:nvSpPr>
          <p:cNvPr id="7" name="Text 5">
            <a:extLst>
              <a:ext uri="{FF2B5EF4-FFF2-40B4-BE49-F238E27FC236}">
                <a16:creationId xmlns:a16="http://schemas.microsoft.com/office/drawing/2014/main" id="{7B8FD1C9-1968-599C-79CA-56E4B3F835C9}"/>
              </a:ext>
            </a:extLst>
          </p:cNvPr>
          <p:cNvSpPr/>
          <p:nvPr/>
        </p:nvSpPr>
        <p:spPr>
          <a:xfrm>
            <a:off x="393192" y="914400"/>
            <a:ext cx="18288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Python 3.x</a:t>
            </a:r>
            <a:endParaRPr lang="en-US" sz="1200" dirty="0">
              <a:solidFill>
                <a:srgbClr val="B9A26D"/>
              </a:solidFill>
            </a:endParaRPr>
          </a:p>
        </p:txBody>
      </p:sp>
      <p:sp>
        <p:nvSpPr>
          <p:cNvPr id="8" name="Text 6">
            <a:extLst>
              <a:ext uri="{FF2B5EF4-FFF2-40B4-BE49-F238E27FC236}">
                <a16:creationId xmlns:a16="http://schemas.microsoft.com/office/drawing/2014/main" id="{677FA213-DDB3-59CB-E98D-EC3FCB2BC857}"/>
              </a:ext>
            </a:extLst>
          </p:cNvPr>
          <p:cNvSpPr/>
          <p:nvPr/>
        </p:nvSpPr>
        <p:spPr>
          <a:xfrm>
            <a:off x="393192" y="1188720"/>
            <a:ext cx="1828800" cy="27432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Langage de programmation</a:t>
            </a:r>
            <a:endParaRPr lang="en-US" sz="1200" dirty="0"/>
          </a:p>
        </p:txBody>
      </p:sp>
      <p:sp>
        <p:nvSpPr>
          <p:cNvPr id="9" name="Shape 7">
            <a:extLst>
              <a:ext uri="{FF2B5EF4-FFF2-40B4-BE49-F238E27FC236}">
                <a16:creationId xmlns:a16="http://schemas.microsoft.com/office/drawing/2014/main" id="{427D194B-3E4B-3CF9-30A6-05C62D044F9A}"/>
              </a:ext>
            </a:extLst>
          </p:cNvPr>
          <p:cNvSpPr/>
          <p:nvPr/>
        </p:nvSpPr>
        <p:spPr>
          <a:xfrm>
            <a:off x="2468880" y="749808"/>
            <a:ext cx="2011680" cy="822960"/>
          </a:xfrm>
          <a:prstGeom prst="rect">
            <a:avLst/>
          </a:prstGeom>
          <a:solidFill>
            <a:srgbClr val="0F1E36"/>
          </a:solidFill>
          <a:ln w="12700">
            <a:solidFill>
              <a:srgbClr val="B9A26D"/>
            </a:solidFill>
            <a:prstDash val="solid"/>
          </a:ln>
        </p:spPr>
        <p:txBody>
          <a:bodyPr/>
          <a:lstStyle/>
          <a:p>
            <a:endParaRPr lang="fr-FR" sz="1200"/>
          </a:p>
        </p:txBody>
      </p:sp>
      <p:sp>
        <p:nvSpPr>
          <p:cNvPr id="10" name="Shape 8">
            <a:extLst>
              <a:ext uri="{FF2B5EF4-FFF2-40B4-BE49-F238E27FC236}">
                <a16:creationId xmlns:a16="http://schemas.microsoft.com/office/drawing/2014/main" id="{BDD668EF-7FC2-5DE0-BD45-B49BB1AEDF31}"/>
              </a:ext>
            </a:extLst>
          </p:cNvPr>
          <p:cNvSpPr/>
          <p:nvPr/>
        </p:nvSpPr>
        <p:spPr>
          <a:xfrm>
            <a:off x="2468880" y="749808"/>
            <a:ext cx="2011680" cy="91440"/>
          </a:xfrm>
          <a:prstGeom prst="rect">
            <a:avLst/>
          </a:prstGeom>
          <a:solidFill>
            <a:srgbClr val="B9A26D"/>
          </a:solidFill>
        </p:spPr>
        <p:txBody>
          <a:bodyPr/>
          <a:lstStyle/>
          <a:p>
            <a:endParaRPr lang="fr-FR"/>
          </a:p>
        </p:txBody>
      </p:sp>
      <p:sp>
        <p:nvSpPr>
          <p:cNvPr id="11" name="Text 9">
            <a:extLst>
              <a:ext uri="{FF2B5EF4-FFF2-40B4-BE49-F238E27FC236}">
                <a16:creationId xmlns:a16="http://schemas.microsoft.com/office/drawing/2014/main" id="{3639A013-8BBA-9113-E404-F1351E53EB47}"/>
              </a:ext>
            </a:extLst>
          </p:cNvPr>
          <p:cNvSpPr/>
          <p:nvPr/>
        </p:nvSpPr>
        <p:spPr>
          <a:xfrm>
            <a:off x="2542032" y="914400"/>
            <a:ext cx="18288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Qiskit</a:t>
            </a:r>
            <a:endParaRPr lang="en-US" sz="1200" dirty="0">
              <a:solidFill>
                <a:srgbClr val="B9A26D"/>
              </a:solidFill>
            </a:endParaRPr>
          </a:p>
        </p:txBody>
      </p:sp>
      <p:sp>
        <p:nvSpPr>
          <p:cNvPr id="12" name="Text 10">
            <a:extLst>
              <a:ext uri="{FF2B5EF4-FFF2-40B4-BE49-F238E27FC236}">
                <a16:creationId xmlns:a16="http://schemas.microsoft.com/office/drawing/2014/main" id="{4826A52A-DA14-7CBC-CAB9-FD0A84E97456}"/>
              </a:ext>
            </a:extLst>
          </p:cNvPr>
          <p:cNvSpPr/>
          <p:nvPr/>
        </p:nvSpPr>
        <p:spPr>
          <a:xfrm>
            <a:off x="2542032" y="1188720"/>
            <a:ext cx="1828800" cy="27432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Framework IBM pour circuits quantiques</a:t>
            </a:r>
            <a:endParaRPr lang="en-US" sz="1200" dirty="0"/>
          </a:p>
        </p:txBody>
      </p:sp>
      <p:sp>
        <p:nvSpPr>
          <p:cNvPr id="13" name="Shape 11">
            <a:extLst>
              <a:ext uri="{FF2B5EF4-FFF2-40B4-BE49-F238E27FC236}">
                <a16:creationId xmlns:a16="http://schemas.microsoft.com/office/drawing/2014/main" id="{6BC9432B-41EF-DBB9-55D2-6B71891A1699}"/>
              </a:ext>
            </a:extLst>
          </p:cNvPr>
          <p:cNvSpPr/>
          <p:nvPr/>
        </p:nvSpPr>
        <p:spPr>
          <a:xfrm>
            <a:off x="4617720" y="749808"/>
            <a:ext cx="2011680" cy="822960"/>
          </a:xfrm>
          <a:prstGeom prst="rect">
            <a:avLst/>
          </a:prstGeom>
          <a:solidFill>
            <a:srgbClr val="0F1E36"/>
          </a:solidFill>
          <a:ln w="12700">
            <a:solidFill>
              <a:srgbClr val="B9A26D"/>
            </a:solidFill>
            <a:prstDash val="solid"/>
          </a:ln>
        </p:spPr>
        <p:txBody>
          <a:bodyPr/>
          <a:lstStyle/>
          <a:p>
            <a:endParaRPr lang="fr-FR"/>
          </a:p>
        </p:txBody>
      </p:sp>
      <p:sp>
        <p:nvSpPr>
          <p:cNvPr id="14" name="Shape 12">
            <a:extLst>
              <a:ext uri="{FF2B5EF4-FFF2-40B4-BE49-F238E27FC236}">
                <a16:creationId xmlns:a16="http://schemas.microsoft.com/office/drawing/2014/main" id="{5923E75D-D8A6-B70A-DE09-2C20A6EA3097}"/>
              </a:ext>
            </a:extLst>
          </p:cNvPr>
          <p:cNvSpPr/>
          <p:nvPr/>
        </p:nvSpPr>
        <p:spPr>
          <a:xfrm>
            <a:off x="4617720" y="749808"/>
            <a:ext cx="2011680" cy="91440"/>
          </a:xfrm>
          <a:prstGeom prst="rect">
            <a:avLst/>
          </a:prstGeom>
          <a:solidFill>
            <a:srgbClr val="B9A26D"/>
          </a:solidFill>
        </p:spPr>
        <p:txBody>
          <a:bodyPr/>
          <a:lstStyle/>
          <a:p>
            <a:endParaRPr lang="fr-FR"/>
          </a:p>
        </p:txBody>
      </p:sp>
      <p:sp>
        <p:nvSpPr>
          <p:cNvPr id="15" name="Text 13">
            <a:extLst>
              <a:ext uri="{FF2B5EF4-FFF2-40B4-BE49-F238E27FC236}">
                <a16:creationId xmlns:a16="http://schemas.microsoft.com/office/drawing/2014/main" id="{54230035-C5A9-5179-E82A-997A08C4F120}"/>
              </a:ext>
            </a:extLst>
          </p:cNvPr>
          <p:cNvSpPr/>
          <p:nvPr/>
        </p:nvSpPr>
        <p:spPr>
          <a:xfrm>
            <a:off x="4690872" y="914400"/>
            <a:ext cx="18288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AerSimulator</a:t>
            </a:r>
            <a:endParaRPr lang="en-US" sz="1200" dirty="0">
              <a:solidFill>
                <a:srgbClr val="B9A26D"/>
              </a:solidFill>
            </a:endParaRPr>
          </a:p>
        </p:txBody>
      </p:sp>
      <p:sp>
        <p:nvSpPr>
          <p:cNvPr id="16" name="Text 14">
            <a:extLst>
              <a:ext uri="{FF2B5EF4-FFF2-40B4-BE49-F238E27FC236}">
                <a16:creationId xmlns:a16="http://schemas.microsoft.com/office/drawing/2014/main" id="{44245654-61E5-CBED-116A-37B5CBC95EDE}"/>
              </a:ext>
            </a:extLst>
          </p:cNvPr>
          <p:cNvSpPr/>
          <p:nvPr/>
        </p:nvSpPr>
        <p:spPr>
          <a:xfrm>
            <a:off x="4690872" y="1188720"/>
            <a:ext cx="1828800" cy="27432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Simulateur haute performance</a:t>
            </a:r>
            <a:endParaRPr lang="en-US" sz="1200" dirty="0"/>
          </a:p>
        </p:txBody>
      </p:sp>
      <p:sp>
        <p:nvSpPr>
          <p:cNvPr id="17" name="Shape 15">
            <a:extLst>
              <a:ext uri="{FF2B5EF4-FFF2-40B4-BE49-F238E27FC236}">
                <a16:creationId xmlns:a16="http://schemas.microsoft.com/office/drawing/2014/main" id="{BBD46629-F4A9-2210-6631-6240F5FBEF0F}"/>
              </a:ext>
            </a:extLst>
          </p:cNvPr>
          <p:cNvSpPr/>
          <p:nvPr/>
        </p:nvSpPr>
        <p:spPr>
          <a:xfrm>
            <a:off x="6766560" y="749808"/>
            <a:ext cx="2011680" cy="822960"/>
          </a:xfrm>
          <a:prstGeom prst="rect">
            <a:avLst/>
          </a:prstGeom>
          <a:solidFill>
            <a:srgbClr val="0F1E36"/>
          </a:solidFill>
          <a:ln w="12700">
            <a:solidFill>
              <a:srgbClr val="B9A26D"/>
            </a:solidFill>
            <a:prstDash val="solid"/>
          </a:ln>
        </p:spPr>
        <p:txBody>
          <a:bodyPr/>
          <a:lstStyle/>
          <a:p>
            <a:endParaRPr lang="fr-FR"/>
          </a:p>
        </p:txBody>
      </p:sp>
      <p:sp>
        <p:nvSpPr>
          <p:cNvPr id="18" name="Shape 16">
            <a:extLst>
              <a:ext uri="{FF2B5EF4-FFF2-40B4-BE49-F238E27FC236}">
                <a16:creationId xmlns:a16="http://schemas.microsoft.com/office/drawing/2014/main" id="{9D5431A2-D1C3-ED66-E550-AFA1D6EBB380}"/>
              </a:ext>
            </a:extLst>
          </p:cNvPr>
          <p:cNvSpPr/>
          <p:nvPr/>
        </p:nvSpPr>
        <p:spPr>
          <a:xfrm>
            <a:off x="6766560" y="749808"/>
            <a:ext cx="2011680" cy="91440"/>
          </a:xfrm>
          <a:prstGeom prst="rect">
            <a:avLst/>
          </a:prstGeom>
          <a:solidFill>
            <a:srgbClr val="B9A26D"/>
          </a:solidFill>
        </p:spPr>
        <p:txBody>
          <a:bodyPr/>
          <a:lstStyle/>
          <a:p>
            <a:endParaRPr lang="fr-FR"/>
          </a:p>
        </p:txBody>
      </p:sp>
      <p:sp>
        <p:nvSpPr>
          <p:cNvPr id="19" name="Text 17">
            <a:extLst>
              <a:ext uri="{FF2B5EF4-FFF2-40B4-BE49-F238E27FC236}">
                <a16:creationId xmlns:a16="http://schemas.microsoft.com/office/drawing/2014/main" id="{39D90544-0509-73F9-D89E-7962EAAE8F77}"/>
              </a:ext>
            </a:extLst>
          </p:cNvPr>
          <p:cNvSpPr/>
          <p:nvPr/>
        </p:nvSpPr>
        <p:spPr>
          <a:xfrm>
            <a:off x="6839712" y="914400"/>
            <a:ext cx="18288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Matplotlib</a:t>
            </a:r>
            <a:endParaRPr lang="en-US" sz="1200" dirty="0">
              <a:solidFill>
                <a:srgbClr val="B9A26D"/>
              </a:solidFill>
            </a:endParaRPr>
          </a:p>
        </p:txBody>
      </p:sp>
      <p:sp>
        <p:nvSpPr>
          <p:cNvPr id="20" name="Text 18">
            <a:extLst>
              <a:ext uri="{FF2B5EF4-FFF2-40B4-BE49-F238E27FC236}">
                <a16:creationId xmlns:a16="http://schemas.microsoft.com/office/drawing/2014/main" id="{5DD7513B-304C-6B86-7372-A58DCD5596DE}"/>
              </a:ext>
            </a:extLst>
          </p:cNvPr>
          <p:cNvSpPr/>
          <p:nvPr/>
        </p:nvSpPr>
        <p:spPr>
          <a:xfrm>
            <a:off x="6839712" y="1188720"/>
            <a:ext cx="1828800" cy="27432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Visualisation des résultats</a:t>
            </a:r>
            <a:endParaRPr lang="en-US" sz="1200" dirty="0"/>
          </a:p>
        </p:txBody>
      </p:sp>
      <p:sp>
        <p:nvSpPr>
          <p:cNvPr id="21" name="Text 19">
            <a:extLst>
              <a:ext uri="{FF2B5EF4-FFF2-40B4-BE49-F238E27FC236}">
                <a16:creationId xmlns:a16="http://schemas.microsoft.com/office/drawing/2014/main" id="{9C7CBFA8-3ECD-E5AB-0798-FECBC6C397FA}"/>
              </a:ext>
            </a:extLst>
          </p:cNvPr>
          <p:cNvSpPr/>
          <p:nvPr/>
        </p:nvSpPr>
        <p:spPr>
          <a:xfrm>
            <a:off x="320040" y="1719072"/>
            <a:ext cx="8503920" cy="292608"/>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Objectif de la simulation : 3 cas comparatifs</a:t>
            </a:r>
            <a:endParaRPr lang="en-US" sz="1400" dirty="0"/>
          </a:p>
        </p:txBody>
      </p:sp>
      <p:sp>
        <p:nvSpPr>
          <p:cNvPr id="22" name="Shape 20">
            <a:extLst>
              <a:ext uri="{FF2B5EF4-FFF2-40B4-BE49-F238E27FC236}">
                <a16:creationId xmlns:a16="http://schemas.microsoft.com/office/drawing/2014/main" id="{0E2D48B8-7B7E-BC89-5F8B-4475FBA92BDC}"/>
              </a:ext>
            </a:extLst>
          </p:cNvPr>
          <p:cNvSpPr/>
          <p:nvPr/>
        </p:nvSpPr>
        <p:spPr>
          <a:xfrm>
            <a:off x="320040" y="2103120"/>
            <a:ext cx="8503920" cy="804672"/>
          </a:xfrm>
          <a:prstGeom prst="rect">
            <a:avLst/>
          </a:prstGeom>
          <a:solidFill>
            <a:srgbClr val="0F1E36"/>
          </a:solidFill>
          <a:ln w="6350">
            <a:solidFill>
              <a:srgbClr val="B9A26D"/>
            </a:solidFill>
            <a:prstDash val="solid"/>
          </a:ln>
        </p:spPr>
        <p:txBody>
          <a:bodyPr/>
          <a:lstStyle/>
          <a:p>
            <a:endParaRPr lang="fr-FR"/>
          </a:p>
        </p:txBody>
      </p:sp>
      <p:sp>
        <p:nvSpPr>
          <p:cNvPr id="23" name="Shape 21">
            <a:extLst>
              <a:ext uri="{FF2B5EF4-FFF2-40B4-BE49-F238E27FC236}">
                <a16:creationId xmlns:a16="http://schemas.microsoft.com/office/drawing/2014/main" id="{92EEC29F-54DC-90C2-258A-A3E3D1ED0FFF}"/>
              </a:ext>
            </a:extLst>
          </p:cNvPr>
          <p:cNvSpPr/>
          <p:nvPr/>
        </p:nvSpPr>
        <p:spPr>
          <a:xfrm>
            <a:off x="320040" y="2103120"/>
            <a:ext cx="54864" cy="804672"/>
          </a:xfrm>
          <a:prstGeom prst="rect">
            <a:avLst/>
          </a:prstGeom>
          <a:solidFill>
            <a:srgbClr val="0D1B4B"/>
          </a:solidFill>
        </p:spPr>
        <p:txBody>
          <a:bodyPr/>
          <a:lstStyle/>
          <a:p>
            <a:endParaRPr lang="fr-FR"/>
          </a:p>
        </p:txBody>
      </p:sp>
      <p:sp>
        <p:nvSpPr>
          <p:cNvPr id="24" name="Text 22">
            <a:extLst>
              <a:ext uri="{FF2B5EF4-FFF2-40B4-BE49-F238E27FC236}">
                <a16:creationId xmlns:a16="http://schemas.microsoft.com/office/drawing/2014/main" id="{59856CCE-6AE4-0FCD-05B9-5D9C7C495FAC}"/>
              </a:ext>
            </a:extLst>
          </p:cNvPr>
          <p:cNvSpPr/>
          <p:nvPr/>
        </p:nvSpPr>
        <p:spPr>
          <a:xfrm>
            <a:off x="502920" y="2139696"/>
            <a:ext cx="73152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Cas 1</a:t>
            </a:r>
            <a:endParaRPr lang="en-US" sz="1200" dirty="0">
              <a:solidFill>
                <a:srgbClr val="B9A26D"/>
              </a:solidFill>
            </a:endParaRPr>
          </a:p>
        </p:txBody>
      </p:sp>
      <p:sp>
        <p:nvSpPr>
          <p:cNvPr id="25" name="Text 23">
            <a:extLst>
              <a:ext uri="{FF2B5EF4-FFF2-40B4-BE49-F238E27FC236}">
                <a16:creationId xmlns:a16="http://schemas.microsoft.com/office/drawing/2014/main" id="{607690BA-BC57-376C-781A-4E73A1104F89}"/>
              </a:ext>
            </a:extLst>
          </p:cNvPr>
          <p:cNvSpPr/>
          <p:nvPr/>
        </p:nvSpPr>
        <p:spPr>
          <a:xfrm>
            <a:off x="1325880" y="2139696"/>
            <a:ext cx="36576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Sans Structure (Baseline)</a:t>
            </a:r>
            <a:endParaRPr lang="en-US" sz="1200" dirty="0">
              <a:solidFill>
                <a:srgbClr val="B9A26D"/>
              </a:solidFill>
            </a:endParaRPr>
          </a:p>
        </p:txBody>
      </p:sp>
      <p:sp>
        <p:nvSpPr>
          <p:cNvPr id="26" name="Text 24">
            <a:extLst>
              <a:ext uri="{FF2B5EF4-FFF2-40B4-BE49-F238E27FC236}">
                <a16:creationId xmlns:a16="http://schemas.microsoft.com/office/drawing/2014/main" id="{D8C8A997-B31D-5185-83C2-A5185AA1E7DF}"/>
              </a:ext>
            </a:extLst>
          </p:cNvPr>
          <p:cNvSpPr/>
          <p:nvPr/>
        </p:nvSpPr>
        <p:spPr>
          <a:xfrm>
            <a:off x="502920" y="2423160"/>
            <a:ext cx="5943600" cy="420624"/>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Deux portes H appliquées indépendamment — aucune corrélation entre les qubits. Distribution uniforme des 4 états.</a:t>
            </a:r>
            <a:endParaRPr lang="en-US" sz="1200" dirty="0"/>
          </a:p>
        </p:txBody>
      </p:sp>
      <p:sp>
        <p:nvSpPr>
          <p:cNvPr id="27" name="Shape 25">
            <a:extLst>
              <a:ext uri="{FF2B5EF4-FFF2-40B4-BE49-F238E27FC236}">
                <a16:creationId xmlns:a16="http://schemas.microsoft.com/office/drawing/2014/main" id="{09079F43-8BDD-CF9D-AD0C-AC26BA4A4111}"/>
              </a:ext>
            </a:extLst>
          </p:cNvPr>
          <p:cNvSpPr/>
          <p:nvPr/>
        </p:nvSpPr>
        <p:spPr>
          <a:xfrm>
            <a:off x="6309360" y="2286000"/>
            <a:ext cx="2377440" cy="438912"/>
          </a:xfrm>
          <a:prstGeom prst="rect">
            <a:avLst/>
          </a:prstGeom>
          <a:solidFill>
            <a:srgbClr val="0C1830"/>
          </a:solidFill>
        </p:spPr>
        <p:txBody>
          <a:bodyPr/>
          <a:lstStyle/>
          <a:p>
            <a:endParaRPr lang="fr-FR"/>
          </a:p>
        </p:txBody>
      </p:sp>
      <p:sp>
        <p:nvSpPr>
          <p:cNvPr id="28" name="Text 26">
            <a:extLst>
              <a:ext uri="{FF2B5EF4-FFF2-40B4-BE49-F238E27FC236}">
                <a16:creationId xmlns:a16="http://schemas.microsoft.com/office/drawing/2014/main" id="{2196AA46-80F4-65C8-6086-5D59B71D08CA}"/>
              </a:ext>
            </a:extLst>
          </p:cNvPr>
          <p:cNvSpPr/>
          <p:nvPr/>
        </p:nvSpPr>
        <p:spPr>
          <a:xfrm>
            <a:off x="6355080" y="2304288"/>
            <a:ext cx="2286000" cy="402336"/>
          </a:xfrm>
          <a:prstGeom prst="rect">
            <a:avLst/>
          </a:prstGeom>
          <a:noFill/>
        </p:spPr>
        <p:txBody>
          <a:bodyPr wrap="square" lIns="0" tIns="0" rIns="0" bIns="0" rtlCol="0" anchor="ctr"/>
          <a:lstStyle/>
          <a:p>
            <a:pPr marL="0" indent="0">
              <a:buNone/>
            </a:pPr>
            <a:r>
              <a:rPr lang="en-US" sz="1200" i="1" dirty="0">
                <a:solidFill>
                  <a:srgbClr val="B9A26D"/>
                </a:solidFill>
                <a:latin typeface="Calibri" panose="020F0502020204030204" pitchFamily="34" charset="0"/>
                <a:ea typeface="Calibri" panose="020F0502020204030204" pitchFamily="34" charset="-122"/>
                <a:cs typeface="Calibri" panose="020F0502020204030204" pitchFamily="34" charset="-120"/>
              </a:rPr>
              <a:t>Résultats aléatoires → Protection faible</a:t>
            </a:r>
            <a:endParaRPr lang="en-US" sz="1200" dirty="0">
              <a:solidFill>
                <a:srgbClr val="B9A26D"/>
              </a:solidFill>
            </a:endParaRPr>
          </a:p>
        </p:txBody>
      </p:sp>
      <p:sp>
        <p:nvSpPr>
          <p:cNvPr id="29" name="Shape 27">
            <a:extLst>
              <a:ext uri="{FF2B5EF4-FFF2-40B4-BE49-F238E27FC236}">
                <a16:creationId xmlns:a16="http://schemas.microsoft.com/office/drawing/2014/main" id="{B15E59BF-1761-8C70-44EC-4D8DC87D4986}"/>
              </a:ext>
            </a:extLst>
          </p:cNvPr>
          <p:cNvSpPr/>
          <p:nvPr/>
        </p:nvSpPr>
        <p:spPr>
          <a:xfrm>
            <a:off x="320040" y="3017520"/>
            <a:ext cx="8503920" cy="804672"/>
          </a:xfrm>
          <a:prstGeom prst="rect">
            <a:avLst/>
          </a:prstGeom>
          <a:solidFill>
            <a:srgbClr val="0F1E36"/>
          </a:solidFill>
          <a:ln w="6350">
            <a:solidFill>
              <a:srgbClr val="B9A26D"/>
            </a:solidFill>
            <a:prstDash val="solid"/>
          </a:ln>
        </p:spPr>
        <p:txBody>
          <a:bodyPr/>
          <a:lstStyle/>
          <a:p>
            <a:endParaRPr lang="fr-FR"/>
          </a:p>
        </p:txBody>
      </p:sp>
      <p:sp>
        <p:nvSpPr>
          <p:cNvPr id="30" name="Shape 28">
            <a:extLst>
              <a:ext uri="{FF2B5EF4-FFF2-40B4-BE49-F238E27FC236}">
                <a16:creationId xmlns:a16="http://schemas.microsoft.com/office/drawing/2014/main" id="{B482AB05-300E-6799-2EE7-2C8D10474214}"/>
              </a:ext>
            </a:extLst>
          </p:cNvPr>
          <p:cNvSpPr/>
          <p:nvPr/>
        </p:nvSpPr>
        <p:spPr>
          <a:xfrm>
            <a:off x="320040" y="3017520"/>
            <a:ext cx="54864" cy="804672"/>
          </a:xfrm>
          <a:prstGeom prst="rect">
            <a:avLst/>
          </a:prstGeom>
          <a:solidFill>
            <a:srgbClr val="B9A26D"/>
          </a:solidFill>
        </p:spPr>
        <p:txBody>
          <a:bodyPr/>
          <a:lstStyle/>
          <a:p>
            <a:endParaRPr lang="fr-FR"/>
          </a:p>
        </p:txBody>
      </p:sp>
      <p:sp>
        <p:nvSpPr>
          <p:cNvPr id="31" name="Text 29">
            <a:extLst>
              <a:ext uri="{FF2B5EF4-FFF2-40B4-BE49-F238E27FC236}">
                <a16:creationId xmlns:a16="http://schemas.microsoft.com/office/drawing/2014/main" id="{ECE2ADDF-B9A8-371E-4FF2-657C18BE2902}"/>
              </a:ext>
            </a:extLst>
          </p:cNvPr>
          <p:cNvSpPr/>
          <p:nvPr/>
        </p:nvSpPr>
        <p:spPr>
          <a:xfrm>
            <a:off x="502920" y="3054096"/>
            <a:ext cx="73152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Cas 2</a:t>
            </a:r>
            <a:endParaRPr lang="en-US" sz="1200" dirty="0">
              <a:solidFill>
                <a:srgbClr val="B9A26D"/>
              </a:solidFill>
            </a:endParaRPr>
          </a:p>
        </p:txBody>
      </p:sp>
      <p:sp>
        <p:nvSpPr>
          <p:cNvPr id="32" name="Text 30">
            <a:extLst>
              <a:ext uri="{FF2B5EF4-FFF2-40B4-BE49-F238E27FC236}">
                <a16:creationId xmlns:a16="http://schemas.microsoft.com/office/drawing/2014/main" id="{9992CDE9-5596-31D9-EFD3-11CABB9B1CC3}"/>
              </a:ext>
            </a:extLst>
          </p:cNvPr>
          <p:cNvSpPr/>
          <p:nvPr/>
        </p:nvSpPr>
        <p:spPr>
          <a:xfrm>
            <a:off x="1325880" y="3054096"/>
            <a:ext cx="36576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Intrication (Encodage Holographique)</a:t>
            </a:r>
            <a:endParaRPr lang="en-US" sz="1200" dirty="0">
              <a:solidFill>
                <a:srgbClr val="B9A26D"/>
              </a:solidFill>
            </a:endParaRPr>
          </a:p>
        </p:txBody>
      </p:sp>
      <p:sp>
        <p:nvSpPr>
          <p:cNvPr id="33" name="Text 31">
            <a:extLst>
              <a:ext uri="{FF2B5EF4-FFF2-40B4-BE49-F238E27FC236}">
                <a16:creationId xmlns:a16="http://schemas.microsoft.com/office/drawing/2014/main" id="{D777B408-5379-FDD8-C6E4-5129A6D87427}"/>
              </a:ext>
            </a:extLst>
          </p:cNvPr>
          <p:cNvSpPr/>
          <p:nvPr/>
        </p:nvSpPr>
        <p:spPr>
          <a:xfrm>
            <a:off x="502920" y="3337560"/>
            <a:ext cx="5943600" cy="420624"/>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Porte H + CNOT crée un état de Bell maximalement intriqué. Les qubits sont fortement corrélés non-localement.</a:t>
            </a:r>
            <a:endParaRPr lang="en-US" sz="1200" dirty="0"/>
          </a:p>
        </p:txBody>
      </p:sp>
      <p:sp>
        <p:nvSpPr>
          <p:cNvPr id="34" name="Shape 32">
            <a:extLst>
              <a:ext uri="{FF2B5EF4-FFF2-40B4-BE49-F238E27FC236}">
                <a16:creationId xmlns:a16="http://schemas.microsoft.com/office/drawing/2014/main" id="{A226DE63-0231-91AB-5D64-257D45CD180E}"/>
              </a:ext>
            </a:extLst>
          </p:cNvPr>
          <p:cNvSpPr/>
          <p:nvPr/>
        </p:nvSpPr>
        <p:spPr>
          <a:xfrm>
            <a:off x="6309360" y="3200400"/>
            <a:ext cx="2377440" cy="438912"/>
          </a:xfrm>
          <a:prstGeom prst="rect">
            <a:avLst/>
          </a:prstGeom>
          <a:solidFill>
            <a:srgbClr val="0C1830"/>
          </a:solidFill>
        </p:spPr>
        <p:txBody>
          <a:bodyPr/>
          <a:lstStyle/>
          <a:p>
            <a:endParaRPr lang="fr-FR"/>
          </a:p>
        </p:txBody>
      </p:sp>
      <p:sp>
        <p:nvSpPr>
          <p:cNvPr id="35" name="Text 33">
            <a:extLst>
              <a:ext uri="{FF2B5EF4-FFF2-40B4-BE49-F238E27FC236}">
                <a16:creationId xmlns:a16="http://schemas.microsoft.com/office/drawing/2014/main" id="{9D7E3252-53EE-282E-9F80-05C51483FD91}"/>
              </a:ext>
            </a:extLst>
          </p:cNvPr>
          <p:cNvSpPr/>
          <p:nvPr/>
        </p:nvSpPr>
        <p:spPr>
          <a:xfrm>
            <a:off x="6355080" y="3218688"/>
            <a:ext cx="2286000" cy="402336"/>
          </a:xfrm>
          <a:prstGeom prst="rect">
            <a:avLst/>
          </a:prstGeom>
          <a:noFill/>
        </p:spPr>
        <p:txBody>
          <a:bodyPr wrap="square" lIns="0" tIns="0" rIns="0" bIns="0" rtlCol="0" anchor="ctr"/>
          <a:lstStyle/>
          <a:p>
            <a:pPr marL="0" indent="0">
              <a:buNone/>
            </a:pPr>
            <a:r>
              <a:rPr lang="en-US" sz="1200" i="1" dirty="0">
                <a:solidFill>
                  <a:srgbClr val="B9A26D"/>
                </a:solidFill>
                <a:latin typeface="Calibri" panose="020F0502020204030204" pitchFamily="34" charset="0"/>
                <a:ea typeface="Calibri" panose="020F0502020204030204" pitchFamily="34" charset="-122"/>
                <a:cs typeface="Calibri" panose="020F0502020204030204" pitchFamily="34" charset="-120"/>
              </a:rPr>
              <a:t>|00⟩ et |11⟩ dominent → Protection élevée</a:t>
            </a:r>
            <a:endParaRPr lang="en-US" sz="1200" dirty="0">
              <a:solidFill>
                <a:srgbClr val="B9A26D"/>
              </a:solidFill>
            </a:endParaRPr>
          </a:p>
        </p:txBody>
      </p:sp>
      <p:sp>
        <p:nvSpPr>
          <p:cNvPr id="36" name="Shape 34">
            <a:extLst>
              <a:ext uri="{FF2B5EF4-FFF2-40B4-BE49-F238E27FC236}">
                <a16:creationId xmlns:a16="http://schemas.microsoft.com/office/drawing/2014/main" id="{A8318EFA-A24B-9900-2051-7B542B73F3A1}"/>
              </a:ext>
            </a:extLst>
          </p:cNvPr>
          <p:cNvSpPr/>
          <p:nvPr/>
        </p:nvSpPr>
        <p:spPr>
          <a:xfrm>
            <a:off x="320040" y="3931920"/>
            <a:ext cx="8503920" cy="804672"/>
          </a:xfrm>
          <a:prstGeom prst="rect">
            <a:avLst/>
          </a:prstGeom>
          <a:solidFill>
            <a:srgbClr val="0F1E36"/>
          </a:solidFill>
          <a:ln w="6350">
            <a:solidFill>
              <a:srgbClr val="B9A26D"/>
            </a:solidFill>
            <a:prstDash val="solid"/>
          </a:ln>
        </p:spPr>
        <p:txBody>
          <a:bodyPr/>
          <a:lstStyle/>
          <a:p>
            <a:endParaRPr lang="fr-FR"/>
          </a:p>
        </p:txBody>
      </p:sp>
      <p:sp>
        <p:nvSpPr>
          <p:cNvPr id="37" name="Shape 35">
            <a:extLst>
              <a:ext uri="{FF2B5EF4-FFF2-40B4-BE49-F238E27FC236}">
                <a16:creationId xmlns:a16="http://schemas.microsoft.com/office/drawing/2014/main" id="{13A41196-FC10-9286-75F6-74517F055EAD}"/>
              </a:ext>
            </a:extLst>
          </p:cNvPr>
          <p:cNvSpPr/>
          <p:nvPr/>
        </p:nvSpPr>
        <p:spPr>
          <a:xfrm>
            <a:off x="320040" y="3931920"/>
            <a:ext cx="54864" cy="804672"/>
          </a:xfrm>
          <a:prstGeom prst="rect">
            <a:avLst/>
          </a:prstGeom>
          <a:solidFill>
            <a:srgbClr val="B9A26D"/>
          </a:solidFill>
        </p:spPr>
        <p:txBody>
          <a:bodyPr/>
          <a:lstStyle/>
          <a:p>
            <a:endParaRPr lang="fr-FR"/>
          </a:p>
        </p:txBody>
      </p:sp>
      <p:sp>
        <p:nvSpPr>
          <p:cNvPr id="38" name="Text 36">
            <a:extLst>
              <a:ext uri="{FF2B5EF4-FFF2-40B4-BE49-F238E27FC236}">
                <a16:creationId xmlns:a16="http://schemas.microsoft.com/office/drawing/2014/main" id="{C0572089-257E-0ACE-A805-84F2ADE65BB4}"/>
              </a:ext>
            </a:extLst>
          </p:cNvPr>
          <p:cNvSpPr/>
          <p:nvPr/>
        </p:nvSpPr>
        <p:spPr>
          <a:xfrm>
            <a:off x="502920" y="3968496"/>
            <a:ext cx="73152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Cas 3</a:t>
            </a:r>
            <a:endParaRPr lang="en-US" sz="1200" dirty="0">
              <a:solidFill>
                <a:srgbClr val="B9A26D"/>
              </a:solidFill>
            </a:endParaRPr>
          </a:p>
        </p:txBody>
      </p:sp>
      <p:sp>
        <p:nvSpPr>
          <p:cNvPr id="39" name="Text 37">
            <a:extLst>
              <a:ext uri="{FF2B5EF4-FFF2-40B4-BE49-F238E27FC236}">
                <a16:creationId xmlns:a16="http://schemas.microsoft.com/office/drawing/2014/main" id="{614179F3-B1B8-77AC-D1EA-3D0AE6375B34}"/>
              </a:ext>
            </a:extLst>
          </p:cNvPr>
          <p:cNvSpPr/>
          <p:nvPr/>
        </p:nvSpPr>
        <p:spPr>
          <a:xfrm>
            <a:off x="1325880" y="3968496"/>
            <a:ext cx="3657600" cy="256032"/>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Bruit (Décohérence)</a:t>
            </a:r>
            <a:endParaRPr lang="en-US" sz="1200" dirty="0">
              <a:solidFill>
                <a:srgbClr val="B9A26D"/>
              </a:solidFill>
            </a:endParaRPr>
          </a:p>
        </p:txBody>
      </p:sp>
      <p:sp>
        <p:nvSpPr>
          <p:cNvPr id="40" name="Text 38">
            <a:extLst>
              <a:ext uri="{FF2B5EF4-FFF2-40B4-BE49-F238E27FC236}">
                <a16:creationId xmlns:a16="http://schemas.microsoft.com/office/drawing/2014/main" id="{D915230B-E4F2-A659-9B3D-A8ECDCCEB110}"/>
              </a:ext>
            </a:extLst>
          </p:cNvPr>
          <p:cNvSpPr/>
          <p:nvPr/>
        </p:nvSpPr>
        <p:spPr>
          <a:xfrm>
            <a:off x="502920" y="4251960"/>
            <a:ext cx="5943600" cy="420624"/>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Introduction d'un canal de dépolarisation simulant l'interaction avec l'environnement. Destruction progressive de l'intrication.</a:t>
            </a:r>
            <a:endParaRPr lang="en-US" sz="1200" dirty="0"/>
          </a:p>
        </p:txBody>
      </p:sp>
      <p:sp>
        <p:nvSpPr>
          <p:cNvPr id="41" name="Shape 39">
            <a:extLst>
              <a:ext uri="{FF2B5EF4-FFF2-40B4-BE49-F238E27FC236}">
                <a16:creationId xmlns:a16="http://schemas.microsoft.com/office/drawing/2014/main" id="{79C18452-3492-1ED5-70C0-CA3765C194C9}"/>
              </a:ext>
            </a:extLst>
          </p:cNvPr>
          <p:cNvSpPr/>
          <p:nvPr/>
        </p:nvSpPr>
        <p:spPr>
          <a:xfrm>
            <a:off x="6309360" y="4114800"/>
            <a:ext cx="2377440" cy="438912"/>
          </a:xfrm>
          <a:prstGeom prst="rect">
            <a:avLst/>
          </a:prstGeom>
          <a:solidFill>
            <a:srgbClr val="0C1830"/>
          </a:solidFill>
        </p:spPr>
        <p:txBody>
          <a:bodyPr/>
          <a:lstStyle/>
          <a:p>
            <a:endParaRPr lang="fr-FR" sz="1200"/>
          </a:p>
        </p:txBody>
      </p:sp>
      <p:sp>
        <p:nvSpPr>
          <p:cNvPr id="42" name="Text 40">
            <a:extLst>
              <a:ext uri="{FF2B5EF4-FFF2-40B4-BE49-F238E27FC236}">
                <a16:creationId xmlns:a16="http://schemas.microsoft.com/office/drawing/2014/main" id="{2BBF7B39-14A3-58DC-71F6-8BD406F95010}"/>
              </a:ext>
            </a:extLst>
          </p:cNvPr>
          <p:cNvSpPr/>
          <p:nvPr/>
        </p:nvSpPr>
        <p:spPr>
          <a:xfrm>
            <a:off x="6355080" y="4133088"/>
            <a:ext cx="2286000" cy="402336"/>
          </a:xfrm>
          <a:prstGeom prst="rect">
            <a:avLst/>
          </a:prstGeom>
          <a:noFill/>
        </p:spPr>
        <p:txBody>
          <a:bodyPr wrap="square" lIns="0" tIns="0" rIns="0" bIns="0" rtlCol="0" anchor="ctr"/>
          <a:lstStyle/>
          <a:p>
            <a:pPr marL="0" indent="0">
              <a:buNone/>
            </a:pPr>
            <a:r>
              <a:rPr lang="en-US" sz="1200" i="1" dirty="0">
                <a:solidFill>
                  <a:srgbClr val="B9A26D"/>
                </a:solidFill>
                <a:latin typeface="Calibri" panose="020F0502020204030204" pitchFamily="34" charset="0"/>
                <a:ea typeface="Calibri" panose="020F0502020204030204" pitchFamily="34" charset="-122"/>
                <a:cs typeface="Calibri" panose="020F0502020204030204" pitchFamily="34" charset="-120"/>
              </a:rPr>
              <a:t>Résultats aléatoires → Aucune protection</a:t>
            </a:r>
            <a:endParaRPr lang="en-US" sz="1200" dirty="0">
              <a:solidFill>
                <a:srgbClr val="B9A26D"/>
              </a:solidFill>
            </a:endParaRPr>
          </a:p>
        </p:txBody>
      </p:sp>
    </p:spTree>
    <p:extLst>
      <p:ext uri="{BB962C8B-B14F-4D97-AF65-F5344CB8AC3E}">
        <p14:creationId xmlns:p14="http://schemas.microsoft.com/office/powerpoint/2010/main" val="55892320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C1ACB-9531-9354-5DD3-533CEC7A8F0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3585E9-17E6-45DE-C7FE-FCA037C3BFE5}"/>
              </a:ext>
            </a:extLst>
          </p:cNvPr>
          <p:cNvSpPr/>
          <p:nvPr/>
        </p:nvSpPr>
        <p:spPr>
          <a:xfrm>
            <a:off x="0" y="0"/>
            <a:ext cx="9144000" cy="658368"/>
          </a:xfrm>
          <a:prstGeom prst="rect">
            <a:avLst/>
          </a:prstGeom>
          <a:solidFill>
            <a:srgbClr val="0A1628"/>
          </a:solidFill>
        </p:spPr>
        <p:txBody>
          <a:bodyPr/>
          <a:lstStyle/>
          <a:p>
            <a:endParaRPr lang="fr-FR"/>
          </a:p>
        </p:txBody>
      </p:sp>
      <p:sp>
        <p:nvSpPr>
          <p:cNvPr id="3" name="Shape 1">
            <a:extLst>
              <a:ext uri="{FF2B5EF4-FFF2-40B4-BE49-F238E27FC236}">
                <a16:creationId xmlns:a16="http://schemas.microsoft.com/office/drawing/2014/main" id="{FC63BEB6-DA28-2ADD-E436-9A104ED1CB45}"/>
              </a:ext>
            </a:extLst>
          </p:cNvPr>
          <p:cNvSpPr/>
          <p:nvPr/>
        </p:nvSpPr>
        <p:spPr>
          <a:xfrm>
            <a:off x="0" y="0"/>
            <a:ext cx="54864" cy="658368"/>
          </a:xfrm>
          <a:prstGeom prst="rect">
            <a:avLst/>
          </a:prstGeom>
          <a:solidFill>
            <a:srgbClr val="B9A26D"/>
          </a:solidFill>
        </p:spPr>
        <p:txBody>
          <a:bodyPr/>
          <a:lstStyle/>
          <a:p>
            <a:endParaRPr lang="fr-FR"/>
          </a:p>
        </p:txBody>
      </p:sp>
      <p:sp>
        <p:nvSpPr>
          <p:cNvPr id="4" name="Text 2">
            <a:extLst>
              <a:ext uri="{FF2B5EF4-FFF2-40B4-BE49-F238E27FC236}">
                <a16:creationId xmlns:a16="http://schemas.microsoft.com/office/drawing/2014/main" id="{236EA00E-CCB9-3C7E-DFDE-11EA17A4441A}"/>
              </a:ext>
            </a:extLst>
          </p:cNvPr>
          <p:cNvSpPr/>
          <p:nvPr/>
        </p:nvSpPr>
        <p:spPr>
          <a:xfrm>
            <a:off x="164592" y="0"/>
            <a:ext cx="8778240" cy="658368"/>
          </a:xfrm>
          <a:prstGeom prst="rect">
            <a:avLst/>
          </a:prstGeom>
          <a:noFill/>
        </p:spPr>
        <p:txBody>
          <a:bodyPr wrap="square" lIns="0" tIns="0" rIns="0" bIns="0"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Code Python Qiskit — Les 3 Cas de Simulation</a:t>
            </a:r>
            <a:endParaRPr lang="en-US" sz="2000" dirty="0"/>
          </a:p>
        </p:txBody>
      </p:sp>
      <p:sp>
        <p:nvSpPr>
          <p:cNvPr id="5" name="Shape 3">
            <a:extLst>
              <a:ext uri="{FF2B5EF4-FFF2-40B4-BE49-F238E27FC236}">
                <a16:creationId xmlns:a16="http://schemas.microsoft.com/office/drawing/2014/main" id="{08577373-164C-32C4-15FE-BD441B18C93E}"/>
              </a:ext>
            </a:extLst>
          </p:cNvPr>
          <p:cNvSpPr/>
          <p:nvPr/>
        </p:nvSpPr>
        <p:spPr>
          <a:xfrm>
            <a:off x="320040" y="749808"/>
            <a:ext cx="5349240" cy="4279392"/>
          </a:xfrm>
          <a:prstGeom prst="rect">
            <a:avLst/>
          </a:prstGeom>
          <a:solidFill>
            <a:srgbClr val="020A14"/>
          </a:solidFill>
          <a:ln w="6350">
            <a:solidFill>
              <a:srgbClr val="B9A26D"/>
            </a:solidFill>
            <a:prstDash val="solid"/>
          </a:ln>
        </p:spPr>
        <p:txBody>
          <a:bodyPr/>
          <a:lstStyle/>
          <a:p>
            <a:endParaRPr lang="fr-FR" sz="3200"/>
          </a:p>
        </p:txBody>
      </p:sp>
      <p:sp>
        <p:nvSpPr>
          <p:cNvPr id="6" name="Shape 4">
            <a:extLst>
              <a:ext uri="{FF2B5EF4-FFF2-40B4-BE49-F238E27FC236}">
                <a16:creationId xmlns:a16="http://schemas.microsoft.com/office/drawing/2014/main" id="{75D6FF31-CA55-FAD2-AFEF-81BD2A5BB9F4}"/>
              </a:ext>
            </a:extLst>
          </p:cNvPr>
          <p:cNvSpPr/>
          <p:nvPr/>
        </p:nvSpPr>
        <p:spPr>
          <a:xfrm>
            <a:off x="320040" y="749808"/>
            <a:ext cx="5349240" cy="256032"/>
          </a:xfrm>
          <a:prstGeom prst="rect">
            <a:avLst/>
          </a:prstGeom>
          <a:solidFill>
            <a:srgbClr val="0A1628"/>
          </a:solidFill>
        </p:spPr>
        <p:txBody>
          <a:bodyPr/>
          <a:lstStyle/>
          <a:p>
            <a:endParaRPr lang="fr-FR"/>
          </a:p>
        </p:txBody>
      </p:sp>
      <p:sp>
        <p:nvSpPr>
          <p:cNvPr id="7" name="Shape 5">
            <a:extLst>
              <a:ext uri="{FF2B5EF4-FFF2-40B4-BE49-F238E27FC236}">
                <a16:creationId xmlns:a16="http://schemas.microsoft.com/office/drawing/2014/main" id="{4D3F34A9-2035-5EC7-EC6D-ADFAB4486A43}"/>
              </a:ext>
            </a:extLst>
          </p:cNvPr>
          <p:cNvSpPr/>
          <p:nvPr/>
        </p:nvSpPr>
        <p:spPr>
          <a:xfrm>
            <a:off x="502920" y="786384"/>
            <a:ext cx="109728" cy="109728"/>
          </a:xfrm>
          <a:prstGeom prst="ellipse">
            <a:avLst/>
          </a:prstGeom>
          <a:solidFill>
            <a:srgbClr val="EF4444"/>
          </a:solidFill>
        </p:spPr>
        <p:txBody>
          <a:bodyPr/>
          <a:lstStyle/>
          <a:p>
            <a:endParaRPr lang="fr-FR"/>
          </a:p>
        </p:txBody>
      </p:sp>
      <p:sp>
        <p:nvSpPr>
          <p:cNvPr id="8" name="Shape 6">
            <a:extLst>
              <a:ext uri="{FF2B5EF4-FFF2-40B4-BE49-F238E27FC236}">
                <a16:creationId xmlns:a16="http://schemas.microsoft.com/office/drawing/2014/main" id="{8EEF48C8-A915-3AE0-4191-0FDE01601E0D}"/>
              </a:ext>
            </a:extLst>
          </p:cNvPr>
          <p:cNvSpPr/>
          <p:nvPr/>
        </p:nvSpPr>
        <p:spPr>
          <a:xfrm>
            <a:off x="704088" y="786384"/>
            <a:ext cx="109728" cy="109728"/>
          </a:xfrm>
          <a:prstGeom prst="ellipse">
            <a:avLst/>
          </a:prstGeom>
          <a:solidFill>
            <a:srgbClr val="F59E0B"/>
          </a:solidFill>
        </p:spPr>
        <p:txBody>
          <a:bodyPr/>
          <a:lstStyle/>
          <a:p>
            <a:endParaRPr lang="fr-FR"/>
          </a:p>
        </p:txBody>
      </p:sp>
      <p:sp>
        <p:nvSpPr>
          <p:cNvPr id="9" name="Shape 7">
            <a:extLst>
              <a:ext uri="{FF2B5EF4-FFF2-40B4-BE49-F238E27FC236}">
                <a16:creationId xmlns:a16="http://schemas.microsoft.com/office/drawing/2014/main" id="{87548ABF-A56F-2FF9-59A5-E00FC2A08B89}"/>
              </a:ext>
            </a:extLst>
          </p:cNvPr>
          <p:cNvSpPr/>
          <p:nvPr/>
        </p:nvSpPr>
        <p:spPr>
          <a:xfrm>
            <a:off x="905256" y="786384"/>
            <a:ext cx="109728" cy="109728"/>
          </a:xfrm>
          <a:prstGeom prst="ellipse">
            <a:avLst/>
          </a:prstGeom>
          <a:solidFill>
            <a:srgbClr val="10B981"/>
          </a:solidFill>
        </p:spPr>
        <p:txBody>
          <a:bodyPr/>
          <a:lstStyle/>
          <a:p>
            <a:endParaRPr lang="fr-FR"/>
          </a:p>
        </p:txBody>
      </p:sp>
      <p:sp>
        <p:nvSpPr>
          <p:cNvPr id="10" name="Text 8">
            <a:extLst>
              <a:ext uri="{FF2B5EF4-FFF2-40B4-BE49-F238E27FC236}">
                <a16:creationId xmlns:a16="http://schemas.microsoft.com/office/drawing/2014/main" id="{5EEE052D-C571-DAEA-2882-9E7A6ACD5BB2}"/>
              </a:ext>
            </a:extLst>
          </p:cNvPr>
          <p:cNvSpPr/>
          <p:nvPr/>
        </p:nvSpPr>
        <p:spPr>
          <a:xfrm>
            <a:off x="1188720" y="758952"/>
            <a:ext cx="2743200" cy="201168"/>
          </a:xfrm>
          <a:prstGeom prst="rect">
            <a:avLst/>
          </a:prstGeom>
          <a:noFill/>
        </p:spPr>
        <p:txBody>
          <a:bodyPr wrap="square" lIns="0" tIns="0" rIns="0" bIns="0" rtlCol="0" anchor="ctr"/>
          <a:lstStyle/>
          <a:p>
            <a:pPr marL="0" indent="0">
              <a:buNone/>
            </a:pPr>
            <a:r>
              <a:rPr lang="en-US" sz="1200" dirty="0">
                <a:solidFill>
                  <a:srgbClr val="94A3B8"/>
                </a:solidFill>
                <a:latin typeface="Consolas" panose="020B0609020204030204" pitchFamily="34" charset="0"/>
                <a:ea typeface="Consolas" panose="020B0609020204030204" pitchFamily="34" charset="-122"/>
                <a:cs typeface="Consolas" panose="020B0609020204030204" pitchFamily="34" charset="-120"/>
              </a:rPr>
              <a:t>quantum_simulation.py</a:t>
            </a:r>
            <a:endParaRPr lang="en-US" sz="1200" dirty="0"/>
          </a:p>
        </p:txBody>
      </p:sp>
      <p:sp>
        <p:nvSpPr>
          <p:cNvPr id="11" name="Text 9">
            <a:extLst>
              <a:ext uri="{FF2B5EF4-FFF2-40B4-BE49-F238E27FC236}">
                <a16:creationId xmlns:a16="http://schemas.microsoft.com/office/drawing/2014/main" id="{651367AF-103C-3F2D-43C2-F793A10FFA14}"/>
              </a:ext>
            </a:extLst>
          </p:cNvPr>
          <p:cNvSpPr/>
          <p:nvPr/>
        </p:nvSpPr>
        <p:spPr>
          <a:xfrm>
            <a:off x="411480" y="1078992"/>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from qiskit import QuantumCircuit, transpile</a:t>
            </a:r>
            <a:endParaRPr lang="en-US" sz="1000" dirty="0"/>
          </a:p>
        </p:txBody>
      </p:sp>
      <p:sp>
        <p:nvSpPr>
          <p:cNvPr id="12" name="Text 10">
            <a:extLst>
              <a:ext uri="{FF2B5EF4-FFF2-40B4-BE49-F238E27FC236}">
                <a16:creationId xmlns:a16="http://schemas.microsoft.com/office/drawing/2014/main" id="{5AAA1D28-6AF7-A05A-65E9-12AADE320EE8}"/>
              </a:ext>
            </a:extLst>
          </p:cNvPr>
          <p:cNvSpPr/>
          <p:nvPr/>
        </p:nvSpPr>
        <p:spPr>
          <a:xfrm>
            <a:off x="411480" y="1236269"/>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from qiskit_aer import AerSimulator</a:t>
            </a:r>
            <a:endParaRPr lang="en-US" sz="1000" dirty="0"/>
          </a:p>
        </p:txBody>
      </p:sp>
      <p:sp>
        <p:nvSpPr>
          <p:cNvPr id="13" name="Text 11">
            <a:extLst>
              <a:ext uri="{FF2B5EF4-FFF2-40B4-BE49-F238E27FC236}">
                <a16:creationId xmlns:a16="http://schemas.microsoft.com/office/drawing/2014/main" id="{A7B32845-3ECC-0B23-4196-E051F338DAE8}"/>
              </a:ext>
            </a:extLst>
          </p:cNvPr>
          <p:cNvSpPr/>
          <p:nvPr/>
        </p:nvSpPr>
        <p:spPr>
          <a:xfrm>
            <a:off x="411480" y="1393546"/>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import matplotlib.pyplot as plt</a:t>
            </a:r>
            <a:endParaRPr lang="en-US" sz="1000" dirty="0"/>
          </a:p>
        </p:txBody>
      </p:sp>
      <p:sp>
        <p:nvSpPr>
          <p:cNvPr id="14" name="Text 12">
            <a:extLst>
              <a:ext uri="{FF2B5EF4-FFF2-40B4-BE49-F238E27FC236}">
                <a16:creationId xmlns:a16="http://schemas.microsoft.com/office/drawing/2014/main" id="{FA93493C-5DDD-A878-9138-A49D0A34A071}"/>
              </a:ext>
            </a:extLst>
          </p:cNvPr>
          <p:cNvSpPr/>
          <p:nvPr/>
        </p:nvSpPr>
        <p:spPr>
          <a:xfrm>
            <a:off x="411480" y="1708099"/>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simulator = AerSimulator()</a:t>
            </a:r>
            <a:endParaRPr lang="en-US" sz="1000" dirty="0"/>
          </a:p>
        </p:txBody>
      </p:sp>
      <p:sp>
        <p:nvSpPr>
          <p:cNvPr id="15" name="Text 13">
            <a:extLst>
              <a:ext uri="{FF2B5EF4-FFF2-40B4-BE49-F238E27FC236}">
                <a16:creationId xmlns:a16="http://schemas.microsoft.com/office/drawing/2014/main" id="{3A3B490D-D1C6-CCDA-8B14-CBCEC00C20F3}"/>
              </a:ext>
            </a:extLst>
          </p:cNvPr>
          <p:cNvSpPr/>
          <p:nvPr/>
        </p:nvSpPr>
        <p:spPr>
          <a:xfrm>
            <a:off x="411480" y="2022653"/>
            <a:ext cx="5120640" cy="155448"/>
          </a:xfrm>
          <a:prstGeom prst="rect">
            <a:avLst/>
          </a:prstGeom>
          <a:noFill/>
        </p:spPr>
        <p:txBody>
          <a:bodyPr wrap="square" lIns="0" tIns="0" rIns="0" bIns="0" rtlCol="0" anchor="ctr"/>
          <a:lstStyle/>
          <a:p>
            <a:pPr marL="0" indent="0">
              <a:buNone/>
            </a:pPr>
            <a:r>
              <a:rPr lang="en-US" sz="1000" b="1" dirty="0">
                <a:solidFill>
                  <a:srgbClr val="569CD6"/>
                </a:solidFill>
                <a:latin typeface="Consolas" panose="020B0609020204030204" pitchFamily="34" charset="0"/>
                <a:ea typeface="Consolas" panose="020B0609020204030204" pitchFamily="34" charset="-122"/>
                <a:cs typeface="Consolas" panose="020B0609020204030204" pitchFamily="34" charset="-120"/>
              </a:rPr>
              <a:t>def </a:t>
            </a:r>
            <a:r>
              <a:rPr lang="en-US" sz="1000" dirty="0">
                <a:solidFill>
                  <a:srgbClr val="DCDCAA"/>
                </a:solidFill>
                <a:latin typeface="Consolas" panose="020B0609020204030204" pitchFamily="34" charset="0"/>
                <a:ea typeface="Consolas" panose="020B0609020204030204" pitchFamily="34" charset="-122"/>
                <a:cs typeface="Consolas" panose="020B0609020204030204" pitchFamily="34" charset="-120"/>
              </a:rPr>
              <a:t>case1_no_structure():</a:t>
            </a:r>
            <a:endParaRPr lang="en-US" sz="1000" dirty="0"/>
          </a:p>
        </p:txBody>
      </p:sp>
      <p:sp>
        <p:nvSpPr>
          <p:cNvPr id="16" name="Text 14">
            <a:extLst>
              <a:ext uri="{FF2B5EF4-FFF2-40B4-BE49-F238E27FC236}">
                <a16:creationId xmlns:a16="http://schemas.microsoft.com/office/drawing/2014/main" id="{42C3AABC-5704-4373-82D6-35ED437C52B5}"/>
              </a:ext>
            </a:extLst>
          </p:cNvPr>
          <p:cNvSpPr/>
          <p:nvPr/>
        </p:nvSpPr>
        <p:spPr>
          <a:xfrm>
            <a:off x="411480" y="2179930"/>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qc = QuantumCircuit(2, 2)</a:t>
            </a:r>
            <a:endParaRPr lang="en-US" sz="1000" dirty="0"/>
          </a:p>
        </p:txBody>
      </p:sp>
      <p:sp>
        <p:nvSpPr>
          <p:cNvPr id="17" name="Text 15">
            <a:extLst>
              <a:ext uri="{FF2B5EF4-FFF2-40B4-BE49-F238E27FC236}">
                <a16:creationId xmlns:a16="http://schemas.microsoft.com/office/drawing/2014/main" id="{BC6EE386-52DE-00A0-1A34-51FCE66957C4}"/>
              </a:ext>
            </a:extLst>
          </p:cNvPr>
          <p:cNvSpPr/>
          <p:nvPr/>
        </p:nvSpPr>
        <p:spPr>
          <a:xfrm>
            <a:off x="411480" y="2337206"/>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qc.h(0)  </a:t>
            </a:r>
            <a:r>
              <a:rPr lang="en-US" sz="1000" dirty="0">
                <a:solidFill>
                  <a:srgbClr val="6A9955"/>
                </a:solidFill>
                <a:latin typeface="Consolas" panose="020B0609020204030204" pitchFamily="34" charset="0"/>
                <a:ea typeface="Consolas" panose="020B0609020204030204" pitchFamily="34" charset="-122"/>
                <a:cs typeface="Consolas" panose="020B0609020204030204" pitchFamily="34" charset="-120"/>
              </a:rPr>
              <a:t># Superposition qubit 0</a:t>
            </a:r>
            <a:endParaRPr lang="en-US" sz="1000" dirty="0"/>
          </a:p>
        </p:txBody>
      </p:sp>
      <p:sp>
        <p:nvSpPr>
          <p:cNvPr id="18" name="Text 16">
            <a:extLst>
              <a:ext uri="{FF2B5EF4-FFF2-40B4-BE49-F238E27FC236}">
                <a16:creationId xmlns:a16="http://schemas.microsoft.com/office/drawing/2014/main" id="{1606722E-14FA-55FE-9B76-B8CAEC37FFCB}"/>
              </a:ext>
            </a:extLst>
          </p:cNvPr>
          <p:cNvSpPr/>
          <p:nvPr/>
        </p:nvSpPr>
        <p:spPr>
          <a:xfrm>
            <a:off x="411480" y="2494483"/>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qc.h(1)  </a:t>
            </a:r>
            <a:r>
              <a:rPr lang="en-US" sz="1000" dirty="0">
                <a:solidFill>
                  <a:srgbClr val="6A9955"/>
                </a:solidFill>
                <a:latin typeface="Consolas" panose="020B0609020204030204" pitchFamily="34" charset="0"/>
                <a:ea typeface="Consolas" panose="020B0609020204030204" pitchFamily="34" charset="-122"/>
                <a:cs typeface="Consolas" panose="020B0609020204030204" pitchFamily="34" charset="-120"/>
              </a:rPr>
              <a:t># Superposition qubit 1</a:t>
            </a:r>
            <a:endParaRPr lang="en-US" sz="1000" dirty="0"/>
          </a:p>
        </p:txBody>
      </p:sp>
      <p:sp>
        <p:nvSpPr>
          <p:cNvPr id="19" name="Text 17">
            <a:extLst>
              <a:ext uri="{FF2B5EF4-FFF2-40B4-BE49-F238E27FC236}">
                <a16:creationId xmlns:a16="http://schemas.microsoft.com/office/drawing/2014/main" id="{CABC7AEF-5F2E-EDE6-C0D5-1C410E3116F3}"/>
              </a:ext>
            </a:extLst>
          </p:cNvPr>
          <p:cNvSpPr/>
          <p:nvPr/>
        </p:nvSpPr>
        <p:spPr>
          <a:xfrm>
            <a:off x="411480" y="2651760"/>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qc.measure([0,1],[0,1])</a:t>
            </a:r>
            <a:endParaRPr lang="en-US" sz="1000" dirty="0"/>
          </a:p>
        </p:txBody>
      </p:sp>
      <p:sp>
        <p:nvSpPr>
          <p:cNvPr id="20" name="Text 18">
            <a:extLst>
              <a:ext uri="{FF2B5EF4-FFF2-40B4-BE49-F238E27FC236}">
                <a16:creationId xmlns:a16="http://schemas.microsoft.com/office/drawing/2014/main" id="{52D11E95-B178-61C4-8D91-645AAB293690}"/>
              </a:ext>
            </a:extLst>
          </p:cNvPr>
          <p:cNvSpPr/>
          <p:nvPr/>
        </p:nvSpPr>
        <p:spPr>
          <a:xfrm>
            <a:off x="411480" y="2809037"/>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compiled = transpile(qc, simulator)</a:t>
            </a:r>
            <a:endParaRPr lang="en-US" sz="1000" dirty="0"/>
          </a:p>
        </p:txBody>
      </p:sp>
      <p:sp>
        <p:nvSpPr>
          <p:cNvPr id="21" name="Text 19">
            <a:extLst>
              <a:ext uri="{FF2B5EF4-FFF2-40B4-BE49-F238E27FC236}">
                <a16:creationId xmlns:a16="http://schemas.microsoft.com/office/drawing/2014/main" id="{A62E720C-0A9B-CC97-5FF5-0D2FCFE42169}"/>
              </a:ext>
            </a:extLst>
          </p:cNvPr>
          <p:cNvSpPr/>
          <p:nvPr/>
        </p:nvSpPr>
        <p:spPr>
          <a:xfrm>
            <a:off x="411480" y="2966314"/>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return simulator.run(compiled,shots=1024).result()</a:t>
            </a:r>
            <a:endParaRPr lang="en-US" sz="1000" dirty="0"/>
          </a:p>
        </p:txBody>
      </p:sp>
      <p:sp>
        <p:nvSpPr>
          <p:cNvPr id="22" name="Text 20">
            <a:extLst>
              <a:ext uri="{FF2B5EF4-FFF2-40B4-BE49-F238E27FC236}">
                <a16:creationId xmlns:a16="http://schemas.microsoft.com/office/drawing/2014/main" id="{F3662C8C-BE33-6C7C-E3BF-DBBBE9299114}"/>
              </a:ext>
            </a:extLst>
          </p:cNvPr>
          <p:cNvSpPr/>
          <p:nvPr/>
        </p:nvSpPr>
        <p:spPr>
          <a:xfrm>
            <a:off x="411480" y="3280867"/>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def case2_entanglement():  </a:t>
            </a:r>
            <a:r>
              <a:rPr lang="en-US" sz="1000" dirty="0">
                <a:solidFill>
                  <a:srgbClr val="6A9955"/>
                </a:solidFill>
                <a:latin typeface="Consolas" panose="020B0609020204030204" pitchFamily="34" charset="0"/>
                <a:ea typeface="Consolas" panose="020B0609020204030204" pitchFamily="34" charset="-122"/>
                <a:cs typeface="Consolas" panose="020B0609020204030204" pitchFamily="34" charset="-120"/>
              </a:rPr>
              <a:t># Holographic encoding</a:t>
            </a:r>
            <a:endParaRPr lang="en-US" sz="1000" dirty="0"/>
          </a:p>
        </p:txBody>
      </p:sp>
      <p:sp>
        <p:nvSpPr>
          <p:cNvPr id="23" name="Text 21">
            <a:extLst>
              <a:ext uri="{FF2B5EF4-FFF2-40B4-BE49-F238E27FC236}">
                <a16:creationId xmlns:a16="http://schemas.microsoft.com/office/drawing/2014/main" id="{41A801E0-836E-3D73-A09B-781498DF119C}"/>
              </a:ext>
            </a:extLst>
          </p:cNvPr>
          <p:cNvSpPr/>
          <p:nvPr/>
        </p:nvSpPr>
        <p:spPr>
          <a:xfrm>
            <a:off x="411480" y="3438144"/>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qc.h(0)  </a:t>
            </a:r>
            <a:r>
              <a:rPr lang="en-US" sz="1000" dirty="0">
                <a:solidFill>
                  <a:srgbClr val="6A9955"/>
                </a:solidFill>
                <a:latin typeface="Consolas" panose="020B0609020204030204" pitchFamily="34" charset="0"/>
                <a:ea typeface="Consolas" panose="020B0609020204030204" pitchFamily="34" charset="-122"/>
                <a:cs typeface="Consolas" panose="020B0609020204030204" pitchFamily="34" charset="-120"/>
              </a:rPr>
              <a:t># Hadamard</a:t>
            </a:r>
            <a:endParaRPr lang="en-US" sz="1000" dirty="0"/>
          </a:p>
        </p:txBody>
      </p:sp>
      <p:sp>
        <p:nvSpPr>
          <p:cNvPr id="24" name="Text 22">
            <a:extLst>
              <a:ext uri="{FF2B5EF4-FFF2-40B4-BE49-F238E27FC236}">
                <a16:creationId xmlns:a16="http://schemas.microsoft.com/office/drawing/2014/main" id="{D194F5FC-963F-0554-445A-5409554E403E}"/>
              </a:ext>
            </a:extLst>
          </p:cNvPr>
          <p:cNvSpPr/>
          <p:nvPr/>
        </p:nvSpPr>
        <p:spPr>
          <a:xfrm>
            <a:off x="411480" y="3595421"/>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qc.cx(0,1) </a:t>
            </a:r>
            <a:r>
              <a:rPr lang="en-US" sz="1000" dirty="0">
                <a:solidFill>
                  <a:srgbClr val="6A9955"/>
                </a:solidFill>
                <a:latin typeface="Consolas" panose="020B0609020204030204" pitchFamily="34" charset="0"/>
                <a:ea typeface="Consolas" panose="020B0609020204030204" pitchFamily="34" charset="-122"/>
                <a:cs typeface="Consolas" panose="020B0609020204030204" pitchFamily="34" charset="-120"/>
              </a:rPr>
              <a:t># CNOT → Bell state</a:t>
            </a:r>
            <a:endParaRPr lang="en-US" sz="1000" dirty="0"/>
          </a:p>
        </p:txBody>
      </p:sp>
      <p:sp>
        <p:nvSpPr>
          <p:cNvPr id="25" name="Text 23">
            <a:extLst>
              <a:ext uri="{FF2B5EF4-FFF2-40B4-BE49-F238E27FC236}">
                <a16:creationId xmlns:a16="http://schemas.microsoft.com/office/drawing/2014/main" id="{450A1922-4DEC-6A10-E700-7B72425F0B1E}"/>
              </a:ext>
            </a:extLst>
          </p:cNvPr>
          <p:cNvSpPr/>
          <p:nvPr/>
        </p:nvSpPr>
        <p:spPr>
          <a:xfrm>
            <a:off x="411480" y="3909974"/>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def case3_noise():  </a:t>
            </a:r>
            <a:r>
              <a:rPr lang="en-US" sz="1000" dirty="0">
                <a:solidFill>
                  <a:srgbClr val="6A9955"/>
                </a:solidFill>
                <a:latin typeface="Consolas" panose="020B0609020204030204" pitchFamily="34" charset="0"/>
                <a:ea typeface="Consolas" panose="020B0609020204030204" pitchFamily="34" charset="-122"/>
                <a:cs typeface="Consolas" panose="020B0609020204030204" pitchFamily="34" charset="-120"/>
              </a:rPr>
              <a:t># Decoherence model</a:t>
            </a:r>
            <a:endParaRPr lang="en-US" sz="1000" dirty="0"/>
          </a:p>
        </p:txBody>
      </p:sp>
      <p:sp>
        <p:nvSpPr>
          <p:cNvPr id="26" name="Text 24">
            <a:extLst>
              <a:ext uri="{FF2B5EF4-FFF2-40B4-BE49-F238E27FC236}">
                <a16:creationId xmlns:a16="http://schemas.microsoft.com/office/drawing/2014/main" id="{D9F75A0B-A76F-E109-5CC3-A0EBEFBFAEEA}"/>
              </a:ext>
            </a:extLst>
          </p:cNvPr>
          <p:cNvSpPr/>
          <p:nvPr/>
        </p:nvSpPr>
        <p:spPr>
          <a:xfrm>
            <a:off x="411480" y="4067251"/>
            <a:ext cx="5120640" cy="155448"/>
          </a:xfrm>
          <a:prstGeom prst="rect">
            <a:avLst/>
          </a:prstGeom>
          <a:noFill/>
        </p:spPr>
        <p:txBody>
          <a:bodyPr wrap="square" lIns="0" tIns="0" rIns="0" bIns="0" rtlCol="0" anchor="ctr"/>
          <a:lstStyle/>
          <a:p>
            <a:pPr marL="0" indent="0">
              <a:buNone/>
            </a:pPr>
            <a:r>
              <a:rPr lang="en-US" sz="1000" dirty="0">
                <a:solidFill>
                  <a:srgbClr val="E2F4FF"/>
                </a:solidFill>
                <a:latin typeface="Consolas" panose="020B0609020204030204" pitchFamily="34" charset="0"/>
                <a:ea typeface="Consolas" panose="020B0609020204030204" pitchFamily="34" charset="-122"/>
                <a:cs typeface="Consolas" panose="020B0609020204030204" pitchFamily="34" charset="-120"/>
              </a:rPr>
              <a:t>  </a:t>
            </a:r>
            <a:r>
              <a:rPr lang="en-US" sz="1000" dirty="0">
                <a:solidFill>
                  <a:srgbClr val="6A9955"/>
                </a:solidFill>
                <a:latin typeface="Consolas" panose="020B0609020204030204" pitchFamily="34" charset="0"/>
                <a:ea typeface="Consolas" panose="020B0609020204030204" pitchFamily="34" charset="-122"/>
                <a:cs typeface="Consolas" panose="020B0609020204030204" pitchFamily="34" charset="-120"/>
              </a:rPr>
              <a:t># + depolarizing_error(0.1)</a:t>
            </a:r>
            <a:endParaRPr lang="en-US" sz="1000" dirty="0"/>
          </a:p>
        </p:txBody>
      </p:sp>
      <p:sp>
        <p:nvSpPr>
          <p:cNvPr id="27" name="Shape 25">
            <a:extLst>
              <a:ext uri="{FF2B5EF4-FFF2-40B4-BE49-F238E27FC236}">
                <a16:creationId xmlns:a16="http://schemas.microsoft.com/office/drawing/2014/main" id="{903B5E79-4621-B555-8CF2-F090D81B0848}"/>
              </a:ext>
            </a:extLst>
          </p:cNvPr>
          <p:cNvSpPr/>
          <p:nvPr/>
        </p:nvSpPr>
        <p:spPr>
          <a:xfrm>
            <a:off x="5897880" y="749808"/>
            <a:ext cx="2926080" cy="4279392"/>
          </a:xfrm>
          <a:prstGeom prst="rect">
            <a:avLst/>
          </a:prstGeom>
          <a:solidFill>
            <a:srgbClr val="0F1E36"/>
          </a:solidFill>
          <a:ln w="6350">
            <a:solidFill>
              <a:srgbClr val="B9A26D"/>
            </a:solidFill>
            <a:prstDash val="solid"/>
          </a:ln>
        </p:spPr>
        <p:txBody>
          <a:bodyPr/>
          <a:lstStyle/>
          <a:p>
            <a:endParaRPr lang="fr-FR"/>
          </a:p>
        </p:txBody>
      </p:sp>
      <p:sp>
        <p:nvSpPr>
          <p:cNvPr id="28" name="Text 26">
            <a:extLst>
              <a:ext uri="{FF2B5EF4-FFF2-40B4-BE49-F238E27FC236}">
                <a16:creationId xmlns:a16="http://schemas.microsoft.com/office/drawing/2014/main" id="{FB37DEDD-7ED2-F419-7810-992DC6666F50}"/>
              </a:ext>
            </a:extLst>
          </p:cNvPr>
          <p:cNvSpPr/>
          <p:nvPr/>
        </p:nvSpPr>
        <p:spPr>
          <a:xfrm>
            <a:off x="6035040" y="841248"/>
            <a:ext cx="265176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Explication des portes</a:t>
            </a:r>
            <a:endParaRPr lang="en-US" sz="1200" dirty="0">
              <a:solidFill>
                <a:srgbClr val="B9A26D"/>
              </a:solidFill>
            </a:endParaRPr>
          </a:p>
        </p:txBody>
      </p:sp>
      <p:sp>
        <p:nvSpPr>
          <p:cNvPr id="29" name="Shape 27">
            <a:extLst>
              <a:ext uri="{FF2B5EF4-FFF2-40B4-BE49-F238E27FC236}">
                <a16:creationId xmlns:a16="http://schemas.microsoft.com/office/drawing/2014/main" id="{7C0013EB-13DA-0269-52F1-7B83C929C1FD}"/>
              </a:ext>
            </a:extLst>
          </p:cNvPr>
          <p:cNvSpPr/>
          <p:nvPr/>
        </p:nvSpPr>
        <p:spPr>
          <a:xfrm>
            <a:off x="5897880" y="1207008"/>
            <a:ext cx="2926080" cy="804672"/>
          </a:xfrm>
          <a:prstGeom prst="rect">
            <a:avLst/>
          </a:prstGeom>
          <a:solidFill>
            <a:srgbClr val="070F1C"/>
          </a:solidFill>
        </p:spPr>
        <p:txBody>
          <a:bodyPr/>
          <a:lstStyle/>
          <a:p>
            <a:endParaRPr lang="fr-FR"/>
          </a:p>
        </p:txBody>
      </p:sp>
      <p:sp>
        <p:nvSpPr>
          <p:cNvPr id="30" name="Shape 28">
            <a:extLst>
              <a:ext uri="{FF2B5EF4-FFF2-40B4-BE49-F238E27FC236}">
                <a16:creationId xmlns:a16="http://schemas.microsoft.com/office/drawing/2014/main" id="{A143C60B-5B39-5BF6-C517-820651682D98}"/>
              </a:ext>
            </a:extLst>
          </p:cNvPr>
          <p:cNvSpPr/>
          <p:nvPr/>
        </p:nvSpPr>
        <p:spPr>
          <a:xfrm>
            <a:off x="5897880" y="1207008"/>
            <a:ext cx="45720" cy="804672"/>
          </a:xfrm>
          <a:prstGeom prst="rect">
            <a:avLst/>
          </a:prstGeom>
          <a:solidFill>
            <a:srgbClr val="0D1B4B"/>
          </a:solidFill>
        </p:spPr>
        <p:txBody>
          <a:bodyPr/>
          <a:lstStyle/>
          <a:p>
            <a:endParaRPr lang="fr-FR"/>
          </a:p>
        </p:txBody>
      </p:sp>
      <p:sp>
        <p:nvSpPr>
          <p:cNvPr id="31" name="Text 29">
            <a:extLst>
              <a:ext uri="{FF2B5EF4-FFF2-40B4-BE49-F238E27FC236}">
                <a16:creationId xmlns:a16="http://schemas.microsoft.com/office/drawing/2014/main" id="{B6CED1BF-1C56-1568-4E31-E4A03BFDD30F}"/>
              </a:ext>
            </a:extLst>
          </p:cNvPr>
          <p:cNvSpPr/>
          <p:nvPr/>
        </p:nvSpPr>
        <p:spPr>
          <a:xfrm>
            <a:off x="6035040" y="1261872"/>
            <a:ext cx="2651760" cy="237744"/>
          </a:xfrm>
          <a:prstGeom prst="rect">
            <a:avLst/>
          </a:prstGeom>
          <a:noFill/>
        </p:spPr>
        <p:txBody>
          <a:bodyPr wrap="square" lIns="0" tIns="0" rIns="0" bIns="0" rtlCol="0" anchor="ctr"/>
          <a:lstStyle/>
          <a:p>
            <a:pPr marL="0" indent="0">
              <a:buNone/>
            </a:pPr>
            <a:r>
              <a:rPr lang="en-US" sz="1100" b="1" dirty="0">
                <a:solidFill>
                  <a:srgbClr val="B9A26D"/>
                </a:solidFill>
                <a:latin typeface="Consolas" panose="020B0609020204030204" pitchFamily="34" charset="0"/>
                <a:ea typeface="Consolas" panose="020B0609020204030204" pitchFamily="34" charset="-122"/>
                <a:cs typeface="Consolas" panose="020B0609020204030204" pitchFamily="34" charset="-120"/>
              </a:rPr>
              <a:t>H (Hadamard)</a:t>
            </a:r>
            <a:endParaRPr lang="en-US" sz="1100" dirty="0">
              <a:solidFill>
                <a:srgbClr val="B9A26D"/>
              </a:solidFill>
            </a:endParaRPr>
          </a:p>
        </p:txBody>
      </p:sp>
      <p:sp>
        <p:nvSpPr>
          <p:cNvPr id="32" name="Text 30">
            <a:extLst>
              <a:ext uri="{FF2B5EF4-FFF2-40B4-BE49-F238E27FC236}">
                <a16:creationId xmlns:a16="http://schemas.microsoft.com/office/drawing/2014/main" id="{2FE1C2D4-EC18-2D79-EA0C-69A66EACEDF1}"/>
              </a:ext>
            </a:extLst>
          </p:cNvPr>
          <p:cNvSpPr/>
          <p:nvPr/>
        </p:nvSpPr>
        <p:spPr>
          <a:xfrm>
            <a:off x="6035040" y="1517904"/>
            <a:ext cx="2651760" cy="457200"/>
          </a:xfrm>
          <a:prstGeom prst="rect">
            <a:avLst/>
          </a:prstGeom>
          <a:noFill/>
        </p:spPr>
        <p:txBody>
          <a:bodyPr wrap="square" lIns="0" tIns="0" rIns="0" bIns="0" rtlCol="0" anchor="ctr"/>
          <a:lstStyle/>
          <a:p>
            <a:pPr marL="0" indent="0">
              <a:buNone/>
            </a:pPr>
            <a:r>
              <a:rPr lang="en-US" sz="1100" dirty="0">
                <a:solidFill>
                  <a:srgbClr val="E2F4FF"/>
                </a:solidFill>
                <a:latin typeface="Calibri" panose="020F0502020204030204" pitchFamily="34" charset="0"/>
                <a:ea typeface="Calibri" panose="020F0502020204030204" pitchFamily="34" charset="-122"/>
                <a:cs typeface="Calibri" panose="020F0502020204030204" pitchFamily="34" charset="-120"/>
              </a:rPr>
              <a:t>Crée une superposition égale : |0⟩ → (|0⟩+|1⟩)/√2. La porte fondamentale de la superposition quantique.</a:t>
            </a:r>
            <a:endParaRPr lang="en-US" sz="1100" dirty="0"/>
          </a:p>
        </p:txBody>
      </p:sp>
      <p:sp>
        <p:nvSpPr>
          <p:cNvPr id="33" name="Shape 31">
            <a:extLst>
              <a:ext uri="{FF2B5EF4-FFF2-40B4-BE49-F238E27FC236}">
                <a16:creationId xmlns:a16="http://schemas.microsoft.com/office/drawing/2014/main" id="{71DF3508-DB4D-7922-C0CA-7F41B53C5EDD}"/>
              </a:ext>
            </a:extLst>
          </p:cNvPr>
          <p:cNvSpPr/>
          <p:nvPr/>
        </p:nvSpPr>
        <p:spPr>
          <a:xfrm>
            <a:off x="5897880" y="2139696"/>
            <a:ext cx="2926080" cy="804672"/>
          </a:xfrm>
          <a:prstGeom prst="rect">
            <a:avLst/>
          </a:prstGeom>
          <a:solidFill>
            <a:srgbClr val="070F1C"/>
          </a:solidFill>
        </p:spPr>
        <p:txBody>
          <a:bodyPr/>
          <a:lstStyle/>
          <a:p>
            <a:endParaRPr lang="fr-FR"/>
          </a:p>
        </p:txBody>
      </p:sp>
      <p:sp>
        <p:nvSpPr>
          <p:cNvPr id="34" name="Shape 32">
            <a:extLst>
              <a:ext uri="{FF2B5EF4-FFF2-40B4-BE49-F238E27FC236}">
                <a16:creationId xmlns:a16="http://schemas.microsoft.com/office/drawing/2014/main" id="{29818D0F-0060-6F13-0D70-11D0C2726B17}"/>
              </a:ext>
            </a:extLst>
          </p:cNvPr>
          <p:cNvSpPr/>
          <p:nvPr/>
        </p:nvSpPr>
        <p:spPr>
          <a:xfrm>
            <a:off x="5897880" y="2139696"/>
            <a:ext cx="45720" cy="804672"/>
          </a:xfrm>
          <a:prstGeom prst="rect">
            <a:avLst/>
          </a:prstGeom>
          <a:solidFill>
            <a:srgbClr val="B9A26D"/>
          </a:solidFill>
        </p:spPr>
        <p:txBody>
          <a:bodyPr/>
          <a:lstStyle/>
          <a:p>
            <a:endParaRPr lang="fr-FR"/>
          </a:p>
        </p:txBody>
      </p:sp>
      <p:sp>
        <p:nvSpPr>
          <p:cNvPr id="35" name="Text 33">
            <a:extLst>
              <a:ext uri="{FF2B5EF4-FFF2-40B4-BE49-F238E27FC236}">
                <a16:creationId xmlns:a16="http://schemas.microsoft.com/office/drawing/2014/main" id="{37DEDBB7-3D21-0D91-D758-D98E3F91208A}"/>
              </a:ext>
            </a:extLst>
          </p:cNvPr>
          <p:cNvSpPr/>
          <p:nvPr/>
        </p:nvSpPr>
        <p:spPr>
          <a:xfrm>
            <a:off x="6035040" y="2194560"/>
            <a:ext cx="2651760" cy="237744"/>
          </a:xfrm>
          <a:prstGeom prst="rect">
            <a:avLst/>
          </a:prstGeom>
          <a:noFill/>
        </p:spPr>
        <p:txBody>
          <a:bodyPr wrap="square" lIns="0" tIns="0" rIns="0" bIns="0" rtlCol="0" anchor="ctr"/>
          <a:lstStyle/>
          <a:p>
            <a:pPr marL="0" indent="0">
              <a:buNone/>
            </a:pPr>
            <a:r>
              <a:rPr lang="en-US" sz="1100" b="1" dirty="0">
                <a:solidFill>
                  <a:srgbClr val="B9A26D"/>
                </a:solidFill>
                <a:latin typeface="Consolas" panose="020B0609020204030204" pitchFamily="34" charset="0"/>
                <a:ea typeface="Consolas" panose="020B0609020204030204" pitchFamily="34" charset="-122"/>
                <a:cs typeface="Consolas" panose="020B0609020204030204" pitchFamily="34" charset="-120"/>
              </a:rPr>
              <a:t>CNOT (CX)</a:t>
            </a:r>
            <a:endParaRPr lang="en-US" sz="1100" dirty="0">
              <a:solidFill>
                <a:srgbClr val="B9A26D"/>
              </a:solidFill>
            </a:endParaRPr>
          </a:p>
        </p:txBody>
      </p:sp>
      <p:sp>
        <p:nvSpPr>
          <p:cNvPr id="36" name="Text 34">
            <a:extLst>
              <a:ext uri="{FF2B5EF4-FFF2-40B4-BE49-F238E27FC236}">
                <a16:creationId xmlns:a16="http://schemas.microsoft.com/office/drawing/2014/main" id="{59B1A4D4-7ABC-E6E7-64E9-5C3BFE9A7C52}"/>
              </a:ext>
            </a:extLst>
          </p:cNvPr>
          <p:cNvSpPr/>
          <p:nvPr/>
        </p:nvSpPr>
        <p:spPr>
          <a:xfrm>
            <a:off x="6035040" y="2450592"/>
            <a:ext cx="2651760" cy="457200"/>
          </a:xfrm>
          <a:prstGeom prst="rect">
            <a:avLst/>
          </a:prstGeom>
          <a:noFill/>
        </p:spPr>
        <p:txBody>
          <a:bodyPr wrap="square" lIns="0" tIns="0" rIns="0" bIns="0" rtlCol="0" anchor="ctr"/>
          <a:lstStyle/>
          <a:p>
            <a:pPr marL="0" indent="0">
              <a:buNone/>
            </a:pPr>
            <a:r>
              <a:rPr lang="en-US" sz="1100" dirty="0">
                <a:solidFill>
                  <a:srgbClr val="E2F4FF"/>
                </a:solidFill>
                <a:latin typeface="Calibri" panose="020F0502020204030204" pitchFamily="34" charset="0"/>
                <a:ea typeface="Calibri" panose="020F0502020204030204" pitchFamily="34" charset="-122"/>
                <a:cs typeface="Calibri" panose="020F0502020204030204" pitchFamily="34" charset="-120"/>
              </a:rPr>
              <a:t>Porte contrôlée NOT. Si qubit 0 = |1⟩, inverse qubit 1. Crée l'intrication — cœur de l'encodage holographique.</a:t>
            </a:r>
            <a:endParaRPr lang="en-US" sz="1100" dirty="0"/>
          </a:p>
        </p:txBody>
      </p:sp>
      <p:sp>
        <p:nvSpPr>
          <p:cNvPr id="37" name="Shape 35">
            <a:extLst>
              <a:ext uri="{FF2B5EF4-FFF2-40B4-BE49-F238E27FC236}">
                <a16:creationId xmlns:a16="http://schemas.microsoft.com/office/drawing/2014/main" id="{EA3AFBE9-8B25-38A3-700F-4A7E6DF23F99}"/>
              </a:ext>
            </a:extLst>
          </p:cNvPr>
          <p:cNvSpPr/>
          <p:nvPr/>
        </p:nvSpPr>
        <p:spPr>
          <a:xfrm>
            <a:off x="5897880" y="3072384"/>
            <a:ext cx="2926080" cy="804672"/>
          </a:xfrm>
          <a:prstGeom prst="rect">
            <a:avLst/>
          </a:prstGeom>
          <a:solidFill>
            <a:srgbClr val="070F1C"/>
          </a:solidFill>
        </p:spPr>
        <p:txBody>
          <a:bodyPr/>
          <a:lstStyle/>
          <a:p>
            <a:endParaRPr lang="fr-FR"/>
          </a:p>
        </p:txBody>
      </p:sp>
      <p:sp>
        <p:nvSpPr>
          <p:cNvPr id="38" name="Shape 36">
            <a:extLst>
              <a:ext uri="{FF2B5EF4-FFF2-40B4-BE49-F238E27FC236}">
                <a16:creationId xmlns:a16="http://schemas.microsoft.com/office/drawing/2014/main" id="{EE389288-6586-98C8-BA03-F8F66F7AC648}"/>
              </a:ext>
            </a:extLst>
          </p:cNvPr>
          <p:cNvSpPr/>
          <p:nvPr/>
        </p:nvSpPr>
        <p:spPr>
          <a:xfrm>
            <a:off x="5897880" y="3072384"/>
            <a:ext cx="45720" cy="804672"/>
          </a:xfrm>
          <a:prstGeom prst="rect">
            <a:avLst/>
          </a:prstGeom>
          <a:solidFill>
            <a:srgbClr val="0D1B4B"/>
          </a:solidFill>
        </p:spPr>
        <p:txBody>
          <a:bodyPr/>
          <a:lstStyle/>
          <a:p>
            <a:endParaRPr lang="fr-FR"/>
          </a:p>
        </p:txBody>
      </p:sp>
      <p:sp>
        <p:nvSpPr>
          <p:cNvPr id="39" name="Text 37">
            <a:extLst>
              <a:ext uri="{FF2B5EF4-FFF2-40B4-BE49-F238E27FC236}">
                <a16:creationId xmlns:a16="http://schemas.microsoft.com/office/drawing/2014/main" id="{E8C91B48-97C9-C9EF-B5C5-4F2C4CC5A855}"/>
              </a:ext>
            </a:extLst>
          </p:cNvPr>
          <p:cNvSpPr/>
          <p:nvPr/>
        </p:nvSpPr>
        <p:spPr>
          <a:xfrm>
            <a:off x="6035040" y="3127248"/>
            <a:ext cx="2651760" cy="237744"/>
          </a:xfrm>
          <a:prstGeom prst="rect">
            <a:avLst/>
          </a:prstGeom>
          <a:noFill/>
        </p:spPr>
        <p:txBody>
          <a:bodyPr wrap="square" lIns="0" tIns="0" rIns="0" bIns="0" rtlCol="0" anchor="ctr"/>
          <a:lstStyle/>
          <a:p>
            <a:pPr marL="0" indent="0">
              <a:buNone/>
            </a:pPr>
            <a:r>
              <a:rPr lang="en-US" sz="1100" b="1" dirty="0">
                <a:solidFill>
                  <a:srgbClr val="B9A26D"/>
                </a:solidFill>
                <a:latin typeface="Consolas" panose="020B0609020204030204" pitchFamily="34" charset="0"/>
                <a:ea typeface="Consolas" panose="020B0609020204030204" pitchFamily="34" charset="-122"/>
                <a:cs typeface="Consolas" panose="020B0609020204030204" pitchFamily="34" charset="-120"/>
              </a:rPr>
              <a:t>Measure</a:t>
            </a:r>
            <a:endParaRPr lang="en-US" sz="1100" dirty="0">
              <a:solidFill>
                <a:srgbClr val="B9A26D"/>
              </a:solidFill>
            </a:endParaRPr>
          </a:p>
        </p:txBody>
      </p:sp>
      <p:sp>
        <p:nvSpPr>
          <p:cNvPr id="40" name="Text 38">
            <a:extLst>
              <a:ext uri="{FF2B5EF4-FFF2-40B4-BE49-F238E27FC236}">
                <a16:creationId xmlns:a16="http://schemas.microsoft.com/office/drawing/2014/main" id="{A716E8BD-F189-B236-F2E6-E68DBBDF5725}"/>
              </a:ext>
            </a:extLst>
          </p:cNvPr>
          <p:cNvSpPr/>
          <p:nvPr/>
        </p:nvSpPr>
        <p:spPr>
          <a:xfrm>
            <a:off x="6035040" y="3383280"/>
            <a:ext cx="2651760" cy="457200"/>
          </a:xfrm>
          <a:prstGeom prst="rect">
            <a:avLst/>
          </a:prstGeom>
          <a:noFill/>
        </p:spPr>
        <p:txBody>
          <a:bodyPr wrap="square" lIns="0" tIns="0" rIns="0" bIns="0" rtlCol="0" anchor="ctr"/>
          <a:lstStyle/>
          <a:p>
            <a:pPr marL="0" indent="0">
              <a:buNone/>
            </a:pPr>
            <a:r>
              <a:rPr lang="en-US" sz="1100" dirty="0">
                <a:solidFill>
                  <a:srgbClr val="E2F4FF"/>
                </a:solidFill>
                <a:latin typeface="Calibri" panose="020F0502020204030204" pitchFamily="34" charset="0"/>
                <a:ea typeface="Calibri" panose="020F0502020204030204" pitchFamily="34" charset="-122"/>
                <a:cs typeface="Calibri" panose="020F0502020204030204" pitchFamily="34" charset="-120"/>
              </a:rPr>
              <a:t>Effondre la superposition et donne un résultat classique (0 ou 1). Répété 1024 fois pour obtenir la distribution statistique.</a:t>
            </a:r>
            <a:endParaRPr lang="en-US" sz="1100" dirty="0"/>
          </a:p>
        </p:txBody>
      </p:sp>
      <p:sp>
        <p:nvSpPr>
          <p:cNvPr id="41" name="Shape 39">
            <a:extLst>
              <a:ext uri="{FF2B5EF4-FFF2-40B4-BE49-F238E27FC236}">
                <a16:creationId xmlns:a16="http://schemas.microsoft.com/office/drawing/2014/main" id="{F89CAC2F-1A07-533D-711C-0D6FC0567E26}"/>
              </a:ext>
            </a:extLst>
          </p:cNvPr>
          <p:cNvSpPr/>
          <p:nvPr/>
        </p:nvSpPr>
        <p:spPr>
          <a:xfrm>
            <a:off x="5897880" y="4005072"/>
            <a:ext cx="2926080" cy="804672"/>
          </a:xfrm>
          <a:prstGeom prst="rect">
            <a:avLst/>
          </a:prstGeom>
          <a:solidFill>
            <a:srgbClr val="070F1C"/>
          </a:solidFill>
        </p:spPr>
        <p:txBody>
          <a:bodyPr/>
          <a:lstStyle/>
          <a:p>
            <a:endParaRPr lang="fr-FR"/>
          </a:p>
        </p:txBody>
      </p:sp>
      <p:sp>
        <p:nvSpPr>
          <p:cNvPr id="42" name="Shape 40">
            <a:extLst>
              <a:ext uri="{FF2B5EF4-FFF2-40B4-BE49-F238E27FC236}">
                <a16:creationId xmlns:a16="http://schemas.microsoft.com/office/drawing/2014/main" id="{00B6293E-D395-1BC7-9617-2027DE4B3F80}"/>
              </a:ext>
            </a:extLst>
          </p:cNvPr>
          <p:cNvSpPr/>
          <p:nvPr/>
        </p:nvSpPr>
        <p:spPr>
          <a:xfrm>
            <a:off x="5897880" y="4005072"/>
            <a:ext cx="45720" cy="804672"/>
          </a:xfrm>
          <a:prstGeom prst="rect">
            <a:avLst/>
          </a:prstGeom>
          <a:solidFill>
            <a:srgbClr val="B9A26D"/>
          </a:solidFill>
        </p:spPr>
        <p:txBody>
          <a:bodyPr/>
          <a:lstStyle/>
          <a:p>
            <a:endParaRPr lang="fr-FR"/>
          </a:p>
        </p:txBody>
      </p:sp>
      <p:sp>
        <p:nvSpPr>
          <p:cNvPr id="43" name="Text 41">
            <a:extLst>
              <a:ext uri="{FF2B5EF4-FFF2-40B4-BE49-F238E27FC236}">
                <a16:creationId xmlns:a16="http://schemas.microsoft.com/office/drawing/2014/main" id="{EF9071EF-5D3B-DD90-D715-8F8565FBC35C}"/>
              </a:ext>
            </a:extLst>
          </p:cNvPr>
          <p:cNvSpPr/>
          <p:nvPr/>
        </p:nvSpPr>
        <p:spPr>
          <a:xfrm>
            <a:off x="6035040" y="4059936"/>
            <a:ext cx="2651760" cy="237744"/>
          </a:xfrm>
          <a:prstGeom prst="rect">
            <a:avLst/>
          </a:prstGeom>
          <a:noFill/>
        </p:spPr>
        <p:txBody>
          <a:bodyPr wrap="square" lIns="0" tIns="0" rIns="0" bIns="0" rtlCol="0" anchor="ctr"/>
          <a:lstStyle/>
          <a:p>
            <a:pPr marL="0" indent="0">
              <a:buNone/>
            </a:pPr>
            <a:r>
              <a:rPr lang="en-US" sz="1100" b="1" dirty="0">
                <a:solidFill>
                  <a:srgbClr val="B9A26D"/>
                </a:solidFill>
                <a:latin typeface="Consolas" panose="020B0609020204030204" pitchFamily="34" charset="0"/>
                <a:ea typeface="Consolas" panose="020B0609020204030204" pitchFamily="34" charset="-122"/>
                <a:cs typeface="Consolas" panose="020B0609020204030204" pitchFamily="34" charset="-120"/>
              </a:rPr>
              <a:t>shots=1024</a:t>
            </a:r>
            <a:endParaRPr lang="en-US" sz="1100" dirty="0">
              <a:solidFill>
                <a:srgbClr val="B9A26D"/>
              </a:solidFill>
            </a:endParaRPr>
          </a:p>
        </p:txBody>
      </p:sp>
      <p:sp>
        <p:nvSpPr>
          <p:cNvPr id="44" name="Text 42">
            <a:extLst>
              <a:ext uri="{FF2B5EF4-FFF2-40B4-BE49-F238E27FC236}">
                <a16:creationId xmlns:a16="http://schemas.microsoft.com/office/drawing/2014/main" id="{70114003-9589-911C-B587-DA9C8696FB8A}"/>
              </a:ext>
            </a:extLst>
          </p:cNvPr>
          <p:cNvSpPr/>
          <p:nvPr/>
        </p:nvSpPr>
        <p:spPr>
          <a:xfrm>
            <a:off x="6035040" y="4315968"/>
            <a:ext cx="2651760" cy="457200"/>
          </a:xfrm>
          <a:prstGeom prst="rect">
            <a:avLst/>
          </a:prstGeom>
          <a:noFill/>
        </p:spPr>
        <p:txBody>
          <a:bodyPr wrap="square" lIns="0" tIns="0" rIns="0" bIns="0" rtlCol="0" anchor="ctr"/>
          <a:lstStyle/>
          <a:p>
            <a:pPr marL="0" indent="0">
              <a:buNone/>
            </a:pPr>
            <a:r>
              <a:rPr lang="en-US" sz="1100" dirty="0">
                <a:solidFill>
                  <a:srgbClr val="E2F4FF"/>
                </a:solidFill>
                <a:latin typeface="Calibri" panose="020F0502020204030204" pitchFamily="34" charset="0"/>
                <a:ea typeface="Calibri" panose="020F0502020204030204" pitchFamily="34" charset="-122"/>
                <a:cs typeface="Calibri" panose="020F0502020204030204" pitchFamily="34" charset="-120"/>
              </a:rPr>
              <a:t>Nombre d'exécutions du circuit. Plus de shots = distribution statistique plus précise des états quantiques.</a:t>
            </a:r>
            <a:endParaRPr lang="en-US" sz="1100" dirty="0"/>
          </a:p>
        </p:txBody>
      </p:sp>
    </p:spTree>
    <p:extLst>
      <p:ext uri="{BB962C8B-B14F-4D97-AF65-F5344CB8AC3E}">
        <p14:creationId xmlns:p14="http://schemas.microsoft.com/office/powerpoint/2010/main" val="40773905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5"/>
                                        </p:tgtEl>
                                        <p:attrNameLst>
                                          <p:attrName>style.color</p:attrName>
                                        </p:attrNameLst>
                                      </p:cBhvr>
                                      <p:by>
                                        <p:hsl h="7200000" s="0" l="0"/>
                                      </p:by>
                                    </p:animClr>
                                    <p:animClr clrSpc="hsl" dir="cw">
                                      <p:cBhvr>
                                        <p:cTn id="7" dur="500" fill="hold"/>
                                        <p:tgtEl>
                                          <p:spTgt spid="5"/>
                                        </p:tgtEl>
                                        <p:attrNameLst>
                                          <p:attrName>fillcolor</p:attrName>
                                        </p:attrNameLst>
                                      </p:cBhvr>
                                      <p:by>
                                        <p:hsl h="7200000" s="0" l="0"/>
                                      </p:by>
                                    </p:animClr>
                                    <p:animClr clrSpc="hsl" dir="cw">
                                      <p:cBhvr>
                                        <p:cTn id="8" dur="500" fill="hold"/>
                                        <p:tgtEl>
                                          <p:spTgt spid="5"/>
                                        </p:tgtEl>
                                        <p:attrNameLst>
                                          <p:attrName>stroke.color</p:attrName>
                                        </p:attrNameLst>
                                      </p:cBhvr>
                                      <p:by>
                                        <p:hsl h="7200000" s="0" l="0"/>
                                      </p:by>
                                    </p:animClr>
                                    <p:set>
                                      <p:cBhvr>
                                        <p:cTn id="9" dur="500" fill="hold"/>
                                        <p:tgtEl>
                                          <p:spTgt spid="5"/>
                                        </p:tgtEl>
                                        <p:attrNameLst>
                                          <p:attrName>fill.type</p:attrName>
                                        </p:attrNameLst>
                                      </p:cBhvr>
                                      <p:to>
                                        <p:strVal val="solid"/>
                                      </p:to>
                                    </p:set>
                                  </p:childTnLst>
                                </p:cTn>
                              </p:par>
                              <p:par>
                                <p:cTn id="10" presetID="21" presetClass="emph" presetSubtype="0" fill="hold" grpId="0" nodeType="withEffect">
                                  <p:stCondLst>
                                    <p:cond delay="0"/>
                                  </p:stCondLst>
                                  <p:childTnLst>
                                    <p:animClr clrSpc="hsl" dir="cw">
                                      <p:cBhvr override="childStyle">
                                        <p:cTn id="11" dur="500" fill="hold"/>
                                        <p:tgtEl>
                                          <p:spTgt spid="11"/>
                                        </p:tgtEl>
                                        <p:attrNameLst>
                                          <p:attrName>style.color</p:attrName>
                                        </p:attrNameLst>
                                      </p:cBhvr>
                                      <p:by>
                                        <p:hsl h="7200000" s="0" l="0"/>
                                      </p:by>
                                    </p:animClr>
                                    <p:animClr clrSpc="hsl" dir="cw">
                                      <p:cBhvr>
                                        <p:cTn id="12" dur="500" fill="hold"/>
                                        <p:tgtEl>
                                          <p:spTgt spid="11"/>
                                        </p:tgtEl>
                                        <p:attrNameLst>
                                          <p:attrName>fillcolor</p:attrName>
                                        </p:attrNameLst>
                                      </p:cBhvr>
                                      <p:by>
                                        <p:hsl h="7200000" s="0" l="0"/>
                                      </p:by>
                                    </p:animClr>
                                    <p:animClr clrSpc="hsl" dir="cw">
                                      <p:cBhvr>
                                        <p:cTn id="13" dur="500" fill="hold"/>
                                        <p:tgtEl>
                                          <p:spTgt spid="11"/>
                                        </p:tgtEl>
                                        <p:attrNameLst>
                                          <p:attrName>stroke.color</p:attrName>
                                        </p:attrNameLst>
                                      </p:cBhvr>
                                      <p:by>
                                        <p:hsl h="7200000" s="0" l="0"/>
                                      </p:by>
                                    </p:animClr>
                                    <p:set>
                                      <p:cBhvr>
                                        <p:cTn id="14" dur="500" fill="hold"/>
                                        <p:tgtEl>
                                          <p:spTgt spid="11"/>
                                        </p:tgtEl>
                                        <p:attrNameLst>
                                          <p:attrName>fill.type</p:attrName>
                                        </p:attrNameLst>
                                      </p:cBhvr>
                                      <p:to>
                                        <p:strVal val="solid"/>
                                      </p:to>
                                    </p:set>
                                  </p:childTnLst>
                                </p:cTn>
                              </p:par>
                              <p:par>
                                <p:cTn id="15" presetID="21" presetClass="emph" presetSubtype="0" fill="hold" grpId="0" nodeType="withEffect">
                                  <p:stCondLst>
                                    <p:cond delay="0"/>
                                  </p:stCondLst>
                                  <p:childTnLst>
                                    <p:animClr clrSpc="hsl" dir="cw">
                                      <p:cBhvr override="childStyle">
                                        <p:cTn id="16" dur="500" fill="hold"/>
                                        <p:tgtEl>
                                          <p:spTgt spid="12"/>
                                        </p:tgtEl>
                                        <p:attrNameLst>
                                          <p:attrName>style.color</p:attrName>
                                        </p:attrNameLst>
                                      </p:cBhvr>
                                      <p:by>
                                        <p:hsl h="7200000" s="0" l="0"/>
                                      </p:by>
                                    </p:animClr>
                                    <p:animClr clrSpc="hsl" dir="cw">
                                      <p:cBhvr>
                                        <p:cTn id="17" dur="500" fill="hold"/>
                                        <p:tgtEl>
                                          <p:spTgt spid="12"/>
                                        </p:tgtEl>
                                        <p:attrNameLst>
                                          <p:attrName>fillcolor</p:attrName>
                                        </p:attrNameLst>
                                      </p:cBhvr>
                                      <p:by>
                                        <p:hsl h="7200000" s="0" l="0"/>
                                      </p:by>
                                    </p:animClr>
                                    <p:animClr clrSpc="hsl" dir="cw">
                                      <p:cBhvr>
                                        <p:cTn id="18" dur="500" fill="hold"/>
                                        <p:tgtEl>
                                          <p:spTgt spid="12"/>
                                        </p:tgtEl>
                                        <p:attrNameLst>
                                          <p:attrName>stroke.color</p:attrName>
                                        </p:attrNameLst>
                                      </p:cBhvr>
                                      <p:by>
                                        <p:hsl h="7200000" s="0" l="0"/>
                                      </p:by>
                                    </p:animClr>
                                    <p:set>
                                      <p:cBhvr>
                                        <p:cTn id="19" dur="500" fill="hold"/>
                                        <p:tgtEl>
                                          <p:spTgt spid="12"/>
                                        </p:tgtEl>
                                        <p:attrNameLst>
                                          <p:attrName>fill.type</p:attrName>
                                        </p:attrNameLst>
                                      </p:cBhvr>
                                      <p:to>
                                        <p:strVal val="solid"/>
                                      </p:to>
                                    </p:set>
                                  </p:childTnLst>
                                </p:cTn>
                              </p:par>
                              <p:par>
                                <p:cTn id="20" presetID="21" presetClass="emph" presetSubtype="0" fill="hold" grpId="0" nodeType="withEffect">
                                  <p:stCondLst>
                                    <p:cond delay="0"/>
                                  </p:stCondLst>
                                  <p:childTnLst>
                                    <p:animClr clrSpc="hsl" dir="cw">
                                      <p:cBhvr override="childStyle">
                                        <p:cTn id="21" dur="500" fill="hold"/>
                                        <p:tgtEl>
                                          <p:spTgt spid="13"/>
                                        </p:tgtEl>
                                        <p:attrNameLst>
                                          <p:attrName>style.color</p:attrName>
                                        </p:attrNameLst>
                                      </p:cBhvr>
                                      <p:by>
                                        <p:hsl h="7200000" s="0" l="0"/>
                                      </p:by>
                                    </p:animClr>
                                    <p:animClr clrSpc="hsl" dir="cw">
                                      <p:cBhvr>
                                        <p:cTn id="22" dur="500" fill="hold"/>
                                        <p:tgtEl>
                                          <p:spTgt spid="13"/>
                                        </p:tgtEl>
                                        <p:attrNameLst>
                                          <p:attrName>fillcolor</p:attrName>
                                        </p:attrNameLst>
                                      </p:cBhvr>
                                      <p:by>
                                        <p:hsl h="7200000" s="0" l="0"/>
                                      </p:by>
                                    </p:animClr>
                                    <p:animClr clrSpc="hsl" dir="cw">
                                      <p:cBhvr>
                                        <p:cTn id="23" dur="500" fill="hold"/>
                                        <p:tgtEl>
                                          <p:spTgt spid="13"/>
                                        </p:tgtEl>
                                        <p:attrNameLst>
                                          <p:attrName>stroke.color</p:attrName>
                                        </p:attrNameLst>
                                      </p:cBhvr>
                                      <p:by>
                                        <p:hsl h="7200000" s="0" l="0"/>
                                      </p:by>
                                    </p:animClr>
                                    <p:set>
                                      <p:cBhvr>
                                        <p:cTn id="24" dur="500" fill="hold"/>
                                        <p:tgtEl>
                                          <p:spTgt spid="13"/>
                                        </p:tgtEl>
                                        <p:attrNameLst>
                                          <p:attrName>fill.type</p:attrName>
                                        </p:attrNameLst>
                                      </p:cBhvr>
                                      <p:to>
                                        <p:strVal val="solid"/>
                                      </p:to>
                                    </p:set>
                                  </p:childTnLst>
                                </p:cTn>
                              </p:par>
                              <p:par>
                                <p:cTn id="25" presetID="21" presetClass="emph" presetSubtype="0" fill="hold" grpId="0" nodeType="withEffect">
                                  <p:stCondLst>
                                    <p:cond delay="0"/>
                                  </p:stCondLst>
                                  <p:childTnLst>
                                    <p:animClr clrSpc="hsl" dir="cw">
                                      <p:cBhvr override="childStyle">
                                        <p:cTn id="26" dur="500" fill="hold"/>
                                        <p:tgtEl>
                                          <p:spTgt spid="14"/>
                                        </p:tgtEl>
                                        <p:attrNameLst>
                                          <p:attrName>style.color</p:attrName>
                                        </p:attrNameLst>
                                      </p:cBhvr>
                                      <p:by>
                                        <p:hsl h="7200000" s="0" l="0"/>
                                      </p:by>
                                    </p:animClr>
                                    <p:animClr clrSpc="hsl" dir="cw">
                                      <p:cBhvr>
                                        <p:cTn id="27" dur="500" fill="hold"/>
                                        <p:tgtEl>
                                          <p:spTgt spid="14"/>
                                        </p:tgtEl>
                                        <p:attrNameLst>
                                          <p:attrName>fillcolor</p:attrName>
                                        </p:attrNameLst>
                                      </p:cBhvr>
                                      <p:by>
                                        <p:hsl h="7200000" s="0" l="0"/>
                                      </p:by>
                                    </p:animClr>
                                    <p:animClr clrSpc="hsl" dir="cw">
                                      <p:cBhvr>
                                        <p:cTn id="28" dur="500" fill="hold"/>
                                        <p:tgtEl>
                                          <p:spTgt spid="14"/>
                                        </p:tgtEl>
                                        <p:attrNameLst>
                                          <p:attrName>stroke.color</p:attrName>
                                        </p:attrNameLst>
                                      </p:cBhvr>
                                      <p:by>
                                        <p:hsl h="7200000" s="0" l="0"/>
                                      </p:by>
                                    </p:animClr>
                                    <p:set>
                                      <p:cBhvr>
                                        <p:cTn id="29" dur="500" fill="hold"/>
                                        <p:tgtEl>
                                          <p:spTgt spid="14"/>
                                        </p:tgtEl>
                                        <p:attrNameLst>
                                          <p:attrName>fill.type</p:attrName>
                                        </p:attrNameLst>
                                      </p:cBhvr>
                                      <p:to>
                                        <p:strVal val="solid"/>
                                      </p:to>
                                    </p:set>
                                  </p:childTnLst>
                                </p:cTn>
                              </p:par>
                              <p:par>
                                <p:cTn id="30" presetID="21" presetClass="emph" presetSubtype="0" fill="hold" grpId="0" nodeType="withEffect">
                                  <p:stCondLst>
                                    <p:cond delay="0"/>
                                  </p:stCondLst>
                                  <p:childTnLst>
                                    <p:animClr clrSpc="hsl" dir="cw">
                                      <p:cBhvr override="childStyle">
                                        <p:cTn id="31" dur="500" fill="hold"/>
                                        <p:tgtEl>
                                          <p:spTgt spid="15"/>
                                        </p:tgtEl>
                                        <p:attrNameLst>
                                          <p:attrName>style.color</p:attrName>
                                        </p:attrNameLst>
                                      </p:cBhvr>
                                      <p:by>
                                        <p:hsl h="7200000" s="0" l="0"/>
                                      </p:by>
                                    </p:animClr>
                                    <p:animClr clrSpc="hsl" dir="cw">
                                      <p:cBhvr>
                                        <p:cTn id="32" dur="500" fill="hold"/>
                                        <p:tgtEl>
                                          <p:spTgt spid="15"/>
                                        </p:tgtEl>
                                        <p:attrNameLst>
                                          <p:attrName>fillcolor</p:attrName>
                                        </p:attrNameLst>
                                      </p:cBhvr>
                                      <p:by>
                                        <p:hsl h="7200000" s="0" l="0"/>
                                      </p:by>
                                    </p:animClr>
                                    <p:animClr clrSpc="hsl" dir="cw">
                                      <p:cBhvr>
                                        <p:cTn id="33" dur="500" fill="hold"/>
                                        <p:tgtEl>
                                          <p:spTgt spid="15"/>
                                        </p:tgtEl>
                                        <p:attrNameLst>
                                          <p:attrName>stroke.color</p:attrName>
                                        </p:attrNameLst>
                                      </p:cBhvr>
                                      <p:by>
                                        <p:hsl h="7200000" s="0" l="0"/>
                                      </p:by>
                                    </p:animClr>
                                    <p:set>
                                      <p:cBhvr>
                                        <p:cTn id="34" dur="500" fill="hold"/>
                                        <p:tgtEl>
                                          <p:spTgt spid="15"/>
                                        </p:tgtEl>
                                        <p:attrNameLst>
                                          <p:attrName>fill.type</p:attrName>
                                        </p:attrNameLst>
                                      </p:cBhvr>
                                      <p:to>
                                        <p:strVal val="solid"/>
                                      </p:to>
                                    </p:set>
                                  </p:childTnLst>
                                </p:cTn>
                              </p:par>
                              <p:par>
                                <p:cTn id="35" presetID="21" presetClass="emph" presetSubtype="0" fill="hold" grpId="0" nodeType="withEffect">
                                  <p:stCondLst>
                                    <p:cond delay="0"/>
                                  </p:stCondLst>
                                  <p:childTnLst>
                                    <p:animClr clrSpc="hsl" dir="cw">
                                      <p:cBhvr override="childStyle">
                                        <p:cTn id="36" dur="500" fill="hold"/>
                                        <p:tgtEl>
                                          <p:spTgt spid="16"/>
                                        </p:tgtEl>
                                        <p:attrNameLst>
                                          <p:attrName>style.color</p:attrName>
                                        </p:attrNameLst>
                                      </p:cBhvr>
                                      <p:by>
                                        <p:hsl h="7200000" s="0" l="0"/>
                                      </p:by>
                                    </p:animClr>
                                    <p:animClr clrSpc="hsl" dir="cw">
                                      <p:cBhvr>
                                        <p:cTn id="37" dur="500" fill="hold"/>
                                        <p:tgtEl>
                                          <p:spTgt spid="16"/>
                                        </p:tgtEl>
                                        <p:attrNameLst>
                                          <p:attrName>fillcolor</p:attrName>
                                        </p:attrNameLst>
                                      </p:cBhvr>
                                      <p:by>
                                        <p:hsl h="7200000" s="0" l="0"/>
                                      </p:by>
                                    </p:animClr>
                                    <p:animClr clrSpc="hsl" dir="cw">
                                      <p:cBhvr>
                                        <p:cTn id="38" dur="500" fill="hold"/>
                                        <p:tgtEl>
                                          <p:spTgt spid="16"/>
                                        </p:tgtEl>
                                        <p:attrNameLst>
                                          <p:attrName>stroke.color</p:attrName>
                                        </p:attrNameLst>
                                      </p:cBhvr>
                                      <p:by>
                                        <p:hsl h="7200000" s="0" l="0"/>
                                      </p:by>
                                    </p:animClr>
                                    <p:set>
                                      <p:cBhvr>
                                        <p:cTn id="39" dur="500" fill="hold"/>
                                        <p:tgtEl>
                                          <p:spTgt spid="16"/>
                                        </p:tgtEl>
                                        <p:attrNameLst>
                                          <p:attrName>fill.type</p:attrName>
                                        </p:attrNameLst>
                                      </p:cBhvr>
                                      <p:to>
                                        <p:strVal val="solid"/>
                                      </p:to>
                                    </p:set>
                                  </p:childTnLst>
                                </p:cTn>
                              </p:par>
                              <p:par>
                                <p:cTn id="40" presetID="21" presetClass="emph" presetSubtype="0" fill="hold" grpId="0" nodeType="withEffect">
                                  <p:stCondLst>
                                    <p:cond delay="0"/>
                                  </p:stCondLst>
                                  <p:childTnLst>
                                    <p:animClr clrSpc="hsl" dir="cw">
                                      <p:cBhvr override="childStyle">
                                        <p:cTn id="41" dur="500" fill="hold"/>
                                        <p:tgtEl>
                                          <p:spTgt spid="17"/>
                                        </p:tgtEl>
                                        <p:attrNameLst>
                                          <p:attrName>style.color</p:attrName>
                                        </p:attrNameLst>
                                      </p:cBhvr>
                                      <p:by>
                                        <p:hsl h="7200000" s="0" l="0"/>
                                      </p:by>
                                    </p:animClr>
                                    <p:animClr clrSpc="hsl" dir="cw">
                                      <p:cBhvr>
                                        <p:cTn id="42" dur="500" fill="hold"/>
                                        <p:tgtEl>
                                          <p:spTgt spid="17"/>
                                        </p:tgtEl>
                                        <p:attrNameLst>
                                          <p:attrName>fillcolor</p:attrName>
                                        </p:attrNameLst>
                                      </p:cBhvr>
                                      <p:by>
                                        <p:hsl h="7200000" s="0" l="0"/>
                                      </p:by>
                                    </p:animClr>
                                    <p:animClr clrSpc="hsl" dir="cw">
                                      <p:cBhvr>
                                        <p:cTn id="43" dur="500" fill="hold"/>
                                        <p:tgtEl>
                                          <p:spTgt spid="17"/>
                                        </p:tgtEl>
                                        <p:attrNameLst>
                                          <p:attrName>stroke.color</p:attrName>
                                        </p:attrNameLst>
                                      </p:cBhvr>
                                      <p:by>
                                        <p:hsl h="7200000" s="0" l="0"/>
                                      </p:by>
                                    </p:animClr>
                                    <p:set>
                                      <p:cBhvr>
                                        <p:cTn id="44" dur="500" fill="hold"/>
                                        <p:tgtEl>
                                          <p:spTgt spid="17"/>
                                        </p:tgtEl>
                                        <p:attrNameLst>
                                          <p:attrName>fill.type</p:attrName>
                                        </p:attrNameLst>
                                      </p:cBhvr>
                                      <p:to>
                                        <p:strVal val="solid"/>
                                      </p:to>
                                    </p:set>
                                  </p:childTnLst>
                                </p:cTn>
                              </p:par>
                              <p:par>
                                <p:cTn id="45" presetID="21" presetClass="emph" presetSubtype="0" fill="hold" grpId="0" nodeType="withEffect">
                                  <p:stCondLst>
                                    <p:cond delay="0"/>
                                  </p:stCondLst>
                                  <p:childTnLst>
                                    <p:animClr clrSpc="hsl" dir="cw">
                                      <p:cBhvr override="childStyle">
                                        <p:cTn id="46" dur="500" fill="hold"/>
                                        <p:tgtEl>
                                          <p:spTgt spid="18"/>
                                        </p:tgtEl>
                                        <p:attrNameLst>
                                          <p:attrName>style.color</p:attrName>
                                        </p:attrNameLst>
                                      </p:cBhvr>
                                      <p:by>
                                        <p:hsl h="7200000" s="0" l="0"/>
                                      </p:by>
                                    </p:animClr>
                                    <p:animClr clrSpc="hsl" dir="cw">
                                      <p:cBhvr>
                                        <p:cTn id="47" dur="500" fill="hold"/>
                                        <p:tgtEl>
                                          <p:spTgt spid="18"/>
                                        </p:tgtEl>
                                        <p:attrNameLst>
                                          <p:attrName>fillcolor</p:attrName>
                                        </p:attrNameLst>
                                      </p:cBhvr>
                                      <p:by>
                                        <p:hsl h="7200000" s="0" l="0"/>
                                      </p:by>
                                    </p:animClr>
                                    <p:animClr clrSpc="hsl" dir="cw">
                                      <p:cBhvr>
                                        <p:cTn id="48" dur="500" fill="hold"/>
                                        <p:tgtEl>
                                          <p:spTgt spid="18"/>
                                        </p:tgtEl>
                                        <p:attrNameLst>
                                          <p:attrName>stroke.color</p:attrName>
                                        </p:attrNameLst>
                                      </p:cBhvr>
                                      <p:by>
                                        <p:hsl h="7200000" s="0" l="0"/>
                                      </p:by>
                                    </p:animClr>
                                    <p:set>
                                      <p:cBhvr>
                                        <p:cTn id="49" dur="500" fill="hold"/>
                                        <p:tgtEl>
                                          <p:spTgt spid="18"/>
                                        </p:tgtEl>
                                        <p:attrNameLst>
                                          <p:attrName>fill.type</p:attrName>
                                        </p:attrNameLst>
                                      </p:cBhvr>
                                      <p:to>
                                        <p:strVal val="solid"/>
                                      </p:to>
                                    </p:set>
                                  </p:childTnLst>
                                </p:cTn>
                              </p:par>
                              <p:par>
                                <p:cTn id="50" presetID="21" presetClass="emph" presetSubtype="0" fill="hold" grpId="0" nodeType="withEffect">
                                  <p:stCondLst>
                                    <p:cond delay="0"/>
                                  </p:stCondLst>
                                  <p:childTnLst>
                                    <p:animClr clrSpc="hsl" dir="cw">
                                      <p:cBhvr override="childStyle">
                                        <p:cTn id="51" dur="500" fill="hold"/>
                                        <p:tgtEl>
                                          <p:spTgt spid="19"/>
                                        </p:tgtEl>
                                        <p:attrNameLst>
                                          <p:attrName>style.color</p:attrName>
                                        </p:attrNameLst>
                                      </p:cBhvr>
                                      <p:by>
                                        <p:hsl h="7200000" s="0" l="0"/>
                                      </p:by>
                                    </p:animClr>
                                    <p:animClr clrSpc="hsl" dir="cw">
                                      <p:cBhvr>
                                        <p:cTn id="52" dur="500" fill="hold"/>
                                        <p:tgtEl>
                                          <p:spTgt spid="19"/>
                                        </p:tgtEl>
                                        <p:attrNameLst>
                                          <p:attrName>fillcolor</p:attrName>
                                        </p:attrNameLst>
                                      </p:cBhvr>
                                      <p:by>
                                        <p:hsl h="7200000" s="0" l="0"/>
                                      </p:by>
                                    </p:animClr>
                                    <p:animClr clrSpc="hsl" dir="cw">
                                      <p:cBhvr>
                                        <p:cTn id="53" dur="500" fill="hold"/>
                                        <p:tgtEl>
                                          <p:spTgt spid="19"/>
                                        </p:tgtEl>
                                        <p:attrNameLst>
                                          <p:attrName>stroke.color</p:attrName>
                                        </p:attrNameLst>
                                      </p:cBhvr>
                                      <p:by>
                                        <p:hsl h="7200000" s="0" l="0"/>
                                      </p:by>
                                    </p:animClr>
                                    <p:set>
                                      <p:cBhvr>
                                        <p:cTn id="54" dur="500" fill="hold"/>
                                        <p:tgtEl>
                                          <p:spTgt spid="19"/>
                                        </p:tgtEl>
                                        <p:attrNameLst>
                                          <p:attrName>fill.type</p:attrName>
                                        </p:attrNameLst>
                                      </p:cBhvr>
                                      <p:to>
                                        <p:strVal val="solid"/>
                                      </p:to>
                                    </p:set>
                                  </p:childTnLst>
                                </p:cTn>
                              </p:par>
                              <p:par>
                                <p:cTn id="55" presetID="21" presetClass="emph" presetSubtype="0" fill="hold" grpId="0" nodeType="withEffect">
                                  <p:stCondLst>
                                    <p:cond delay="0"/>
                                  </p:stCondLst>
                                  <p:childTnLst>
                                    <p:animClr clrSpc="hsl" dir="cw">
                                      <p:cBhvr override="childStyle">
                                        <p:cTn id="56" dur="500" fill="hold"/>
                                        <p:tgtEl>
                                          <p:spTgt spid="20"/>
                                        </p:tgtEl>
                                        <p:attrNameLst>
                                          <p:attrName>style.color</p:attrName>
                                        </p:attrNameLst>
                                      </p:cBhvr>
                                      <p:by>
                                        <p:hsl h="7200000" s="0" l="0"/>
                                      </p:by>
                                    </p:animClr>
                                    <p:animClr clrSpc="hsl" dir="cw">
                                      <p:cBhvr>
                                        <p:cTn id="57" dur="500" fill="hold"/>
                                        <p:tgtEl>
                                          <p:spTgt spid="20"/>
                                        </p:tgtEl>
                                        <p:attrNameLst>
                                          <p:attrName>fillcolor</p:attrName>
                                        </p:attrNameLst>
                                      </p:cBhvr>
                                      <p:by>
                                        <p:hsl h="7200000" s="0" l="0"/>
                                      </p:by>
                                    </p:animClr>
                                    <p:animClr clrSpc="hsl" dir="cw">
                                      <p:cBhvr>
                                        <p:cTn id="58" dur="500" fill="hold"/>
                                        <p:tgtEl>
                                          <p:spTgt spid="20"/>
                                        </p:tgtEl>
                                        <p:attrNameLst>
                                          <p:attrName>stroke.color</p:attrName>
                                        </p:attrNameLst>
                                      </p:cBhvr>
                                      <p:by>
                                        <p:hsl h="7200000" s="0" l="0"/>
                                      </p:by>
                                    </p:animClr>
                                    <p:set>
                                      <p:cBhvr>
                                        <p:cTn id="59" dur="500" fill="hold"/>
                                        <p:tgtEl>
                                          <p:spTgt spid="20"/>
                                        </p:tgtEl>
                                        <p:attrNameLst>
                                          <p:attrName>fill.type</p:attrName>
                                        </p:attrNameLst>
                                      </p:cBhvr>
                                      <p:to>
                                        <p:strVal val="solid"/>
                                      </p:to>
                                    </p:set>
                                  </p:childTnLst>
                                </p:cTn>
                              </p:par>
                              <p:par>
                                <p:cTn id="60" presetID="21" presetClass="emph" presetSubtype="0" fill="hold" grpId="0" nodeType="withEffect">
                                  <p:stCondLst>
                                    <p:cond delay="0"/>
                                  </p:stCondLst>
                                  <p:childTnLst>
                                    <p:animClr clrSpc="hsl" dir="cw">
                                      <p:cBhvr override="childStyle">
                                        <p:cTn id="61" dur="500" fill="hold"/>
                                        <p:tgtEl>
                                          <p:spTgt spid="21"/>
                                        </p:tgtEl>
                                        <p:attrNameLst>
                                          <p:attrName>style.color</p:attrName>
                                        </p:attrNameLst>
                                      </p:cBhvr>
                                      <p:by>
                                        <p:hsl h="7200000" s="0" l="0"/>
                                      </p:by>
                                    </p:animClr>
                                    <p:animClr clrSpc="hsl" dir="cw">
                                      <p:cBhvr>
                                        <p:cTn id="62" dur="500" fill="hold"/>
                                        <p:tgtEl>
                                          <p:spTgt spid="21"/>
                                        </p:tgtEl>
                                        <p:attrNameLst>
                                          <p:attrName>fillcolor</p:attrName>
                                        </p:attrNameLst>
                                      </p:cBhvr>
                                      <p:by>
                                        <p:hsl h="7200000" s="0" l="0"/>
                                      </p:by>
                                    </p:animClr>
                                    <p:animClr clrSpc="hsl" dir="cw">
                                      <p:cBhvr>
                                        <p:cTn id="63" dur="500" fill="hold"/>
                                        <p:tgtEl>
                                          <p:spTgt spid="21"/>
                                        </p:tgtEl>
                                        <p:attrNameLst>
                                          <p:attrName>stroke.color</p:attrName>
                                        </p:attrNameLst>
                                      </p:cBhvr>
                                      <p:by>
                                        <p:hsl h="7200000" s="0" l="0"/>
                                      </p:by>
                                    </p:animClr>
                                    <p:set>
                                      <p:cBhvr>
                                        <p:cTn id="64" dur="500" fill="hold"/>
                                        <p:tgtEl>
                                          <p:spTgt spid="21"/>
                                        </p:tgtEl>
                                        <p:attrNameLst>
                                          <p:attrName>fill.type</p:attrName>
                                        </p:attrNameLst>
                                      </p:cBhvr>
                                      <p:to>
                                        <p:strVal val="solid"/>
                                      </p:to>
                                    </p:set>
                                  </p:childTnLst>
                                </p:cTn>
                              </p:par>
                              <p:par>
                                <p:cTn id="65" presetID="21" presetClass="emph" presetSubtype="0" fill="hold" grpId="0" nodeType="withEffect">
                                  <p:stCondLst>
                                    <p:cond delay="0"/>
                                  </p:stCondLst>
                                  <p:childTnLst>
                                    <p:animClr clrSpc="hsl" dir="cw">
                                      <p:cBhvr override="childStyle">
                                        <p:cTn id="66" dur="500" fill="hold"/>
                                        <p:tgtEl>
                                          <p:spTgt spid="22"/>
                                        </p:tgtEl>
                                        <p:attrNameLst>
                                          <p:attrName>style.color</p:attrName>
                                        </p:attrNameLst>
                                      </p:cBhvr>
                                      <p:by>
                                        <p:hsl h="7200000" s="0" l="0"/>
                                      </p:by>
                                    </p:animClr>
                                    <p:animClr clrSpc="hsl" dir="cw">
                                      <p:cBhvr>
                                        <p:cTn id="67" dur="500" fill="hold"/>
                                        <p:tgtEl>
                                          <p:spTgt spid="22"/>
                                        </p:tgtEl>
                                        <p:attrNameLst>
                                          <p:attrName>fillcolor</p:attrName>
                                        </p:attrNameLst>
                                      </p:cBhvr>
                                      <p:by>
                                        <p:hsl h="7200000" s="0" l="0"/>
                                      </p:by>
                                    </p:animClr>
                                    <p:animClr clrSpc="hsl" dir="cw">
                                      <p:cBhvr>
                                        <p:cTn id="68" dur="500" fill="hold"/>
                                        <p:tgtEl>
                                          <p:spTgt spid="22"/>
                                        </p:tgtEl>
                                        <p:attrNameLst>
                                          <p:attrName>stroke.color</p:attrName>
                                        </p:attrNameLst>
                                      </p:cBhvr>
                                      <p:by>
                                        <p:hsl h="7200000" s="0" l="0"/>
                                      </p:by>
                                    </p:animClr>
                                    <p:set>
                                      <p:cBhvr>
                                        <p:cTn id="69" dur="500" fill="hold"/>
                                        <p:tgtEl>
                                          <p:spTgt spid="22"/>
                                        </p:tgtEl>
                                        <p:attrNameLst>
                                          <p:attrName>fill.type</p:attrName>
                                        </p:attrNameLst>
                                      </p:cBhvr>
                                      <p:to>
                                        <p:strVal val="solid"/>
                                      </p:to>
                                    </p:set>
                                  </p:childTnLst>
                                </p:cTn>
                              </p:par>
                              <p:par>
                                <p:cTn id="70" presetID="21" presetClass="emph" presetSubtype="0" fill="hold" grpId="0" nodeType="withEffect">
                                  <p:stCondLst>
                                    <p:cond delay="0"/>
                                  </p:stCondLst>
                                  <p:childTnLst>
                                    <p:animClr clrSpc="hsl" dir="cw">
                                      <p:cBhvr override="childStyle">
                                        <p:cTn id="71" dur="500" fill="hold"/>
                                        <p:tgtEl>
                                          <p:spTgt spid="23"/>
                                        </p:tgtEl>
                                        <p:attrNameLst>
                                          <p:attrName>style.color</p:attrName>
                                        </p:attrNameLst>
                                      </p:cBhvr>
                                      <p:by>
                                        <p:hsl h="7200000" s="0" l="0"/>
                                      </p:by>
                                    </p:animClr>
                                    <p:animClr clrSpc="hsl" dir="cw">
                                      <p:cBhvr>
                                        <p:cTn id="72" dur="500" fill="hold"/>
                                        <p:tgtEl>
                                          <p:spTgt spid="23"/>
                                        </p:tgtEl>
                                        <p:attrNameLst>
                                          <p:attrName>fillcolor</p:attrName>
                                        </p:attrNameLst>
                                      </p:cBhvr>
                                      <p:by>
                                        <p:hsl h="7200000" s="0" l="0"/>
                                      </p:by>
                                    </p:animClr>
                                    <p:animClr clrSpc="hsl" dir="cw">
                                      <p:cBhvr>
                                        <p:cTn id="73" dur="500" fill="hold"/>
                                        <p:tgtEl>
                                          <p:spTgt spid="23"/>
                                        </p:tgtEl>
                                        <p:attrNameLst>
                                          <p:attrName>stroke.color</p:attrName>
                                        </p:attrNameLst>
                                      </p:cBhvr>
                                      <p:by>
                                        <p:hsl h="7200000" s="0" l="0"/>
                                      </p:by>
                                    </p:animClr>
                                    <p:set>
                                      <p:cBhvr>
                                        <p:cTn id="74" dur="500" fill="hold"/>
                                        <p:tgtEl>
                                          <p:spTgt spid="23"/>
                                        </p:tgtEl>
                                        <p:attrNameLst>
                                          <p:attrName>fill.type</p:attrName>
                                        </p:attrNameLst>
                                      </p:cBhvr>
                                      <p:to>
                                        <p:strVal val="solid"/>
                                      </p:to>
                                    </p:set>
                                  </p:childTnLst>
                                </p:cTn>
                              </p:par>
                              <p:par>
                                <p:cTn id="75" presetID="21" presetClass="emph" presetSubtype="0" fill="hold" grpId="0" nodeType="withEffect">
                                  <p:stCondLst>
                                    <p:cond delay="0"/>
                                  </p:stCondLst>
                                  <p:childTnLst>
                                    <p:animClr clrSpc="hsl" dir="cw">
                                      <p:cBhvr override="childStyle">
                                        <p:cTn id="76" dur="500" fill="hold"/>
                                        <p:tgtEl>
                                          <p:spTgt spid="24"/>
                                        </p:tgtEl>
                                        <p:attrNameLst>
                                          <p:attrName>style.color</p:attrName>
                                        </p:attrNameLst>
                                      </p:cBhvr>
                                      <p:by>
                                        <p:hsl h="7200000" s="0" l="0"/>
                                      </p:by>
                                    </p:animClr>
                                    <p:animClr clrSpc="hsl" dir="cw">
                                      <p:cBhvr>
                                        <p:cTn id="77" dur="500" fill="hold"/>
                                        <p:tgtEl>
                                          <p:spTgt spid="24"/>
                                        </p:tgtEl>
                                        <p:attrNameLst>
                                          <p:attrName>fillcolor</p:attrName>
                                        </p:attrNameLst>
                                      </p:cBhvr>
                                      <p:by>
                                        <p:hsl h="7200000" s="0" l="0"/>
                                      </p:by>
                                    </p:animClr>
                                    <p:animClr clrSpc="hsl" dir="cw">
                                      <p:cBhvr>
                                        <p:cTn id="78" dur="500" fill="hold"/>
                                        <p:tgtEl>
                                          <p:spTgt spid="24"/>
                                        </p:tgtEl>
                                        <p:attrNameLst>
                                          <p:attrName>stroke.color</p:attrName>
                                        </p:attrNameLst>
                                      </p:cBhvr>
                                      <p:by>
                                        <p:hsl h="7200000" s="0" l="0"/>
                                      </p:by>
                                    </p:animClr>
                                    <p:set>
                                      <p:cBhvr>
                                        <p:cTn id="79" dur="500" fill="hold"/>
                                        <p:tgtEl>
                                          <p:spTgt spid="24"/>
                                        </p:tgtEl>
                                        <p:attrNameLst>
                                          <p:attrName>fill.type</p:attrName>
                                        </p:attrNameLst>
                                      </p:cBhvr>
                                      <p:to>
                                        <p:strVal val="solid"/>
                                      </p:to>
                                    </p:set>
                                  </p:childTnLst>
                                </p:cTn>
                              </p:par>
                              <p:par>
                                <p:cTn id="80" presetID="21" presetClass="emph" presetSubtype="0" fill="hold" grpId="0" nodeType="withEffect">
                                  <p:stCondLst>
                                    <p:cond delay="0"/>
                                  </p:stCondLst>
                                  <p:childTnLst>
                                    <p:animClr clrSpc="hsl" dir="cw">
                                      <p:cBhvr override="childStyle">
                                        <p:cTn id="81" dur="500" fill="hold"/>
                                        <p:tgtEl>
                                          <p:spTgt spid="25"/>
                                        </p:tgtEl>
                                        <p:attrNameLst>
                                          <p:attrName>style.color</p:attrName>
                                        </p:attrNameLst>
                                      </p:cBhvr>
                                      <p:by>
                                        <p:hsl h="7200000" s="0" l="0"/>
                                      </p:by>
                                    </p:animClr>
                                    <p:animClr clrSpc="hsl" dir="cw">
                                      <p:cBhvr>
                                        <p:cTn id="82" dur="500" fill="hold"/>
                                        <p:tgtEl>
                                          <p:spTgt spid="25"/>
                                        </p:tgtEl>
                                        <p:attrNameLst>
                                          <p:attrName>fillcolor</p:attrName>
                                        </p:attrNameLst>
                                      </p:cBhvr>
                                      <p:by>
                                        <p:hsl h="7200000" s="0" l="0"/>
                                      </p:by>
                                    </p:animClr>
                                    <p:animClr clrSpc="hsl" dir="cw">
                                      <p:cBhvr>
                                        <p:cTn id="83" dur="500" fill="hold"/>
                                        <p:tgtEl>
                                          <p:spTgt spid="25"/>
                                        </p:tgtEl>
                                        <p:attrNameLst>
                                          <p:attrName>stroke.color</p:attrName>
                                        </p:attrNameLst>
                                      </p:cBhvr>
                                      <p:by>
                                        <p:hsl h="7200000" s="0" l="0"/>
                                      </p:by>
                                    </p:animClr>
                                    <p:set>
                                      <p:cBhvr>
                                        <p:cTn id="84" dur="500" fill="hold"/>
                                        <p:tgtEl>
                                          <p:spTgt spid="25"/>
                                        </p:tgtEl>
                                        <p:attrNameLst>
                                          <p:attrName>fill.type</p:attrName>
                                        </p:attrNameLst>
                                      </p:cBhvr>
                                      <p:to>
                                        <p:strVal val="solid"/>
                                      </p:to>
                                    </p:set>
                                  </p:childTnLst>
                                </p:cTn>
                              </p:par>
                              <p:par>
                                <p:cTn id="85" presetID="21" presetClass="emph" presetSubtype="0" fill="hold" grpId="0" nodeType="withEffect">
                                  <p:stCondLst>
                                    <p:cond delay="0"/>
                                  </p:stCondLst>
                                  <p:childTnLst>
                                    <p:animClr clrSpc="hsl" dir="cw">
                                      <p:cBhvr override="childStyle">
                                        <p:cTn id="86" dur="500" fill="hold"/>
                                        <p:tgtEl>
                                          <p:spTgt spid="26"/>
                                        </p:tgtEl>
                                        <p:attrNameLst>
                                          <p:attrName>style.color</p:attrName>
                                        </p:attrNameLst>
                                      </p:cBhvr>
                                      <p:by>
                                        <p:hsl h="7200000" s="0" l="0"/>
                                      </p:by>
                                    </p:animClr>
                                    <p:animClr clrSpc="hsl" dir="cw">
                                      <p:cBhvr>
                                        <p:cTn id="87" dur="500" fill="hold"/>
                                        <p:tgtEl>
                                          <p:spTgt spid="26"/>
                                        </p:tgtEl>
                                        <p:attrNameLst>
                                          <p:attrName>fillcolor</p:attrName>
                                        </p:attrNameLst>
                                      </p:cBhvr>
                                      <p:by>
                                        <p:hsl h="7200000" s="0" l="0"/>
                                      </p:by>
                                    </p:animClr>
                                    <p:animClr clrSpc="hsl" dir="cw">
                                      <p:cBhvr>
                                        <p:cTn id="88" dur="500" fill="hold"/>
                                        <p:tgtEl>
                                          <p:spTgt spid="26"/>
                                        </p:tgtEl>
                                        <p:attrNameLst>
                                          <p:attrName>stroke.color</p:attrName>
                                        </p:attrNameLst>
                                      </p:cBhvr>
                                      <p:by>
                                        <p:hsl h="7200000" s="0" l="0"/>
                                      </p:by>
                                    </p:animClr>
                                    <p:set>
                                      <p:cBhvr>
                                        <p:cTn id="89" dur="500" fill="hold"/>
                                        <p:tgtEl>
                                          <p:spTgt spid="2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a:solidFill>
              <a:srgbClr val="B9A26D"/>
            </a:solidFill>
          </a:ln>
        </p:spPr>
        <p:txBody>
          <a:bodyPr wrap="square" rtlCol="0" anchor="ctr"/>
          <a:lstStyle/>
          <a:p>
            <a:pPr marL="0" indent="0">
              <a:buNone/>
            </a:pPr>
            <a:r>
              <a:rPr lang="en-US" sz="1800" b="1" kern="0" spc="100" dirty="0">
                <a:solidFill>
                  <a:srgbClr val="B9A26D"/>
                </a:solidFill>
                <a:latin typeface="Calibri" pitchFamily="34" charset="0"/>
                <a:ea typeface="Calibri" pitchFamily="34" charset="-122"/>
                <a:cs typeface="Calibri" pitchFamily="34" charset="-120"/>
              </a:rPr>
              <a:t>04  NOTRE SIMULATION QISKIT — 3 CAS</a:t>
            </a:r>
            <a:endParaRPr lang="en-US" sz="1800" dirty="0">
              <a:solidFill>
                <a:srgbClr val="B9A26D"/>
              </a:solidFill>
            </a:endParaRPr>
          </a:p>
        </p:txBody>
      </p:sp>
      <p:sp>
        <p:nvSpPr>
          <p:cNvPr id="3" name="Shape 1"/>
          <p:cNvSpPr/>
          <p:nvPr/>
        </p:nvSpPr>
        <p:spPr>
          <a:xfrm>
            <a:off x="457200" y="658368"/>
            <a:ext cx="8229600" cy="27432"/>
          </a:xfrm>
          <a:prstGeom prst="rect">
            <a:avLst/>
          </a:prstGeom>
          <a:solidFill>
            <a:srgbClr val="B9A26D"/>
          </a:solidFill>
          <a:ln w="12700">
            <a:solidFill>
              <a:srgbClr val="B9A26D"/>
            </a:solidFill>
            <a:prstDash val="solid"/>
          </a:ln>
        </p:spPr>
        <p:txBody>
          <a:bodyPr/>
          <a:lstStyle/>
          <a:p>
            <a:endParaRPr lang="fr-FR"/>
          </a:p>
        </p:txBody>
      </p:sp>
      <p:pic>
        <p:nvPicPr>
          <p:cNvPr id="4" name="Image 0" descr="/home/claude/sim_results.png"/>
          <p:cNvPicPr>
            <a:picLocks noChangeAspect="1"/>
          </p:cNvPicPr>
          <p:nvPr/>
        </p:nvPicPr>
        <p:blipFill>
          <a:blip r:embed="rId5"/>
          <a:stretch>
            <a:fillRect/>
          </a:stretch>
        </p:blipFill>
        <p:spPr>
          <a:xfrm>
            <a:off x="365760" y="777240"/>
            <a:ext cx="8412480" cy="2926080"/>
          </a:xfrm>
          <a:prstGeom prst="rect">
            <a:avLst/>
          </a:prstGeom>
          <a:effectLst>
            <a:outerShdw blurRad="152400" dist="50800" dir="8100000" algn="bl" rotWithShape="0">
              <a:srgbClr val="000000">
                <a:alpha val="35000"/>
              </a:srgbClr>
            </a:outerShdw>
          </a:effectLst>
        </p:spPr>
      </p:pic>
      <p:sp>
        <p:nvSpPr>
          <p:cNvPr id="5" name="Shape 2"/>
          <p:cNvSpPr/>
          <p:nvPr/>
        </p:nvSpPr>
        <p:spPr>
          <a:xfrm>
            <a:off x="365760" y="3840480"/>
            <a:ext cx="2743200" cy="1097280"/>
          </a:xfrm>
          <a:prstGeom prst="rect">
            <a:avLst/>
          </a:prstGeom>
          <a:solidFill>
            <a:srgbClr val="111B44"/>
          </a:solidFill>
          <a:ln w="2540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sp>
        <p:nvSpPr>
          <p:cNvPr id="6" name="Text 3"/>
          <p:cNvSpPr/>
          <p:nvPr/>
        </p:nvSpPr>
        <p:spPr>
          <a:xfrm>
            <a:off x="457200" y="3886200"/>
            <a:ext cx="2560320" cy="256032"/>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Case 1 — Sans Structure</a:t>
            </a:r>
            <a:endParaRPr lang="en-US" sz="1200" dirty="0">
              <a:solidFill>
                <a:srgbClr val="B9A26D"/>
              </a:solidFill>
            </a:endParaRPr>
          </a:p>
        </p:txBody>
      </p:sp>
      <p:sp>
        <p:nvSpPr>
          <p:cNvPr id="7" name="Text 4"/>
          <p:cNvSpPr/>
          <p:nvPr/>
        </p:nvSpPr>
        <p:spPr>
          <a:xfrm>
            <a:off x="457200" y="4160520"/>
            <a:ext cx="2560320" cy="256032"/>
          </a:xfrm>
          <a:prstGeom prst="rect">
            <a:avLst/>
          </a:prstGeom>
          <a:noFill/>
          <a:ln/>
        </p:spPr>
        <p:txBody>
          <a:bodyPr wrap="square" rtlCol="0" anchor="ctr"/>
          <a:lstStyle/>
          <a:p>
            <a:pPr marL="0" indent="0">
              <a:buNone/>
            </a:pPr>
            <a:r>
              <a:rPr lang="en-US" sz="1200" b="1" dirty="0">
                <a:solidFill>
                  <a:srgbClr val="E8F0FE"/>
                </a:solidFill>
                <a:latin typeface="Calibri" pitchFamily="34" charset="0"/>
                <a:ea typeface="Calibri" pitchFamily="34" charset="-122"/>
                <a:cs typeface="Calibri" pitchFamily="34" charset="-120"/>
              </a:rPr>
              <a:t>Fidélité : 0.51   |   Protection : Faible</a:t>
            </a:r>
            <a:endParaRPr lang="en-US" sz="1200" dirty="0"/>
          </a:p>
        </p:txBody>
      </p:sp>
      <p:sp>
        <p:nvSpPr>
          <p:cNvPr id="9" name="Shape 6"/>
          <p:cNvSpPr/>
          <p:nvPr/>
        </p:nvSpPr>
        <p:spPr>
          <a:xfrm>
            <a:off x="3246120" y="3840480"/>
            <a:ext cx="2743200" cy="1097280"/>
          </a:xfrm>
          <a:prstGeom prst="rect">
            <a:avLst/>
          </a:prstGeom>
          <a:solidFill>
            <a:srgbClr val="111B44"/>
          </a:solidFill>
          <a:ln w="2540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sp>
        <p:nvSpPr>
          <p:cNvPr id="10" name="Text 7"/>
          <p:cNvSpPr/>
          <p:nvPr/>
        </p:nvSpPr>
        <p:spPr>
          <a:xfrm>
            <a:off x="3337560" y="3886200"/>
            <a:ext cx="2560320" cy="256032"/>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Case 2 — Interlacement</a:t>
            </a:r>
            <a:endParaRPr lang="en-US" sz="1200" dirty="0">
              <a:solidFill>
                <a:srgbClr val="B9A26D"/>
              </a:solidFill>
            </a:endParaRPr>
          </a:p>
        </p:txBody>
      </p:sp>
      <p:sp>
        <p:nvSpPr>
          <p:cNvPr id="11" name="Text 8"/>
          <p:cNvSpPr/>
          <p:nvPr/>
        </p:nvSpPr>
        <p:spPr>
          <a:xfrm>
            <a:off x="3337560" y="4160520"/>
            <a:ext cx="2560320" cy="256032"/>
          </a:xfrm>
          <a:prstGeom prst="rect">
            <a:avLst/>
          </a:prstGeom>
          <a:noFill/>
          <a:ln/>
        </p:spPr>
        <p:txBody>
          <a:bodyPr wrap="square" rtlCol="0" anchor="ctr"/>
          <a:lstStyle/>
          <a:p>
            <a:pPr marL="0" indent="0">
              <a:buNone/>
            </a:pPr>
            <a:r>
              <a:rPr lang="en-US" sz="1200" b="1" dirty="0">
                <a:solidFill>
                  <a:srgbClr val="E8F0FE"/>
                </a:solidFill>
                <a:latin typeface="Calibri" pitchFamily="34" charset="0"/>
                <a:ea typeface="Calibri" pitchFamily="34" charset="-122"/>
                <a:cs typeface="Calibri" pitchFamily="34" charset="-120"/>
              </a:rPr>
              <a:t>Fidélité : 0.98   |   Protection : Élevée</a:t>
            </a:r>
            <a:endParaRPr lang="en-US" sz="1200" dirty="0"/>
          </a:p>
        </p:txBody>
      </p:sp>
      <p:sp>
        <p:nvSpPr>
          <p:cNvPr id="12" name="Text 9"/>
          <p:cNvSpPr/>
          <p:nvPr/>
        </p:nvSpPr>
        <p:spPr>
          <a:xfrm>
            <a:off x="3337560" y="4434840"/>
            <a:ext cx="2560320" cy="411480"/>
          </a:xfrm>
          <a:prstGeom prst="rect">
            <a:avLst/>
          </a:prstGeom>
          <a:noFill/>
          <a:ln/>
        </p:spPr>
        <p:txBody>
          <a:bodyPr wrap="square" rtlCol="0" anchor="ctr"/>
          <a:lstStyle/>
          <a:p>
            <a:pPr marL="0" indent="0">
              <a:buNone/>
            </a:pPr>
            <a:r>
              <a:rPr lang="en-US" sz="1200" i="1" dirty="0">
                <a:solidFill>
                  <a:schemeClr val="bg1"/>
                </a:solidFill>
                <a:latin typeface="Calibri" pitchFamily="34" charset="0"/>
                <a:ea typeface="Calibri" pitchFamily="34" charset="-122"/>
                <a:cs typeface="Calibri" pitchFamily="34" charset="-120"/>
              </a:rPr>
              <a:t>Seuls |00⟩ et |11⟩ — Encodage holographique ✓</a:t>
            </a:r>
            <a:endParaRPr lang="en-US" sz="1200" dirty="0">
              <a:solidFill>
                <a:schemeClr val="bg1"/>
              </a:solidFill>
            </a:endParaRPr>
          </a:p>
        </p:txBody>
      </p:sp>
      <p:sp>
        <p:nvSpPr>
          <p:cNvPr id="13" name="Shape 10"/>
          <p:cNvSpPr/>
          <p:nvPr/>
        </p:nvSpPr>
        <p:spPr>
          <a:xfrm>
            <a:off x="6126480" y="3840480"/>
            <a:ext cx="2743200" cy="1097280"/>
          </a:xfrm>
          <a:prstGeom prst="rect">
            <a:avLst/>
          </a:prstGeom>
          <a:solidFill>
            <a:srgbClr val="111B44"/>
          </a:solidFill>
          <a:ln w="25400">
            <a:solidFill>
              <a:srgbClr val="B9A26D"/>
            </a:solidFill>
            <a:prstDash val="solid"/>
          </a:ln>
          <a:effectLst>
            <a:outerShdw blurRad="152400" dist="50800" dir="8100000" algn="bl" rotWithShape="0">
              <a:srgbClr val="000000">
                <a:alpha val="35000"/>
              </a:srgbClr>
            </a:outerShdw>
          </a:effectLst>
        </p:spPr>
        <p:txBody>
          <a:bodyPr/>
          <a:lstStyle/>
          <a:p>
            <a:endParaRPr lang="fr-FR" sz="1200"/>
          </a:p>
        </p:txBody>
      </p:sp>
      <p:sp>
        <p:nvSpPr>
          <p:cNvPr id="14" name="Text 11"/>
          <p:cNvSpPr/>
          <p:nvPr/>
        </p:nvSpPr>
        <p:spPr>
          <a:xfrm>
            <a:off x="6217920" y="3886200"/>
            <a:ext cx="2560320" cy="256032"/>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Case 3 — Bruit (Décohérence)</a:t>
            </a:r>
            <a:endParaRPr lang="en-US" sz="1200" dirty="0">
              <a:solidFill>
                <a:srgbClr val="B9A26D"/>
              </a:solidFill>
            </a:endParaRPr>
          </a:p>
        </p:txBody>
      </p:sp>
      <p:sp>
        <p:nvSpPr>
          <p:cNvPr id="15" name="Text 12"/>
          <p:cNvSpPr/>
          <p:nvPr/>
        </p:nvSpPr>
        <p:spPr>
          <a:xfrm>
            <a:off x="6217920" y="4160520"/>
            <a:ext cx="2560320" cy="256032"/>
          </a:xfrm>
          <a:prstGeom prst="rect">
            <a:avLst/>
          </a:prstGeom>
          <a:noFill/>
          <a:ln/>
        </p:spPr>
        <p:txBody>
          <a:bodyPr wrap="square" rtlCol="0" anchor="ctr"/>
          <a:lstStyle/>
          <a:p>
            <a:pPr marL="0" indent="0">
              <a:buNone/>
            </a:pPr>
            <a:r>
              <a:rPr lang="en-US" sz="1200" b="1" dirty="0">
                <a:solidFill>
                  <a:srgbClr val="E8F0FE"/>
                </a:solidFill>
                <a:latin typeface="Calibri" pitchFamily="34" charset="0"/>
                <a:ea typeface="Calibri" pitchFamily="34" charset="-122"/>
                <a:cs typeface="Calibri" pitchFamily="34" charset="-120"/>
              </a:rPr>
              <a:t>Fidélité : 0.34   |   Protection : Aucune</a:t>
            </a:r>
            <a:endParaRPr lang="en-US" sz="1200" dirty="0"/>
          </a:p>
        </p:txBody>
      </p:sp>
      <p:sp>
        <p:nvSpPr>
          <p:cNvPr id="16" name="Text 13"/>
          <p:cNvSpPr/>
          <p:nvPr/>
        </p:nvSpPr>
        <p:spPr>
          <a:xfrm>
            <a:off x="6217920" y="4434840"/>
            <a:ext cx="2560320" cy="411480"/>
          </a:xfrm>
          <a:prstGeom prst="rect">
            <a:avLst/>
          </a:prstGeom>
          <a:noFill/>
          <a:ln/>
        </p:spPr>
        <p:txBody>
          <a:bodyPr wrap="square" rtlCol="0" anchor="ctr"/>
          <a:lstStyle/>
          <a:p>
            <a:pPr marL="0" indent="0">
              <a:buNone/>
            </a:pPr>
            <a:endParaRPr lang="en-US" sz="850" dirty="0"/>
          </a:p>
        </p:txBody>
      </p:sp>
      <p:sp>
        <p:nvSpPr>
          <p:cNvPr id="17" name="Text 6">
            <a:extLst>
              <a:ext uri="{FF2B5EF4-FFF2-40B4-BE49-F238E27FC236}">
                <a16:creationId xmlns:a16="http://schemas.microsoft.com/office/drawing/2014/main" id="{DB09DDCB-7C92-DD07-1813-DD082427316B}"/>
              </a:ext>
            </a:extLst>
          </p:cNvPr>
          <p:cNvSpPr/>
          <p:nvPr>
            <p:custDataLst>
              <p:tags r:id="rId1"/>
            </p:custDataLst>
          </p:nvPr>
        </p:nvSpPr>
        <p:spPr>
          <a:xfrm>
            <a:off x="571500" y="4389120"/>
            <a:ext cx="2514600" cy="502920"/>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Distribution uniforme — aucune corrélation entre les qubits.</a:t>
            </a:r>
            <a:endParaRPr lang="en-US" sz="1200" dirty="0"/>
          </a:p>
        </p:txBody>
      </p:sp>
      <p:sp>
        <p:nvSpPr>
          <p:cNvPr id="19" name="Text 14">
            <a:extLst>
              <a:ext uri="{FF2B5EF4-FFF2-40B4-BE49-F238E27FC236}">
                <a16:creationId xmlns:a16="http://schemas.microsoft.com/office/drawing/2014/main" id="{006C3DF5-9331-3A53-4A51-0779DA334E4F}"/>
              </a:ext>
            </a:extLst>
          </p:cNvPr>
          <p:cNvSpPr/>
          <p:nvPr>
            <p:custDataLst>
              <p:tags r:id="rId2"/>
            </p:custDataLst>
          </p:nvPr>
        </p:nvSpPr>
        <p:spPr>
          <a:xfrm>
            <a:off x="6190488" y="4407408"/>
            <a:ext cx="2514600" cy="502920"/>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Distribution aléatoire — décohérence totale, protection nulle.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marL="0" indent="0">
              <a:buNone/>
            </a:pPr>
            <a:r>
              <a:rPr lang="en-US" sz="1800" b="1" kern="0" spc="100" dirty="0">
                <a:solidFill>
                  <a:srgbClr val="B9A26D"/>
                </a:solidFill>
                <a:latin typeface="Calibri" pitchFamily="34" charset="0"/>
                <a:ea typeface="Calibri" pitchFamily="34" charset="-122"/>
                <a:cs typeface="Calibri" pitchFamily="34" charset="-120"/>
              </a:rPr>
              <a:t>04  ANALYSE COMPARATIVE DES RÉSULTATS</a:t>
            </a:r>
            <a:endParaRPr lang="en-US" sz="1800" dirty="0">
              <a:solidFill>
                <a:srgbClr val="B9A26D"/>
              </a:solidFill>
            </a:endParaRPr>
          </a:p>
        </p:txBody>
      </p:sp>
      <p:sp>
        <p:nvSpPr>
          <p:cNvPr id="3" name="Shape 1"/>
          <p:cNvSpPr/>
          <p:nvPr/>
        </p:nvSpPr>
        <p:spPr>
          <a:xfrm>
            <a:off x="457200" y="658368"/>
            <a:ext cx="8229600" cy="27432"/>
          </a:xfrm>
          <a:prstGeom prst="rect">
            <a:avLst/>
          </a:prstGeom>
          <a:solidFill>
            <a:srgbClr val="B9A26D"/>
          </a:solidFill>
          <a:ln w="12700">
            <a:solidFill>
              <a:srgbClr val="B9A26D"/>
            </a:solidFill>
            <a:prstDash val="solid"/>
          </a:ln>
        </p:spPr>
        <p:txBody>
          <a:bodyPr/>
          <a:lstStyle/>
          <a:p>
            <a:endParaRPr lang="fr-FR"/>
          </a:p>
        </p:txBody>
      </p:sp>
      <p:graphicFrame>
        <p:nvGraphicFramePr>
          <p:cNvPr id="4" name="Chart 0"/>
          <p:cNvGraphicFramePr/>
          <p:nvPr/>
        </p:nvGraphicFramePr>
        <p:xfrm>
          <a:off x="365760" y="82296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303520" y="822960"/>
            <a:ext cx="3474720" cy="3200400"/>
          </a:xfrm>
          <a:prstGeom prst="rect">
            <a:avLst/>
          </a:prstGeom>
          <a:solidFill>
            <a:srgbClr val="111B44"/>
          </a:solidFill>
          <a:ln w="1270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sp>
        <p:nvSpPr>
          <p:cNvPr id="6" name="Text 3"/>
          <p:cNvSpPr/>
          <p:nvPr/>
        </p:nvSpPr>
        <p:spPr>
          <a:xfrm>
            <a:off x="5440680" y="914400"/>
            <a:ext cx="3200400" cy="320040"/>
          </a:xfrm>
          <a:prstGeom prst="rect">
            <a:avLst/>
          </a:prstGeom>
          <a:noFill/>
          <a:ln/>
        </p:spPr>
        <p:txBody>
          <a:bodyPr wrap="square" rtlCol="0" anchor="ctr"/>
          <a:lstStyle/>
          <a:p>
            <a:pPr marL="0" indent="0" algn="ctr">
              <a:buNone/>
            </a:pPr>
            <a:r>
              <a:rPr lang="en-US" sz="1200" b="1" dirty="0">
                <a:solidFill>
                  <a:srgbClr val="B9A26D"/>
                </a:solidFill>
                <a:latin typeface="Calibri" pitchFamily="34" charset="0"/>
                <a:ea typeface="Calibri" pitchFamily="34" charset="-122"/>
                <a:cs typeface="Calibri" pitchFamily="34" charset="-120"/>
              </a:rPr>
              <a:t>MESSAGE CLÉ</a:t>
            </a:r>
            <a:endParaRPr lang="en-US" sz="1200" dirty="0">
              <a:solidFill>
                <a:srgbClr val="B9A26D"/>
              </a:solidFill>
            </a:endParaRPr>
          </a:p>
        </p:txBody>
      </p:sp>
      <p:sp>
        <p:nvSpPr>
          <p:cNvPr id="7" name="Shape 4"/>
          <p:cNvSpPr/>
          <p:nvPr/>
        </p:nvSpPr>
        <p:spPr>
          <a:xfrm>
            <a:off x="5440680" y="1371600"/>
            <a:ext cx="3200400" cy="530352"/>
          </a:xfrm>
          <a:prstGeom prst="rect">
            <a:avLst/>
          </a:prstGeom>
          <a:solidFill>
            <a:srgbClr val="0A0E2A"/>
          </a:solidFill>
          <a:ln w="12700">
            <a:solidFill>
              <a:srgbClr val="B9A26D"/>
            </a:solidFill>
            <a:prstDash val="solid"/>
          </a:ln>
        </p:spPr>
        <p:txBody>
          <a:bodyPr/>
          <a:lstStyle/>
          <a:p>
            <a:endParaRPr lang="fr-FR" dirty="0"/>
          </a:p>
        </p:txBody>
      </p:sp>
      <p:sp>
        <p:nvSpPr>
          <p:cNvPr id="8" name="Text 5"/>
          <p:cNvSpPr/>
          <p:nvPr/>
        </p:nvSpPr>
        <p:spPr>
          <a:xfrm>
            <a:off x="5532120" y="1417320"/>
            <a:ext cx="3017520" cy="438912"/>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Sans structure holographique → information non protégée</a:t>
            </a:r>
            <a:endParaRPr lang="en-US" sz="1200" dirty="0"/>
          </a:p>
        </p:txBody>
      </p:sp>
      <p:sp>
        <p:nvSpPr>
          <p:cNvPr id="9" name="Shape 6"/>
          <p:cNvSpPr/>
          <p:nvPr/>
        </p:nvSpPr>
        <p:spPr>
          <a:xfrm>
            <a:off x="5440680" y="1984248"/>
            <a:ext cx="3200400" cy="530352"/>
          </a:xfrm>
          <a:prstGeom prst="rect">
            <a:avLst/>
          </a:prstGeom>
          <a:solidFill>
            <a:srgbClr val="0A0E2A"/>
          </a:solidFill>
          <a:ln w="12700">
            <a:solidFill>
              <a:srgbClr val="B9A26D"/>
            </a:solidFill>
            <a:prstDash val="solid"/>
          </a:ln>
        </p:spPr>
        <p:txBody>
          <a:bodyPr/>
          <a:lstStyle/>
          <a:p>
            <a:endParaRPr lang="fr-FR" sz="1200"/>
          </a:p>
        </p:txBody>
      </p:sp>
      <p:sp>
        <p:nvSpPr>
          <p:cNvPr id="10" name="Text 7"/>
          <p:cNvSpPr/>
          <p:nvPr/>
        </p:nvSpPr>
        <p:spPr>
          <a:xfrm>
            <a:off x="5532120" y="2029968"/>
            <a:ext cx="3017520" cy="438912"/>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Entrelacement = encodage holographique → fidélité quasi-parfaite 98%</a:t>
            </a:r>
            <a:endParaRPr lang="en-US" sz="1200" dirty="0"/>
          </a:p>
        </p:txBody>
      </p:sp>
      <p:sp>
        <p:nvSpPr>
          <p:cNvPr id="11" name="Shape 8"/>
          <p:cNvSpPr/>
          <p:nvPr/>
        </p:nvSpPr>
        <p:spPr>
          <a:xfrm>
            <a:off x="5440680" y="2596896"/>
            <a:ext cx="3200400" cy="530352"/>
          </a:xfrm>
          <a:prstGeom prst="rect">
            <a:avLst/>
          </a:prstGeom>
          <a:solidFill>
            <a:srgbClr val="0A0E2A"/>
          </a:solidFill>
          <a:ln w="12700">
            <a:solidFill>
              <a:srgbClr val="B9A26D"/>
            </a:solidFill>
            <a:prstDash val="solid"/>
          </a:ln>
        </p:spPr>
        <p:txBody>
          <a:bodyPr/>
          <a:lstStyle/>
          <a:p>
            <a:endParaRPr lang="fr-FR"/>
          </a:p>
        </p:txBody>
      </p:sp>
      <p:sp>
        <p:nvSpPr>
          <p:cNvPr id="12" name="Text 9"/>
          <p:cNvSpPr/>
          <p:nvPr/>
        </p:nvSpPr>
        <p:spPr>
          <a:xfrm>
            <a:off x="5532120" y="2642616"/>
            <a:ext cx="3017520" cy="438912"/>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Le bruit détruit la protection → nécessité de correction d'erreurs</a:t>
            </a:r>
            <a:endParaRPr lang="en-US" sz="1200" dirty="0"/>
          </a:p>
        </p:txBody>
      </p:sp>
      <p:sp>
        <p:nvSpPr>
          <p:cNvPr id="13" name="Shape 10"/>
          <p:cNvSpPr/>
          <p:nvPr/>
        </p:nvSpPr>
        <p:spPr>
          <a:xfrm>
            <a:off x="5440680" y="3209544"/>
            <a:ext cx="3200400" cy="530352"/>
          </a:xfrm>
          <a:prstGeom prst="rect">
            <a:avLst/>
          </a:prstGeom>
          <a:solidFill>
            <a:srgbClr val="0A0E2A"/>
          </a:solidFill>
          <a:ln w="12700">
            <a:solidFill>
              <a:srgbClr val="FFD166"/>
            </a:solidFill>
            <a:prstDash val="solid"/>
          </a:ln>
        </p:spPr>
        <p:txBody>
          <a:bodyPr/>
          <a:lstStyle/>
          <a:p>
            <a:endParaRPr lang="fr-FR"/>
          </a:p>
        </p:txBody>
      </p:sp>
      <p:sp>
        <p:nvSpPr>
          <p:cNvPr id="14" name="Text 11"/>
          <p:cNvSpPr/>
          <p:nvPr/>
        </p:nvSpPr>
        <p:spPr>
          <a:xfrm>
            <a:off x="5532120" y="3255264"/>
            <a:ext cx="3017520" cy="438912"/>
          </a:xfrm>
          <a:prstGeom prst="rect">
            <a:avLst/>
          </a:prstGeom>
          <a:noFill/>
          <a:ln/>
        </p:spPr>
        <p:txBody>
          <a:bodyPr wrap="square" rtlCol="0" anchor="ctr"/>
          <a:lstStyle/>
          <a:p>
            <a:pPr marL="0" indent="0">
              <a:buNone/>
            </a:pPr>
            <a:r>
              <a:rPr lang="en-US" sz="1200" dirty="0">
                <a:solidFill>
                  <a:srgbClr val="E8F0FE"/>
                </a:solidFill>
                <a:latin typeface="Calibri" pitchFamily="34" charset="0"/>
                <a:ea typeface="Calibri" pitchFamily="34" charset="-122"/>
                <a:cs typeface="Calibri" pitchFamily="34" charset="-120"/>
              </a:rPr>
              <a:t>C'est exactement le problème que notre thèse veut résoudre !</a:t>
            </a:r>
            <a:endParaRPr lang="en-US" sz="1200" dirty="0"/>
          </a:p>
        </p:txBody>
      </p:sp>
      <p:sp>
        <p:nvSpPr>
          <p:cNvPr id="15" name="Shape 12"/>
          <p:cNvSpPr/>
          <p:nvPr/>
        </p:nvSpPr>
        <p:spPr>
          <a:xfrm>
            <a:off x="365760" y="4160520"/>
            <a:ext cx="8412480" cy="777240"/>
          </a:xfrm>
          <a:prstGeom prst="rect">
            <a:avLst/>
          </a:prstGeom>
          <a:solidFill>
            <a:srgbClr val="0A0E2A"/>
          </a:solidFill>
          <a:ln w="12700">
            <a:solidFill>
              <a:srgbClr val="B9A26D"/>
            </a:solidFill>
            <a:prstDash val="solid"/>
          </a:ln>
        </p:spPr>
        <p:txBody>
          <a:bodyPr/>
          <a:lstStyle/>
          <a:p>
            <a:endParaRPr lang="fr-FR"/>
          </a:p>
        </p:txBody>
      </p:sp>
      <p:sp>
        <p:nvSpPr>
          <p:cNvPr id="16" name="Text 13"/>
          <p:cNvSpPr/>
          <p:nvPr/>
        </p:nvSpPr>
        <p:spPr>
          <a:xfrm>
            <a:off x="548640" y="4224528"/>
            <a:ext cx="8046720" cy="640080"/>
          </a:xfrm>
          <a:prstGeom prst="rect">
            <a:avLst/>
          </a:prstGeom>
          <a:noFill/>
          <a:ln/>
        </p:spPr>
        <p:txBody>
          <a:bodyPr wrap="square" rtlCol="0" anchor="ctr"/>
          <a:lstStyle/>
          <a:p>
            <a:pPr marL="0" indent="0">
              <a:buNone/>
            </a:pPr>
            <a:r>
              <a:rPr lang="en-US" sz="1200" b="1" dirty="0">
                <a:solidFill>
                  <a:srgbClr val="B9A26D"/>
                </a:solidFill>
                <a:latin typeface="Calibri" pitchFamily="34" charset="0"/>
                <a:ea typeface="Calibri" pitchFamily="34" charset="-122"/>
                <a:cs typeface="Calibri" pitchFamily="34" charset="-120"/>
              </a:rPr>
              <a:t>Résultat concret : </a:t>
            </a:r>
            <a:r>
              <a:rPr lang="en-US" sz="1200" dirty="0">
                <a:solidFill>
                  <a:srgbClr val="E8F0FE"/>
                </a:solidFill>
                <a:latin typeface="Calibri" pitchFamily="34" charset="0"/>
                <a:ea typeface="Calibri" pitchFamily="34" charset="-122"/>
                <a:cs typeface="Calibri" pitchFamily="34" charset="-120"/>
              </a:rPr>
              <a:t>La simulation démontre que l'entrelacement quantique (principe de l'encodage holographique) multiplie la fidélité par 1.9× — et que le bruit la réduit de 65%. Cela valide expérimentalement le problème central de notre thèse.</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628"/>
          </a:solidFill>
        </p:spPr>
        <p:txBody>
          <a:bodyPr/>
          <a:lstStyle/>
          <a:p>
            <a:endParaRPr lang="fr-FR"/>
          </a:p>
        </p:txBody>
      </p:sp>
      <p:sp>
        <p:nvSpPr>
          <p:cNvPr id="3" name="Shape 1"/>
          <p:cNvSpPr/>
          <p:nvPr/>
        </p:nvSpPr>
        <p:spPr>
          <a:xfrm>
            <a:off x="0" y="0"/>
            <a:ext cx="54864" cy="658368"/>
          </a:xfrm>
          <a:prstGeom prst="rect">
            <a:avLst/>
          </a:prstGeom>
          <a:solidFill>
            <a:srgbClr val="B9A26D"/>
          </a:solidFill>
        </p:spPr>
        <p:txBody>
          <a:bodyPr/>
          <a:lstStyle/>
          <a:p>
            <a:endParaRPr lang="fr-FR"/>
          </a:p>
        </p:txBody>
      </p:sp>
      <p:sp>
        <p:nvSpPr>
          <p:cNvPr id="4" name="Text 2"/>
          <p:cNvSpPr/>
          <p:nvPr/>
        </p:nvSpPr>
        <p:spPr>
          <a:xfrm>
            <a:off x="164592" y="0"/>
            <a:ext cx="8778240" cy="658368"/>
          </a:xfrm>
          <a:prstGeom prst="rect">
            <a:avLst/>
          </a:prstGeom>
          <a:noFill/>
        </p:spPr>
        <p:txBody>
          <a:bodyPr wrap="square" lIns="0" tIns="0" rIns="0" bIns="0"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Interprétation Scientifique des Résultats</a:t>
            </a:r>
            <a:endParaRPr lang="en-US" sz="2000" dirty="0"/>
          </a:p>
        </p:txBody>
      </p:sp>
      <p:sp>
        <p:nvSpPr>
          <p:cNvPr id="5" name="Shape 3"/>
          <p:cNvSpPr/>
          <p:nvPr/>
        </p:nvSpPr>
        <p:spPr>
          <a:xfrm>
            <a:off x="320040" y="768096"/>
            <a:ext cx="8503920" cy="594360"/>
          </a:xfrm>
          <a:prstGeom prst="rect">
            <a:avLst/>
          </a:prstGeom>
          <a:solidFill>
            <a:srgbClr val="0C2240"/>
          </a:solidFill>
          <a:ln w="12700">
            <a:solidFill>
              <a:srgbClr val="B9A26D"/>
            </a:solidFill>
            <a:prstDash val="solid"/>
          </a:ln>
        </p:spPr>
        <p:txBody>
          <a:bodyPr/>
          <a:lstStyle/>
          <a:p>
            <a:endParaRPr lang="fr-FR"/>
          </a:p>
        </p:txBody>
      </p:sp>
      <p:sp>
        <p:nvSpPr>
          <p:cNvPr id="6" name="Text 4"/>
          <p:cNvSpPr/>
          <p:nvPr/>
        </p:nvSpPr>
        <p:spPr>
          <a:xfrm>
            <a:off x="502920" y="795528"/>
            <a:ext cx="2286000" cy="22860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Conclusion fondamentale</a:t>
            </a:r>
            <a:endParaRPr lang="en-US" sz="1200" dirty="0">
              <a:solidFill>
                <a:srgbClr val="B9A26D"/>
              </a:solidFill>
            </a:endParaRPr>
          </a:p>
        </p:txBody>
      </p:sp>
      <p:sp>
        <p:nvSpPr>
          <p:cNvPr id="7" name="Text 5"/>
          <p:cNvSpPr/>
          <p:nvPr/>
        </p:nvSpPr>
        <p:spPr>
          <a:xfrm>
            <a:off x="502920" y="1024128"/>
            <a:ext cx="8229600" cy="274320"/>
          </a:xfrm>
          <a:prstGeom prst="rect">
            <a:avLst/>
          </a:prstGeom>
          <a:noFill/>
        </p:spPr>
        <p:txBody>
          <a:bodyPr wrap="square" lIns="0" tIns="0" rIns="0" bIns="0"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L'intrication quantique (Cas 2) permet une distribution non-locale de l'information, conférant une fidélité de 0.98 contre 0.51 sans structure et 0.34 avec bruit.</a:t>
            </a:r>
            <a:endParaRPr lang="en-US" sz="1200" dirty="0"/>
          </a:p>
        </p:txBody>
      </p:sp>
      <p:sp>
        <p:nvSpPr>
          <p:cNvPr id="8" name="Shape 6"/>
          <p:cNvSpPr/>
          <p:nvPr/>
        </p:nvSpPr>
        <p:spPr>
          <a:xfrm>
            <a:off x="320040" y="1499616"/>
            <a:ext cx="2743200" cy="3364992"/>
          </a:xfrm>
          <a:prstGeom prst="rect">
            <a:avLst/>
          </a:prstGeom>
          <a:solidFill>
            <a:srgbClr val="0F1E36"/>
          </a:solidFill>
          <a:ln w="6350">
            <a:solidFill>
              <a:srgbClr val="B9A26D"/>
            </a:solidFill>
            <a:prstDash val="solid"/>
          </a:ln>
        </p:spPr>
        <p:txBody>
          <a:bodyPr/>
          <a:lstStyle/>
          <a:p>
            <a:endParaRPr lang="fr-FR" sz="1200"/>
          </a:p>
        </p:txBody>
      </p:sp>
      <p:sp>
        <p:nvSpPr>
          <p:cNvPr id="9" name="Shape 7"/>
          <p:cNvSpPr/>
          <p:nvPr/>
        </p:nvSpPr>
        <p:spPr>
          <a:xfrm>
            <a:off x="320040" y="1499616"/>
            <a:ext cx="2743200" cy="347472"/>
          </a:xfrm>
          <a:prstGeom prst="rect">
            <a:avLst/>
          </a:prstGeom>
          <a:solidFill>
            <a:srgbClr val="B9A26D">
              <a:alpha val="20000"/>
            </a:srgbClr>
          </a:solidFill>
        </p:spPr>
        <p:txBody>
          <a:bodyPr/>
          <a:lstStyle/>
          <a:p>
            <a:endParaRPr lang="fr-FR"/>
          </a:p>
        </p:txBody>
      </p:sp>
      <p:sp>
        <p:nvSpPr>
          <p:cNvPr id="10" name="Text 8"/>
          <p:cNvSpPr/>
          <p:nvPr/>
        </p:nvSpPr>
        <p:spPr>
          <a:xfrm>
            <a:off x="411480" y="1536192"/>
            <a:ext cx="256032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Distribution Non-Locale</a:t>
            </a:r>
            <a:endParaRPr lang="en-US" sz="1200" dirty="0">
              <a:solidFill>
                <a:srgbClr val="B9A26D"/>
              </a:solidFill>
            </a:endParaRPr>
          </a:p>
        </p:txBody>
      </p:sp>
      <p:sp>
        <p:nvSpPr>
          <p:cNvPr id="11" name="Text 9"/>
          <p:cNvSpPr/>
          <p:nvPr/>
        </p:nvSpPr>
        <p:spPr>
          <a:xfrm>
            <a:off x="411480" y="1956816"/>
            <a:ext cx="2560320" cy="804672"/>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L'information n'est pas stockée dans un seul qubit mais dans les corrélations entre eux</a:t>
            </a:r>
            <a:endParaRPr lang="en-US" sz="1200" dirty="0"/>
          </a:p>
        </p:txBody>
      </p:sp>
      <p:sp>
        <p:nvSpPr>
          <p:cNvPr id="12" name="Text 10"/>
          <p:cNvSpPr/>
          <p:nvPr/>
        </p:nvSpPr>
        <p:spPr>
          <a:xfrm>
            <a:off x="411480" y="2825496"/>
            <a:ext cx="2560320" cy="804672"/>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Mesurer un qubit détermine instantanément l'état de son partenaire intriqué</a:t>
            </a:r>
            <a:endParaRPr lang="en-US" sz="1200" dirty="0"/>
          </a:p>
        </p:txBody>
      </p:sp>
      <p:sp>
        <p:nvSpPr>
          <p:cNvPr id="13" name="Text 11"/>
          <p:cNvSpPr/>
          <p:nvPr/>
        </p:nvSpPr>
        <p:spPr>
          <a:xfrm>
            <a:off x="411480" y="3694176"/>
            <a:ext cx="2560320" cy="804672"/>
          </a:xfrm>
          <a:prstGeom prst="rect">
            <a:avLst/>
          </a:prstGeom>
          <a:noFill/>
        </p:spPr>
        <p:txBody>
          <a:bodyPr wrap="square" lIns="0" tIns="0" rIns="0" bIns="0" rtlCol="0" anchor="ctr"/>
          <a:lstStyle/>
          <a:p>
            <a:pPr marL="0" indent="0">
              <a:buNone/>
            </a:pPr>
            <a:r>
              <a:rPr lang="en-US" sz="1200" b="1" dirty="0">
                <a:solidFill>
                  <a:srgbClr val="00E5FF"/>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Principe fondamental de l'encodage holographique : le tout est dans les parties</a:t>
            </a:r>
            <a:endParaRPr lang="en-US" sz="1200" dirty="0"/>
          </a:p>
        </p:txBody>
      </p:sp>
      <p:sp>
        <p:nvSpPr>
          <p:cNvPr id="14" name="Shape 12"/>
          <p:cNvSpPr/>
          <p:nvPr/>
        </p:nvSpPr>
        <p:spPr>
          <a:xfrm>
            <a:off x="3200400" y="1499616"/>
            <a:ext cx="2743200" cy="3364992"/>
          </a:xfrm>
          <a:prstGeom prst="rect">
            <a:avLst/>
          </a:prstGeom>
          <a:solidFill>
            <a:srgbClr val="0F1E36"/>
          </a:solidFill>
          <a:ln w="6350">
            <a:solidFill>
              <a:srgbClr val="B9A26D"/>
            </a:solidFill>
            <a:prstDash val="solid"/>
          </a:ln>
        </p:spPr>
        <p:txBody>
          <a:bodyPr/>
          <a:lstStyle/>
          <a:p>
            <a:endParaRPr lang="fr-FR"/>
          </a:p>
        </p:txBody>
      </p:sp>
      <p:sp>
        <p:nvSpPr>
          <p:cNvPr id="15" name="Shape 13"/>
          <p:cNvSpPr/>
          <p:nvPr/>
        </p:nvSpPr>
        <p:spPr>
          <a:xfrm>
            <a:off x="3200400" y="1499616"/>
            <a:ext cx="2743200" cy="347472"/>
          </a:xfrm>
          <a:prstGeom prst="rect">
            <a:avLst/>
          </a:prstGeom>
          <a:solidFill>
            <a:srgbClr val="B9A26D">
              <a:alpha val="20000"/>
            </a:srgbClr>
          </a:solidFill>
          <a:ln>
            <a:solidFill>
              <a:srgbClr val="B9A26D"/>
            </a:solidFill>
          </a:ln>
        </p:spPr>
        <p:txBody>
          <a:bodyPr/>
          <a:lstStyle/>
          <a:p>
            <a:endParaRPr lang="fr-FR"/>
          </a:p>
        </p:txBody>
      </p:sp>
      <p:sp>
        <p:nvSpPr>
          <p:cNvPr id="16" name="Text 14"/>
          <p:cNvSpPr/>
          <p:nvPr/>
        </p:nvSpPr>
        <p:spPr>
          <a:xfrm>
            <a:off x="3291840" y="1536192"/>
            <a:ext cx="256032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Meilleure Cohérence</a:t>
            </a:r>
            <a:endParaRPr lang="en-US" sz="1200" dirty="0">
              <a:solidFill>
                <a:srgbClr val="B9A26D"/>
              </a:solidFill>
            </a:endParaRPr>
          </a:p>
        </p:txBody>
      </p:sp>
      <p:sp>
        <p:nvSpPr>
          <p:cNvPr id="17" name="Text 15"/>
          <p:cNvSpPr/>
          <p:nvPr/>
        </p:nvSpPr>
        <p:spPr>
          <a:xfrm>
            <a:off x="3291840" y="1956816"/>
            <a:ext cx="2560320" cy="804672"/>
          </a:xfrm>
          <a:prstGeom prst="rect">
            <a:avLst/>
          </a:prstGeom>
          <a:noFill/>
        </p:spPr>
        <p:txBody>
          <a:bodyPr wrap="square" lIns="0" tIns="0" rIns="0" bIns="0" rtlCol="0" anchor="ctr"/>
          <a:lstStyle/>
          <a:p>
            <a:pPr marL="0" indent="0">
              <a:buNone/>
            </a:pPr>
            <a:r>
              <a:rPr lang="en-US" sz="1200" b="1" dirty="0">
                <a:solidFill>
                  <a:srgbClr val="7C3AED"/>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La fidélité de 0.98 démontre la préservation quasi-parfaite de l'état quantique</a:t>
            </a:r>
            <a:endParaRPr lang="en-US" sz="1200" dirty="0"/>
          </a:p>
        </p:txBody>
      </p:sp>
      <p:sp>
        <p:nvSpPr>
          <p:cNvPr id="18" name="Text 16"/>
          <p:cNvSpPr/>
          <p:nvPr/>
        </p:nvSpPr>
        <p:spPr>
          <a:xfrm>
            <a:off x="3291840" y="2825496"/>
            <a:ext cx="2560320" cy="804672"/>
          </a:xfrm>
          <a:prstGeom prst="rect">
            <a:avLst/>
          </a:prstGeom>
          <a:noFill/>
        </p:spPr>
        <p:txBody>
          <a:bodyPr wrap="square" lIns="0" tIns="0" rIns="0" bIns="0" rtlCol="0" anchor="ctr"/>
          <a:lstStyle/>
          <a:p>
            <a:pPr marL="0" indent="0">
              <a:buNone/>
            </a:pPr>
            <a:r>
              <a:rPr lang="en-US" sz="1200" b="1" dirty="0">
                <a:solidFill>
                  <a:srgbClr val="7C3AED"/>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L'intrication protège naturellement contre certains types d'erreurs</a:t>
            </a:r>
            <a:endParaRPr lang="en-US" sz="1200" dirty="0"/>
          </a:p>
        </p:txBody>
      </p:sp>
      <p:sp>
        <p:nvSpPr>
          <p:cNvPr id="19" name="Text 17"/>
          <p:cNvSpPr/>
          <p:nvPr/>
        </p:nvSpPr>
        <p:spPr>
          <a:xfrm>
            <a:off x="3291840" y="3694176"/>
            <a:ext cx="2560320" cy="804672"/>
          </a:xfrm>
          <a:prstGeom prst="rect">
            <a:avLst/>
          </a:prstGeom>
          <a:noFill/>
        </p:spPr>
        <p:txBody>
          <a:bodyPr wrap="square" lIns="0" tIns="0" rIns="0" bIns="0" rtlCol="0" anchor="ctr"/>
          <a:lstStyle/>
          <a:p>
            <a:pPr marL="0" indent="0">
              <a:buNone/>
            </a:pPr>
            <a:r>
              <a:rPr lang="en-US" sz="1200" b="1" dirty="0">
                <a:solidFill>
                  <a:srgbClr val="7C3AED"/>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L'entropie maximale (1.00) indique une superposition parfaite maintenue</a:t>
            </a:r>
            <a:endParaRPr lang="en-US" sz="1200" dirty="0"/>
          </a:p>
        </p:txBody>
      </p:sp>
      <p:sp>
        <p:nvSpPr>
          <p:cNvPr id="20" name="Shape 18"/>
          <p:cNvSpPr/>
          <p:nvPr/>
        </p:nvSpPr>
        <p:spPr>
          <a:xfrm>
            <a:off x="6080760" y="1499616"/>
            <a:ext cx="2743200" cy="3364992"/>
          </a:xfrm>
          <a:prstGeom prst="rect">
            <a:avLst/>
          </a:prstGeom>
          <a:solidFill>
            <a:srgbClr val="0F1E36"/>
          </a:solidFill>
          <a:ln w="6350">
            <a:solidFill>
              <a:srgbClr val="B9A26D"/>
            </a:solidFill>
            <a:prstDash val="solid"/>
          </a:ln>
        </p:spPr>
        <p:txBody>
          <a:bodyPr/>
          <a:lstStyle/>
          <a:p>
            <a:endParaRPr lang="fr-FR"/>
          </a:p>
        </p:txBody>
      </p:sp>
      <p:sp>
        <p:nvSpPr>
          <p:cNvPr id="21" name="Shape 19"/>
          <p:cNvSpPr/>
          <p:nvPr/>
        </p:nvSpPr>
        <p:spPr>
          <a:xfrm>
            <a:off x="6080760" y="1499616"/>
            <a:ext cx="2743200" cy="347472"/>
          </a:xfrm>
          <a:prstGeom prst="rect">
            <a:avLst/>
          </a:prstGeom>
          <a:solidFill>
            <a:srgbClr val="B9A26D">
              <a:alpha val="20000"/>
            </a:srgbClr>
          </a:solidFill>
          <a:ln>
            <a:solidFill>
              <a:srgbClr val="B9A26D"/>
            </a:solidFill>
          </a:ln>
        </p:spPr>
        <p:txBody>
          <a:bodyPr/>
          <a:lstStyle/>
          <a:p>
            <a:endParaRPr lang="fr-FR"/>
          </a:p>
        </p:txBody>
      </p:sp>
      <p:sp>
        <p:nvSpPr>
          <p:cNvPr id="22" name="Text 20"/>
          <p:cNvSpPr/>
          <p:nvPr/>
        </p:nvSpPr>
        <p:spPr>
          <a:xfrm>
            <a:off x="6172200" y="1536192"/>
            <a:ext cx="256032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Lien Holographique</a:t>
            </a:r>
            <a:endParaRPr lang="en-US" sz="1200" dirty="0">
              <a:solidFill>
                <a:srgbClr val="B9A26D"/>
              </a:solidFill>
            </a:endParaRPr>
          </a:p>
        </p:txBody>
      </p:sp>
      <p:sp>
        <p:nvSpPr>
          <p:cNvPr id="23" name="Text 21"/>
          <p:cNvSpPr/>
          <p:nvPr/>
        </p:nvSpPr>
        <p:spPr>
          <a:xfrm>
            <a:off x="6172200" y="1956816"/>
            <a:ext cx="2560320" cy="804672"/>
          </a:xfrm>
          <a:prstGeom prst="rect">
            <a:avLst/>
          </a:prstGeom>
          <a:noFill/>
        </p:spPr>
        <p:txBody>
          <a:bodyPr wrap="square" lIns="0" tIns="0" rIns="0" bIns="0" rtlCol="0" anchor="ct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Les corrélations non-locales sont la signature de l'encodage holographique</a:t>
            </a:r>
            <a:endParaRPr lang="en-US" sz="1200" dirty="0"/>
          </a:p>
        </p:txBody>
      </p:sp>
      <p:sp>
        <p:nvSpPr>
          <p:cNvPr id="24" name="Text 22"/>
          <p:cNvSpPr/>
          <p:nvPr/>
        </p:nvSpPr>
        <p:spPr>
          <a:xfrm>
            <a:off x="6172200" y="2825496"/>
            <a:ext cx="2560320" cy="804672"/>
          </a:xfrm>
          <a:prstGeom prst="rect">
            <a:avLst/>
          </a:prstGeom>
          <a:noFill/>
        </p:spPr>
        <p:txBody>
          <a:bodyPr wrap="square" lIns="0" tIns="0" rIns="0" bIns="0" rtlCol="0" anchor="ct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MERA généralise ce principe à N qubits en couches hiérarchiques</a:t>
            </a:r>
            <a:endParaRPr lang="en-US" sz="1200" dirty="0"/>
          </a:p>
        </p:txBody>
      </p:sp>
      <p:sp>
        <p:nvSpPr>
          <p:cNvPr id="25" name="Text 23"/>
          <p:cNvSpPr/>
          <p:nvPr/>
        </p:nvSpPr>
        <p:spPr>
          <a:xfrm>
            <a:off x="6172200" y="3694176"/>
            <a:ext cx="2560320" cy="804672"/>
          </a:xfrm>
          <a:prstGeom prst="rect">
            <a:avLst/>
          </a:prstGeom>
          <a:noFill/>
        </p:spPr>
        <p:txBody>
          <a:bodyPr wrap="square" lIns="0" tIns="0" rIns="0" bIns="0" rtlCol="0" anchor="ct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Notre simulation valide le concept à petite échelle (2 qubits)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4"/>
                                        </p:tgtEl>
                                        <p:attrNameLst>
                                          <p:attrName>stroke.color</p:attrName>
                                        </p:attrNameLst>
                                      </p:cBhvr>
                                      <p:to>
                                        <a:schemeClr val="accent2"/>
                                      </p:to>
                                    </p:animClr>
                                    <p:set>
                                      <p:cBhvr>
                                        <p:cTn id="7" dur="2000" fill="hold"/>
                                        <p:tgtEl>
                                          <p:spTgt spid="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46304"/>
            <a:ext cx="9144000" cy="658368"/>
          </a:xfrm>
          <a:prstGeom prst="rect">
            <a:avLst/>
          </a:prstGeom>
          <a:solidFill>
            <a:srgbClr val="0A1628"/>
          </a:solidFill>
        </p:spPr>
        <p:txBody>
          <a:bodyPr/>
          <a:lstStyle/>
          <a:p>
            <a:endParaRPr lang="fr-FR" sz="1100"/>
          </a:p>
        </p:txBody>
      </p:sp>
      <p:sp>
        <p:nvSpPr>
          <p:cNvPr id="3" name="Shape 1"/>
          <p:cNvSpPr/>
          <p:nvPr/>
        </p:nvSpPr>
        <p:spPr>
          <a:xfrm>
            <a:off x="0" y="-146304"/>
            <a:ext cx="54864" cy="658368"/>
          </a:xfrm>
          <a:prstGeom prst="rect">
            <a:avLst/>
          </a:prstGeom>
          <a:solidFill>
            <a:srgbClr val="B9A26D"/>
          </a:solidFill>
        </p:spPr>
        <p:txBody>
          <a:bodyPr/>
          <a:lstStyle/>
          <a:p>
            <a:endParaRPr lang="fr-FR" sz="1100"/>
          </a:p>
        </p:txBody>
      </p:sp>
      <p:sp>
        <p:nvSpPr>
          <p:cNvPr id="4" name="Text 2"/>
          <p:cNvSpPr/>
          <p:nvPr/>
        </p:nvSpPr>
        <p:spPr>
          <a:xfrm>
            <a:off x="152400" y="35814"/>
            <a:ext cx="8778240" cy="658368"/>
          </a:xfrm>
          <a:prstGeom prst="rect">
            <a:avLst/>
          </a:prstGeom>
          <a:noFill/>
        </p:spPr>
        <p:txBody>
          <a:bodyPr wrap="square" lIns="0" tIns="0" rIns="0" bIns="0" rtlCol="0" anchor="ctr"/>
          <a:lstStyle/>
          <a:p>
            <a:pPr marL="0" indent="0">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De Ma Simulation vers MERA — Évolution Architecturale</a:t>
            </a:r>
            <a:endParaRPr lang="en-US" dirty="0"/>
          </a:p>
        </p:txBody>
      </p:sp>
      <p:sp>
        <p:nvSpPr>
          <p:cNvPr id="5" name="Shape 3"/>
          <p:cNvSpPr/>
          <p:nvPr/>
        </p:nvSpPr>
        <p:spPr>
          <a:xfrm>
            <a:off x="320040" y="658368"/>
            <a:ext cx="3474720" cy="2560320"/>
          </a:xfrm>
          <a:prstGeom prst="rect">
            <a:avLst/>
          </a:prstGeom>
          <a:solidFill>
            <a:srgbClr val="0F1E36"/>
          </a:solidFill>
          <a:ln w="6350">
            <a:solidFill>
              <a:srgbClr val="B9A26D"/>
            </a:solidFill>
            <a:prstDash val="solid"/>
          </a:ln>
        </p:spPr>
        <p:txBody>
          <a:bodyPr/>
          <a:lstStyle/>
          <a:p>
            <a:endParaRPr lang="fr-FR" sz="1100"/>
          </a:p>
        </p:txBody>
      </p:sp>
      <p:sp>
        <p:nvSpPr>
          <p:cNvPr id="6" name="Shape 4"/>
          <p:cNvSpPr/>
          <p:nvPr/>
        </p:nvSpPr>
        <p:spPr>
          <a:xfrm>
            <a:off x="320040" y="658368"/>
            <a:ext cx="3474720" cy="292608"/>
          </a:xfrm>
          <a:prstGeom prst="rect">
            <a:avLst/>
          </a:prstGeom>
          <a:solidFill>
            <a:srgbClr val="B9A26D">
              <a:alpha val="30000"/>
            </a:srgbClr>
          </a:solidFill>
          <a:ln>
            <a:solidFill>
              <a:srgbClr val="B9A26D"/>
            </a:solidFill>
          </a:ln>
        </p:spPr>
        <p:txBody>
          <a:bodyPr/>
          <a:lstStyle/>
          <a:p>
            <a:endParaRPr lang="fr-FR" sz="1100"/>
          </a:p>
        </p:txBody>
      </p:sp>
      <p:sp>
        <p:nvSpPr>
          <p:cNvPr id="7" name="Text 5"/>
          <p:cNvSpPr/>
          <p:nvPr/>
        </p:nvSpPr>
        <p:spPr>
          <a:xfrm>
            <a:off x="411480" y="676656"/>
            <a:ext cx="3291840" cy="256032"/>
          </a:xfrm>
          <a:prstGeom prst="rect">
            <a:avLst/>
          </a:prstGeom>
          <a:noFill/>
        </p:spPr>
        <p:txBody>
          <a:bodyPr wrap="square" lIns="0" tIns="0" rIns="0" bIns="0" rtlCol="0" anchor="ctr"/>
          <a:lstStyle/>
          <a:p>
            <a:pPr marL="0" indent="0">
              <a:buNone/>
            </a:pPr>
            <a:r>
              <a:rPr lang="en-US" sz="1100" b="1" dirty="0">
                <a:solidFill>
                  <a:srgbClr val="B9A26D"/>
                </a:solidFill>
                <a:latin typeface="Calibri" panose="020F0502020204030204" pitchFamily="34" charset="0"/>
                <a:ea typeface="Calibri" panose="020F0502020204030204" pitchFamily="34" charset="-122"/>
                <a:cs typeface="Calibri" panose="020F0502020204030204" pitchFamily="34" charset="-120"/>
              </a:rPr>
              <a:t>Mon Circuit (Cas 2)</a:t>
            </a:r>
            <a:endParaRPr lang="en-US" sz="1100" dirty="0">
              <a:solidFill>
                <a:srgbClr val="B9A26D"/>
              </a:solidFill>
            </a:endParaRPr>
          </a:p>
        </p:txBody>
      </p:sp>
      <p:sp>
        <p:nvSpPr>
          <p:cNvPr id="8" name="Text 6"/>
          <p:cNvSpPr/>
          <p:nvPr/>
        </p:nvSpPr>
        <p:spPr>
          <a:xfrm>
            <a:off x="457200" y="1115568"/>
            <a:ext cx="3200400" cy="292608"/>
          </a:xfrm>
          <a:prstGeom prst="rect">
            <a:avLst/>
          </a:prstGeom>
          <a:noFill/>
        </p:spPr>
        <p:txBody>
          <a:bodyPr wrap="square" lIns="0" tIns="0" rIns="0" bIns="0" rtlCol="0" anchor="ctr"/>
          <a:lstStyle/>
          <a:p>
            <a:pPr marL="0" indent="0">
              <a:buNone/>
            </a:pPr>
            <a:r>
              <a:rPr lang="en-US" sz="1100" dirty="0">
                <a:solidFill>
                  <a:srgbClr val="00E5FF"/>
                </a:solidFill>
                <a:latin typeface="Consolas" panose="020B0609020204030204" pitchFamily="34" charset="0"/>
                <a:ea typeface="Consolas" panose="020B0609020204030204" pitchFamily="34" charset="-122"/>
                <a:cs typeface="Consolas" panose="020B0609020204030204" pitchFamily="34" charset="-120"/>
              </a:rPr>
              <a:t>q₀ : ─── H ─── ●  ─── M</a:t>
            </a:r>
            <a:endParaRPr lang="en-US" sz="1100" dirty="0"/>
          </a:p>
        </p:txBody>
      </p:sp>
      <p:sp>
        <p:nvSpPr>
          <p:cNvPr id="9" name="Shape 7"/>
          <p:cNvSpPr/>
          <p:nvPr/>
        </p:nvSpPr>
        <p:spPr>
          <a:xfrm>
            <a:off x="1938528" y="1298448"/>
            <a:ext cx="0" cy="384048"/>
          </a:xfrm>
          <a:prstGeom prst="line">
            <a:avLst/>
          </a:prstGeom>
          <a:noFill/>
          <a:ln w="19050">
            <a:solidFill>
              <a:srgbClr val="00E5FF"/>
            </a:solidFill>
            <a:prstDash val="solid"/>
          </a:ln>
        </p:spPr>
        <p:txBody>
          <a:bodyPr/>
          <a:lstStyle/>
          <a:p>
            <a:endParaRPr lang="fr-FR" sz="1100"/>
          </a:p>
        </p:txBody>
      </p:sp>
      <p:sp>
        <p:nvSpPr>
          <p:cNvPr id="10" name="Text 8"/>
          <p:cNvSpPr/>
          <p:nvPr/>
        </p:nvSpPr>
        <p:spPr>
          <a:xfrm>
            <a:off x="457200" y="1499616"/>
            <a:ext cx="3200400" cy="292608"/>
          </a:xfrm>
          <a:prstGeom prst="rect">
            <a:avLst/>
          </a:prstGeom>
          <a:noFill/>
        </p:spPr>
        <p:txBody>
          <a:bodyPr wrap="square" lIns="0" tIns="0" rIns="0" bIns="0" rtlCol="0" anchor="ctr"/>
          <a:lstStyle/>
          <a:p>
            <a:pPr marL="0" indent="0">
              <a:buNone/>
            </a:pPr>
            <a:r>
              <a:rPr lang="en-US" sz="1100" dirty="0">
                <a:solidFill>
                  <a:srgbClr val="00E5FF"/>
                </a:solidFill>
                <a:latin typeface="Consolas" panose="020B0609020204030204" pitchFamily="34" charset="0"/>
                <a:ea typeface="Consolas" panose="020B0609020204030204" pitchFamily="34" charset="-122"/>
                <a:cs typeface="Consolas" panose="020B0609020204030204" pitchFamily="34" charset="-120"/>
              </a:rPr>
              <a:t>q₁ : ─────────── ⊕ ─── M</a:t>
            </a:r>
            <a:endParaRPr lang="en-US" sz="1100" dirty="0"/>
          </a:p>
        </p:txBody>
      </p:sp>
      <p:sp>
        <p:nvSpPr>
          <p:cNvPr id="11" name="Text 9"/>
          <p:cNvSpPr/>
          <p:nvPr/>
        </p:nvSpPr>
        <p:spPr>
          <a:xfrm>
            <a:off x="457200" y="1938528"/>
            <a:ext cx="3200400" cy="502920"/>
          </a:xfrm>
          <a:prstGeom prst="rect">
            <a:avLst/>
          </a:prstGeom>
          <a:noFill/>
        </p:spPr>
        <p:txBody>
          <a:bodyPr wrap="square" lIns="0" tIns="0" rIns="0" bIns="0"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2 qubits — État de Bell</a:t>
            </a:r>
            <a:endParaRPr lang="en-US" sz="11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|Φ⁺⟩ = (|00⟩ + |11⟩)/√2</a:t>
            </a:r>
            <a:endParaRPr lang="en-US" sz="1100" dirty="0"/>
          </a:p>
        </p:txBody>
      </p:sp>
      <p:sp>
        <p:nvSpPr>
          <p:cNvPr id="12" name="Text 10"/>
          <p:cNvSpPr/>
          <p:nvPr/>
        </p:nvSpPr>
        <p:spPr>
          <a:xfrm>
            <a:off x="457200" y="2542032"/>
            <a:ext cx="3200400" cy="502920"/>
          </a:xfrm>
          <a:prstGeom prst="rect">
            <a:avLst/>
          </a:prstGeom>
          <a:noFill/>
        </p:spPr>
        <p:txBody>
          <a:bodyPr wrap="square" lIns="0" tIns="0" rIns="0" bIns="0"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Fidélité: </a:t>
            </a:r>
            <a:r>
              <a:rPr lang="en-US" sz="1100" b="1" dirty="0">
                <a:solidFill>
                  <a:srgbClr val="FFD700"/>
                </a:solidFill>
                <a:latin typeface="Calibri" panose="020F0502020204030204" pitchFamily="34" charset="0"/>
                <a:ea typeface="Calibri" panose="020F0502020204030204" pitchFamily="34" charset="-122"/>
                <a:cs typeface="Calibri" panose="020F0502020204030204" pitchFamily="34" charset="-120"/>
              </a:rPr>
              <a:t>0.98</a:t>
            </a: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  |  Entropie: </a:t>
            </a:r>
            <a:r>
              <a:rPr lang="en-US" sz="1100" b="1" dirty="0">
                <a:solidFill>
                  <a:srgbClr val="00E5FF"/>
                </a:solidFill>
                <a:latin typeface="Calibri" panose="020F0502020204030204" pitchFamily="34" charset="0"/>
                <a:ea typeface="Calibri" panose="020F0502020204030204" pitchFamily="34" charset="-122"/>
                <a:cs typeface="Calibri" panose="020F0502020204030204" pitchFamily="34" charset="-120"/>
              </a:rPr>
              <a:t>1.00</a:t>
            </a:r>
            <a:endParaRPr lang="en-US" sz="1100" dirty="0"/>
          </a:p>
        </p:txBody>
      </p:sp>
      <p:sp>
        <p:nvSpPr>
          <p:cNvPr id="13" name="Shape 11"/>
          <p:cNvSpPr/>
          <p:nvPr/>
        </p:nvSpPr>
        <p:spPr>
          <a:xfrm>
            <a:off x="3913632" y="1773936"/>
            <a:ext cx="987552" cy="0"/>
          </a:xfrm>
          <a:prstGeom prst="line">
            <a:avLst/>
          </a:prstGeom>
          <a:noFill/>
          <a:ln w="25400">
            <a:solidFill>
              <a:srgbClr val="FFD700"/>
            </a:solidFill>
            <a:prstDash val="solid"/>
          </a:ln>
        </p:spPr>
        <p:txBody>
          <a:bodyPr/>
          <a:lstStyle/>
          <a:p>
            <a:endParaRPr lang="fr-FR" sz="1100"/>
          </a:p>
        </p:txBody>
      </p:sp>
      <p:sp>
        <p:nvSpPr>
          <p:cNvPr id="14" name="Shape 12"/>
          <p:cNvSpPr/>
          <p:nvPr/>
        </p:nvSpPr>
        <p:spPr>
          <a:xfrm>
            <a:off x="4773168" y="1591056"/>
            <a:ext cx="128016" cy="182880"/>
          </a:xfrm>
          <a:prstGeom prst="line">
            <a:avLst/>
          </a:prstGeom>
          <a:noFill/>
          <a:ln w="25400">
            <a:solidFill>
              <a:srgbClr val="FFD700"/>
            </a:solidFill>
            <a:prstDash val="solid"/>
          </a:ln>
        </p:spPr>
        <p:txBody>
          <a:bodyPr/>
          <a:lstStyle/>
          <a:p>
            <a:endParaRPr lang="fr-FR" sz="1100"/>
          </a:p>
        </p:txBody>
      </p:sp>
      <p:sp>
        <p:nvSpPr>
          <p:cNvPr id="15" name="Shape 13"/>
          <p:cNvSpPr/>
          <p:nvPr/>
        </p:nvSpPr>
        <p:spPr>
          <a:xfrm>
            <a:off x="4773168" y="1591056"/>
            <a:ext cx="128016" cy="182880"/>
          </a:xfrm>
          <a:prstGeom prst="line">
            <a:avLst/>
          </a:prstGeom>
          <a:noFill/>
          <a:ln w="25400">
            <a:solidFill>
              <a:srgbClr val="FFD700"/>
            </a:solidFill>
            <a:prstDash val="solid"/>
          </a:ln>
        </p:spPr>
        <p:txBody>
          <a:bodyPr/>
          <a:lstStyle/>
          <a:p>
            <a:endParaRPr lang="fr-FR" sz="1100"/>
          </a:p>
        </p:txBody>
      </p:sp>
      <p:sp>
        <p:nvSpPr>
          <p:cNvPr id="16" name="Text 14"/>
          <p:cNvSpPr/>
          <p:nvPr/>
        </p:nvSpPr>
        <p:spPr>
          <a:xfrm>
            <a:off x="3749040" y="1938528"/>
            <a:ext cx="1371600" cy="320040"/>
          </a:xfrm>
          <a:prstGeom prst="rect">
            <a:avLst/>
          </a:prstGeom>
          <a:noFill/>
        </p:spPr>
        <p:txBody>
          <a:bodyPr wrap="square" lIns="0" tIns="0" rIns="0" bIns="0" rtlCol="0" anchor="ctr"/>
          <a:lstStyle/>
          <a:p>
            <a:pPr marL="0" indent="0" algn="ctr">
              <a:buNone/>
            </a:pPr>
            <a:r>
              <a:rPr lang="en-US" sz="1100" i="1" dirty="0">
                <a:solidFill>
                  <a:srgbClr val="FFD700"/>
                </a:solidFill>
                <a:latin typeface="Calibri" panose="020F0502020204030204" pitchFamily="34" charset="0"/>
                <a:ea typeface="Calibri" panose="020F0502020204030204" pitchFamily="34" charset="-122"/>
                <a:cs typeface="Calibri" panose="020F0502020204030204" pitchFamily="34" charset="-120"/>
              </a:rPr>
              <a:t>Généralisation</a:t>
            </a:r>
            <a:endParaRPr lang="en-US" sz="1100" dirty="0"/>
          </a:p>
          <a:p>
            <a:pPr marL="0" indent="0" algn="ctr">
              <a:buNone/>
            </a:pPr>
            <a:r>
              <a:rPr lang="en-US" sz="1100" i="1" dirty="0">
                <a:solidFill>
                  <a:srgbClr val="FFD700"/>
                </a:solidFill>
                <a:latin typeface="Calibri" panose="020F0502020204030204" pitchFamily="34" charset="0"/>
                <a:ea typeface="Calibri" panose="020F0502020204030204" pitchFamily="34" charset="-122"/>
                <a:cs typeface="Calibri" panose="020F0502020204030204" pitchFamily="34" charset="-120"/>
              </a:rPr>
              <a:t>MERA</a:t>
            </a:r>
            <a:endParaRPr lang="en-US" sz="1100" dirty="0"/>
          </a:p>
        </p:txBody>
      </p:sp>
      <p:sp>
        <p:nvSpPr>
          <p:cNvPr id="17" name="Shape 15"/>
          <p:cNvSpPr/>
          <p:nvPr/>
        </p:nvSpPr>
        <p:spPr>
          <a:xfrm>
            <a:off x="5029200" y="658368"/>
            <a:ext cx="3794760" cy="2560320"/>
          </a:xfrm>
          <a:prstGeom prst="rect">
            <a:avLst/>
          </a:prstGeom>
          <a:solidFill>
            <a:srgbClr val="0F1E36"/>
          </a:solidFill>
          <a:ln w="6350">
            <a:solidFill>
              <a:srgbClr val="B9A26D"/>
            </a:solidFill>
            <a:prstDash val="solid"/>
          </a:ln>
        </p:spPr>
        <p:txBody>
          <a:bodyPr/>
          <a:lstStyle/>
          <a:p>
            <a:endParaRPr lang="fr-FR" sz="1100"/>
          </a:p>
        </p:txBody>
      </p:sp>
      <p:sp>
        <p:nvSpPr>
          <p:cNvPr id="18" name="Shape 16"/>
          <p:cNvSpPr/>
          <p:nvPr/>
        </p:nvSpPr>
        <p:spPr>
          <a:xfrm>
            <a:off x="5029200" y="658368"/>
            <a:ext cx="3794760" cy="292608"/>
          </a:xfrm>
          <a:prstGeom prst="rect">
            <a:avLst/>
          </a:prstGeom>
          <a:solidFill>
            <a:srgbClr val="B9A26D">
              <a:alpha val="30000"/>
            </a:srgbClr>
          </a:solidFill>
          <a:ln>
            <a:solidFill>
              <a:srgbClr val="B9A26D"/>
            </a:solidFill>
          </a:ln>
        </p:spPr>
        <p:txBody>
          <a:bodyPr/>
          <a:lstStyle/>
          <a:p>
            <a:endParaRPr lang="fr-FR" sz="1100"/>
          </a:p>
        </p:txBody>
      </p:sp>
      <p:sp>
        <p:nvSpPr>
          <p:cNvPr id="19" name="Text 17"/>
          <p:cNvSpPr/>
          <p:nvPr/>
        </p:nvSpPr>
        <p:spPr>
          <a:xfrm>
            <a:off x="5120640" y="676656"/>
            <a:ext cx="3566160" cy="256032"/>
          </a:xfrm>
          <a:prstGeom prst="rect">
            <a:avLst/>
          </a:prstGeom>
          <a:noFill/>
        </p:spPr>
        <p:txBody>
          <a:bodyPr wrap="square" lIns="0" tIns="0" rIns="0" bIns="0" rtlCol="0" anchor="ctr"/>
          <a:lstStyle/>
          <a:p>
            <a:pPr marL="0" indent="0">
              <a:buNone/>
            </a:pPr>
            <a:r>
              <a:rPr lang="en-US" sz="1100" b="1" dirty="0">
                <a:solidFill>
                  <a:srgbClr val="B9A26D"/>
                </a:solidFill>
                <a:latin typeface="Calibri" panose="020F0502020204030204" pitchFamily="34" charset="0"/>
                <a:ea typeface="Calibri" panose="020F0502020204030204" pitchFamily="34" charset="-122"/>
                <a:cs typeface="Calibri" panose="020F0502020204030204" pitchFamily="34" charset="-120"/>
              </a:rPr>
              <a:t>Architecture MERA (Généralisée)</a:t>
            </a:r>
            <a:endParaRPr lang="en-US" sz="1100" dirty="0">
              <a:solidFill>
                <a:srgbClr val="B9A26D"/>
              </a:solidFill>
            </a:endParaRPr>
          </a:p>
        </p:txBody>
      </p:sp>
      <p:sp>
        <p:nvSpPr>
          <p:cNvPr id="20" name="Shape 18"/>
          <p:cNvSpPr/>
          <p:nvPr/>
        </p:nvSpPr>
        <p:spPr>
          <a:xfrm>
            <a:off x="6286500" y="1060704"/>
            <a:ext cx="731520" cy="292608"/>
          </a:xfrm>
          <a:prstGeom prst="rect">
            <a:avLst/>
          </a:prstGeom>
          <a:solidFill>
            <a:srgbClr val="A78BFA">
              <a:alpha val="60000"/>
            </a:srgbClr>
          </a:solidFill>
        </p:spPr>
        <p:txBody>
          <a:bodyPr/>
          <a:lstStyle/>
          <a:p>
            <a:endParaRPr lang="fr-FR" sz="1100"/>
          </a:p>
        </p:txBody>
      </p:sp>
      <p:sp>
        <p:nvSpPr>
          <p:cNvPr id="21" name="Text 19"/>
          <p:cNvSpPr/>
          <p:nvPr/>
        </p:nvSpPr>
        <p:spPr>
          <a:xfrm>
            <a:off x="6286500" y="1060704"/>
            <a:ext cx="731520" cy="292608"/>
          </a:xfrm>
          <a:prstGeom prst="rect">
            <a:avLst/>
          </a:prstGeom>
          <a:solidFill>
            <a:srgbClr val="B9A26D"/>
          </a:solidFill>
        </p:spPr>
        <p:txBody>
          <a:bodyPr wrap="square" lIns="0" tIns="0" rIns="0" bIns="0"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Couche 3  (2 qubits)</a:t>
            </a:r>
            <a:endParaRPr lang="en-US" sz="1100" dirty="0"/>
          </a:p>
        </p:txBody>
      </p:sp>
      <p:sp>
        <p:nvSpPr>
          <p:cNvPr id="22" name="Shape 20"/>
          <p:cNvSpPr/>
          <p:nvPr/>
        </p:nvSpPr>
        <p:spPr>
          <a:xfrm>
            <a:off x="5943600" y="1517904"/>
            <a:ext cx="1417320" cy="292608"/>
          </a:xfrm>
          <a:prstGeom prst="rect">
            <a:avLst/>
          </a:prstGeom>
          <a:solidFill>
            <a:srgbClr val="7C3AED">
              <a:alpha val="60000"/>
            </a:srgbClr>
          </a:solidFill>
        </p:spPr>
        <p:txBody>
          <a:bodyPr/>
          <a:lstStyle/>
          <a:p>
            <a:endParaRPr lang="fr-FR" sz="1100"/>
          </a:p>
        </p:txBody>
      </p:sp>
      <p:sp>
        <p:nvSpPr>
          <p:cNvPr id="23" name="Text 21"/>
          <p:cNvSpPr/>
          <p:nvPr/>
        </p:nvSpPr>
        <p:spPr>
          <a:xfrm>
            <a:off x="5943600" y="1517904"/>
            <a:ext cx="1417320" cy="292608"/>
          </a:xfrm>
          <a:prstGeom prst="rect">
            <a:avLst/>
          </a:prstGeom>
          <a:solidFill>
            <a:srgbClr val="B9A26D"/>
          </a:solidFill>
        </p:spPr>
        <p:txBody>
          <a:bodyPr wrap="square" lIns="0" tIns="0" rIns="0" bIns="0"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Couche 2  (4 qubits)</a:t>
            </a:r>
            <a:endParaRPr lang="en-US" sz="1100" dirty="0"/>
          </a:p>
        </p:txBody>
      </p:sp>
      <p:sp>
        <p:nvSpPr>
          <p:cNvPr id="24" name="Shape 22"/>
          <p:cNvSpPr/>
          <p:nvPr/>
        </p:nvSpPr>
        <p:spPr>
          <a:xfrm>
            <a:off x="5600700" y="1975104"/>
            <a:ext cx="2103120" cy="292608"/>
          </a:xfrm>
          <a:prstGeom prst="rect">
            <a:avLst/>
          </a:prstGeom>
          <a:solidFill>
            <a:srgbClr val="B9A26D">
              <a:alpha val="60000"/>
            </a:srgbClr>
          </a:solidFill>
        </p:spPr>
        <p:txBody>
          <a:bodyPr/>
          <a:lstStyle/>
          <a:p>
            <a:endParaRPr lang="fr-FR" sz="1100"/>
          </a:p>
        </p:txBody>
      </p:sp>
      <p:sp>
        <p:nvSpPr>
          <p:cNvPr id="25" name="Text 23"/>
          <p:cNvSpPr/>
          <p:nvPr/>
        </p:nvSpPr>
        <p:spPr>
          <a:xfrm>
            <a:off x="5600700" y="1975104"/>
            <a:ext cx="2103120" cy="292608"/>
          </a:xfrm>
          <a:prstGeom prst="rect">
            <a:avLst/>
          </a:prstGeom>
          <a:noFill/>
        </p:spPr>
        <p:txBody>
          <a:bodyPr wrap="square" lIns="0" tIns="0" rIns="0" bIns="0"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Couche 1  (8 qubits)</a:t>
            </a:r>
            <a:endParaRPr lang="en-US" sz="1100" dirty="0"/>
          </a:p>
        </p:txBody>
      </p:sp>
      <p:sp>
        <p:nvSpPr>
          <p:cNvPr id="26" name="Shape 24"/>
          <p:cNvSpPr/>
          <p:nvPr/>
        </p:nvSpPr>
        <p:spPr>
          <a:xfrm>
            <a:off x="5257800" y="2432304"/>
            <a:ext cx="2788920" cy="292608"/>
          </a:xfrm>
          <a:prstGeom prst="rect">
            <a:avLst/>
          </a:prstGeom>
          <a:solidFill>
            <a:srgbClr val="B9A26D">
              <a:alpha val="60000"/>
            </a:srgbClr>
          </a:solidFill>
        </p:spPr>
        <p:txBody>
          <a:bodyPr/>
          <a:lstStyle/>
          <a:p>
            <a:endParaRPr lang="fr-FR" sz="1100"/>
          </a:p>
        </p:txBody>
      </p:sp>
      <p:sp>
        <p:nvSpPr>
          <p:cNvPr id="27" name="Text 25"/>
          <p:cNvSpPr/>
          <p:nvPr/>
        </p:nvSpPr>
        <p:spPr>
          <a:xfrm>
            <a:off x="5257800" y="2432304"/>
            <a:ext cx="2788920" cy="292608"/>
          </a:xfrm>
          <a:prstGeom prst="rect">
            <a:avLst/>
          </a:prstGeom>
          <a:noFill/>
        </p:spPr>
        <p:txBody>
          <a:bodyPr wrap="square" lIns="0" tIns="0" rIns="0" bIns="0"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Système  (32 sites)</a:t>
            </a:r>
            <a:endParaRPr lang="en-US" sz="1100" dirty="0"/>
          </a:p>
        </p:txBody>
      </p:sp>
      <p:sp>
        <p:nvSpPr>
          <p:cNvPr id="28" name="Text 26"/>
          <p:cNvSpPr/>
          <p:nvPr/>
        </p:nvSpPr>
        <p:spPr>
          <a:xfrm>
            <a:off x="5074920" y="2660904"/>
            <a:ext cx="3657600" cy="411480"/>
          </a:xfrm>
          <a:prstGeom prst="rect">
            <a:avLst/>
          </a:prstGeom>
          <a:noFill/>
        </p:spPr>
        <p:txBody>
          <a:bodyPr wrap="square" lIns="0" tIns="0" rIns="0" bIns="0"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N qubits — 32 sites simulés avec 10 qubits</a:t>
            </a:r>
            <a:endParaRPr lang="en-US" sz="1100" dirty="0"/>
          </a:p>
        </p:txBody>
      </p:sp>
      <p:sp>
        <p:nvSpPr>
          <p:cNvPr id="29" name="Shape 27"/>
          <p:cNvSpPr/>
          <p:nvPr/>
        </p:nvSpPr>
        <p:spPr>
          <a:xfrm>
            <a:off x="320040" y="3346704"/>
            <a:ext cx="8503920" cy="594360"/>
          </a:xfrm>
          <a:prstGeom prst="rect">
            <a:avLst/>
          </a:prstGeom>
          <a:solidFill>
            <a:srgbClr val="0C2240"/>
          </a:solidFill>
          <a:ln w="12700">
            <a:solidFill>
              <a:srgbClr val="B9A26D"/>
            </a:solidFill>
            <a:prstDash val="solid"/>
          </a:ln>
        </p:spPr>
        <p:txBody>
          <a:bodyPr/>
          <a:lstStyle/>
          <a:p>
            <a:endParaRPr lang="fr-FR" sz="1100"/>
          </a:p>
        </p:txBody>
      </p:sp>
      <p:sp>
        <p:nvSpPr>
          <p:cNvPr id="30" name="Text 28"/>
          <p:cNvSpPr/>
          <p:nvPr/>
        </p:nvSpPr>
        <p:spPr>
          <a:xfrm>
            <a:off x="502920" y="3392424"/>
            <a:ext cx="2743200" cy="228600"/>
          </a:xfrm>
          <a:prstGeom prst="rect">
            <a:avLst/>
          </a:prstGeom>
          <a:noFill/>
        </p:spPr>
        <p:txBody>
          <a:bodyPr wrap="square" lIns="0" tIns="0" rIns="0" bIns="0" rtlCol="0" anchor="ctr"/>
          <a:lstStyle/>
          <a:p>
            <a:pPr marL="0" indent="0">
              <a:buNone/>
            </a:pPr>
            <a:r>
              <a:rPr lang="en-US" sz="1100" b="1" dirty="0">
                <a:solidFill>
                  <a:srgbClr val="B9A26D"/>
                </a:solidFill>
                <a:latin typeface="Calibri" panose="020F0502020204030204" pitchFamily="34" charset="0"/>
                <a:ea typeface="Calibri" panose="020F0502020204030204" pitchFamily="34" charset="-122"/>
                <a:cs typeface="Calibri" panose="020F0502020204030204" pitchFamily="34" charset="-120"/>
              </a:rPr>
              <a:t>Idée fondamentale commune</a:t>
            </a:r>
            <a:endParaRPr lang="en-US" sz="1100" dirty="0">
              <a:solidFill>
                <a:srgbClr val="B9A26D"/>
              </a:solidFill>
            </a:endParaRPr>
          </a:p>
        </p:txBody>
      </p:sp>
      <p:sp>
        <p:nvSpPr>
          <p:cNvPr id="31" name="Text 29"/>
          <p:cNvSpPr/>
          <p:nvPr/>
        </p:nvSpPr>
        <p:spPr>
          <a:xfrm>
            <a:off x="502920" y="3602736"/>
            <a:ext cx="8229600" cy="292608"/>
          </a:xfrm>
          <a:prstGeom prst="rect">
            <a:avLst/>
          </a:prstGeom>
          <a:noFill/>
        </p:spPr>
        <p:txBody>
          <a:bodyPr wrap="square" lIns="0" tIns="0" rIns="0" bIns="0" rtlCol="0" anchor="ctr"/>
          <a:lstStyle/>
          <a:p>
            <a:pPr marL="0" indent="0">
              <a:buNone/>
            </a:pPr>
            <a:r>
              <a:rPr lang="en-US" sz="1100" dirty="0">
                <a:solidFill>
                  <a:srgbClr val="E2F4FF"/>
                </a:solidFill>
                <a:latin typeface="Calibri" panose="020F0502020204030204" pitchFamily="34" charset="0"/>
                <a:ea typeface="Calibri" panose="020F0502020204030204" pitchFamily="34" charset="-122"/>
                <a:cs typeface="Calibri" panose="020F0502020204030204" pitchFamily="34" charset="-120"/>
              </a:rPr>
              <a:t>Utiliser les corrélations quantiques non-locales pour protéger et distribuer l'information de manière efficace — du circuit de Bell 2 qubits aux architectures MERA à 32 sites.</a:t>
            </a:r>
            <a:endParaRPr lang="en-US" sz="1100" dirty="0"/>
          </a:p>
        </p:txBody>
      </p:sp>
      <p:sp>
        <p:nvSpPr>
          <p:cNvPr id="32" name="Text 30"/>
          <p:cNvSpPr/>
          <p:nvPr/>
        </p:nvSpPr>
        <p:spPr>
          <a:xfrm>
            <a:off x="320040" y="3922776"/>
            <a:ext cx="3657600" cy="228600"/>
          </a:xfrm>
          <a:prstGeom prst="rect">
            <a:avLst/>
          </a:prstGeom>
          <a:noFill/>
        </p:spPr>
        <p:txBody>
          <a:bodyPr wrap="square" lIns="0" tIns="0" rIns="0" bIns="0"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Comparaison des métriques :</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709566326"/>
              </p:ext>
            </p:extLst>
          </p:nvPr>
        </p:nvGraphicFramePr>
        <p:xfrm>
          <a:off x="0" y="4174236"/>
          <a:ext cx="8494776"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gridCol w="2221992">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155448">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Métrique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1628"/>
                    </a:solidFill>
                  </a:tcPr>
                </a:tc>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Cas 1 (Baseline)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1628"/>
                    </a:solidFill>
                  </a:tcPr>
                </a:tc>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Cas 2 (Intrication)</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1628"/>
                    </a:solidFill>
                  </a:tcPr>
                </a:tc>
                <a:tc>
                  <a:txBody>
                    <a:bodyP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Cas 3 (Bruit)</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155448">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Fidélité</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0.51</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0.98 ✓</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0.34</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extLst>
                  <a:ext uri="{0D108BD9-81ED-4DB2-BD59-A6C34878D82A}">
                    <a16:rowId xmlns:a16="http://schemas.microsoft.com/office/drawing/2014/main" val="10001"/>
                  </a:ext>
                </a:extLst>
              </a:tr>
              <a:tr h="155448">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Entropie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1.00</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1.00</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1.87</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extLst>
                  <a:ext uri="{0D108BD9-81ED-4DB2-BD59-A6C34878D82A}">
                    <a16:rowId xmlns:a16="http://schemas.microsoft.com/office/drawing/2014/main" val="10002"/>
                  </a:ext>
                </a:extLst>
              </a:tr>
              <a:tr h="155448">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Protection</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Faible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Élevée ✓</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tc>
                  <a:txBody>
                    <a:bodyPr/>
                    <a:lstStyle/>
                    <a:p>
                      <a:pPr marL="0" indent="0">
                        <a:buNone/>
                      </a:pPr>
                      <a:r>
                        <a:rPr lang="en-US" sz="900" dirty="0">
                          <a:solidFill>
                            <a:srgbClr val="E2F4FF"/>
                          </a:solidFill>
                          <a:latin typeface="Calibri" panose="020F0502020204030204" pitchFamily="34" charset="0"/>
                          <a:ea typeface="Calibri" panose="020F0502020204030204" pitchFamily="34" charset="-122"/>
                          <a:cs typeface="Calibri" panose="020F0502020204030204" pitchFamily="34" charset="-120"/>
                        </a:rPr>
                        <a:t>Nulle</a:t>
                      </a:r>
                      <a:endParaRPr lang="en-US" sz="9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E36"/>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50D1A"/>
          </a:solidFill>
        </p:spPr>
        <p:txBody>
          <a:bodyPr/>
          <a:lstStyle/>
          <a:p>
            <a:endParaRPr lang="fr-FR"/>
          </a:p>
        </p:txBody>
      </p:sp>
      <p:sp>
        <p:nvSpPr>
          <p:cNvPr id="3" name="Shape 1"/>
          <p:cNvSpPr/>
          <p:nvPr/>
        </p:nvSpPr>
        <p:spPr>
          <a:xfrm>
            <a:off x="5943600" y="-457200"/>
            <a:ext cx="3657600" cy="3657600"/>
          </a:xfrm>
          <a:prstGeom prst="ellipse">
            <a:avLst/>
          </a:prstGeom>
          <a:solidFill>
            <a:srgbClr val="00E5FF">
              <a:alpha val="6000"/>
            </a:srgbClr>
          </a:solidFill>
          <a:ln w="6350">
            <a:solidFill>
              <a:srgbClr val="00E5FF">
                <a:alpha val="30000"/>
              </a:srgbClr>
            </a:solidFill>
            <a:prstDash val="solid"/>
          </a:ln>
        </p:spPr>
        <p:txBody>
          <a:bodyPr/>
          <a:lstStyle/>
          <a:p>
            <a:endParaRPr lang="fr-FR"/>
          </a:p>
        </p:txBody>
      </p:sp>
      <p:sp>
        <p:nvSpPr>
          <p:cNvPr id="4" name="Shape 2"/>
          <p:cNvSpPr/>
          <p:nvPr/>
        </p:nvSpPr>
        <p:spPr>
          <a:xfrm>
            <a:off x="457200" y="2286000"/>
            <a:ext cx="2743200" cy="2743200"/>
          </a:xfrm>
          <a:prstGeom prst="ellipse">
            <a:avLst/>
          </a:prstGeom>
          <a:solidFill>
            <a:srgbClr val="7C3AED">
              <a:alpha val="6000"/>
            </a:srgbClr>
          </a:solidFill>
          <a:ln w="6350">
            <a:solidFill>
              <a:srgbClr val="7C3AED">
                <a:alpha val="30000"/>
              </a:srgbClr>
            </a:solidFill>
            <a:prstDash val="solid"/>
          </a:ln>
        </p:spPr>
        <p:txBody>
          <a:bodyPr/>
          <a:lstStyle/>
          <a:p>
            <a:endParaRPr lang="fr-FR"/>
          </a:p>
        </p:txBody>
      </p:sp>
      <p:sp>
        <p:nvSpPr>
          <p:cNvPr id="5" name="Shape 3"/>
          <p:cNvSpPr/>
          <p:nvPr/>
        </p:nvSpPr>
        <p:spPr>
          <a:xfrm>
            <a:off x="0" y="0"/>
            <a:ext cx="9144000" cy="54864"/>
          </a:xfrm>
          <a:prstGeom prst="rect">
            <a:avLst/>
          </a:prstGeom>
          <a:solidFill>
            <a:srgbClr val="0D1B4B"/>
          </a:solidFill>
          <a:ln>
            <a:solidFill>
              <a:srgbClr val="0D1B4B"/>
            </a:solidFill>
          </a:ln>
        </p:spPr>
        <p:txBody>
          <a:bodyPr/>
          <a:lstStyle/>
          <a:p>
            <a:endParaRPr lang="fr-FR"/>
          </a:p>
        </p:txBody>
      </p:sp>
      <p:sp>
        <p:nvSpPr>
          <p:cNvPr id="6" name="Shape 4"/>
          <p:cNvSpPr/>
          <p:nvPr/>
        </p:nvSpPr>
        <p:spPr>
          <a:xfrm>
            <a:off x="0" y="5088636"/>
            <a:ext cx="9144000" cy="54864"/>
          </a:xfrm>
          <a:prstGeom prst="rect">
            <a:avLst/>
          </a:prstGeom>
          <a:solidFill>
            <a:srgbClr val="B9A26D"/>
          </a:solidFill>
          <a:ln>
            <a:solidFill>
              <a:srgbClr val="B9A26D"/>
            </a:solidFill>
          </a:ln>
        </p:spPr>
        <p:txBody>
          <a:bodyPr/>
          <a:lstStyle/>
          <a:p>
            <a:endParaRPr lang="fr-FR"/>
          </a:p>
        </p:txBody>
      </p:sp>
      <p:sp>
        <p:nvSpPr>
          <p:cNvPr id="7" name="Shape 5"/>
          <p:cNvSpPr/>
          <p:nvPr/>
        </p:nvSpPr>
        <p:spPr>
          <a:xfrm>
            <a:off x="411480" y="256032"/>
            <a:ext cx="1554480" cy="228600"/>
          </a:xfrm>
          <a:prstGeom prst="rect">
            <a:avLst/>
          </a:prstGeom>
          <a:solidFill>
            <a:srgbClr val="B9A26D"/>
          </a:solidFill>
        </p:spPr>
        <p:txBody>
          <a:bodyPr/>
          <a:lstStyle/>
          <a:p>
            <a:endParaRPr lang="fr-FR"/>
          </a:p>
        </p:txBody>
      </p:sp>
      <p:sp>
        <p:nvSpPr>
          <p:cNvPr id="8" name="Text 6"/>
          <p:cNvSpPr/>
          <p:nvPr/>
        </p:nvSpPr>
        <p:spPr>
          <a:xfrm>
            <a:off x="411480" y="256032"/>
            <a:ext cx="1459523" cy="228600"/>
          </a:xfrm>
          <a:prstGeom prst="rect">
            <a:avLst/>
          </a:prstGeom>
          <a:noFill/>
        </p:spPr>
        <p:txBody>
          <a:bodyPr wrap="square" lIns="0" tIns="0" rIns="0" bIns="0" rtlCol="0" anchor="ctr"/>
          <a:lstStyle/>
          <a:p>
            <a:pPr marL="0" indent="0" algn="ctr">
              <a:buNone/>
            </a:pPr>
            <a:r>
              <a:rPr lang="en-US" b="1" dirty="0">
                <a:solidFill>
                  <a:srgbClr val="050D1A"/>
                </a:solidFill>
                <a:highlight>
                  <a:srgbClr val="B9A26D"/>
                </a:highlight>
                <a:latin typeface="Calibri" panose="020F0502020204030204" pitchFamily="34" charset="0"/>
                <a:ea typeface="Calibri" panose="020F0502020204030204" pitchFamily="34" charset="-122"/>
                <a:cs typeface="Calibri" panose="020F0502020204030204" pitchFamily="34" charset="-120"/>
              </a:rPr>
              <a:t>CONCLUSIONS</a:t>
            </a:r>
            <a:endParaRPr lang="en-US" dirty="0">
              <a:highlight>
                <a:srgbClr val="B9A26D"/>
              </a:highlight>
            </a:endParaRPr>
          </a:p>
        </p:txBody>
      </p:sp>
      <p:sp>
        <p:nvSpPr>
          <p:cNvPr id="9" name="Text 7"/>
          <p:cNvSpPr/>
          <p:nvPr/>
        </p:nvSpPr>
        <p:spPr>
          <a:xfrm>
            <a:off x="411480" y="548640"/>
            <a:ext cx="8321040" cy="438912"/>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Bilan &amp; Perspectives</a:t>
            </a:r>
            <a:endParaRPr lang="en-US" sz="2200" dirty="0"/>
          </a:p>
        </p:txBody>
      </p:sp>
      <p:sp>
        <p:nvSpPr>
          <p:cNvPr id="10" name="Shape 8"/>
          <p:cNvSpPr/>
          <p:nvPr/>
        </p:nvSpPr>
        <p:spPr>
          <a:xfrm>
            <a:off x="411480" y="1115568"/>
            <a:ext cx="4023360" cy="1353312"/>
          </a:xfrm>
          <a:prstGeom prst="rect">
            <a:avLst/>
          </a:prstGeom>
          <a:solidFill>
            <a:srgbClr val="0F1E36"/>
          </a:solidFill>
          <a:ln w="6350">
            <a:solidFill>
              <a:srgbClr val="B9A26D"/>
            </a:solidFill>
            <a:prstDash val="solid"/>
          </a:ln>
        </p:spPr>
        <p:txBody>
          <a:bodyPr/>
          <a:lstStyle/>
          <a:p>
            <a:endParaRPr lang="fr-FR"/>
          </a:p>
        </p:txBody>
      </p:sp>
      <p:sp>
        <p:nvSpPr>
          <p:cNvPr id="11" name="Shape 9"/>
          <p:cNvSpPr/>
          <p:nvPr/>
        </p:nvSpPr>
        <p:spPr>
          <a:xfrm>
            <a:off x="411480" y="1115568"/>
            <a:ext cx="4023360" cy="91440"/>
          </a:xfrm>
          <a:prstGeom prst="rect">
            <a:avLst/>
          </a:prstGeom>
          <a:solidFill>
            <a:srgbClr val="B9A26D">
              <a:alpha val="40000"/>
            </a:srgbClr>
          </a:solidFill>
          <a:ln>
            <a:solidFill>
              <a:srgbClr val="B9A26D"/>
            </a:solidFill>
          </a:ln>
        </p:spPr>
        <p:txBody>
          <a:bodyPr/>
          <a:lstStyle/>
          <a:p>
            <a:endParaRPr lang="fr-FR"/>
          </a:p>
        </p:txBody>
      </p:sp>
      <p:sp>
        <p:nvSpPr>
          <p:cNvPr id="12" name="Text 10"/>
          <p:cNvSpPr/>
          <p:nvPr/>
        </p:nvSpPr>
        <p:spPr>
          <a:xfrm>
            <a:off x="576072" y="1252728"/>
            <a:ext cx="356616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Simulation validée</a:t>
            </a:r>
            <a:endParaRPr lang="en-US" sz="1200" dirty="0">
              <a:solidFill>
                <a:srgbClr val="B9A26D"/>
              </a:solidFill>
            </a:endParaRPr>
          </a:p>
        </p:txBody>
      </p:sp>
      <p:sp>
        <p:nvSpPr>
          <p:cNvPr id="13" name="Text 11"/>
          <p:cNvSpPr/>
          <p:nvPr/>
        </p:nvSpPr>
        <p:spPr>
          <a:xfrm>
            <a:off x="576072" y="1572768"/>
            <a:ext cx="3566160" cy="80467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Les 3 cas démontrent clairement l'impact de l'intrication : fidélité 0.98 avec encodage holographique vs 0.51 sans structure.</a:t>
            </a:r>
            <a:endParaRPr lang="en-US" sz="1200" dirty="0"/>
          </a:p>
        </p:txBody>
      </p:sp>
      <p:sp>
        <p:nvSpPr>
          <p:cNvPr id="14" name="Shape 12"/>
          <p:cNvSpPr/>
          <p:nvPr/>
        </p:nvSpPr>
        <p:spPr>
          <a:xfrm>
            <a:off x="4617720" y="1115568"/>
            <a:ext cx="4023360" cy="1353312"/>
          </a:xfrm>
          <a:prstGeom prst="rect">
            <a:avLst/>
          </a:prstGeom>
          <a:solidFill>
            <a:srgbClr val="0F1E36"/>
          </a:solidFill>
          <a:ln w="6350">
            <a:solidFill>
              <a:srgbClr val="B9A26D"/>
            </a:solidFill>
            <a:prstDash val="solid"/>
          </a:ln>
        </p:spPr>
        <p:txBody>
          <a:bodyPr/>
          <a:lstStyle/>
          <a:p>
            <a:endParaRPr lang="fr-FR"/>
          </a:p>
        </p:txBody>
      </p:sp>
      <p:sp>
        <p:nvSpPr>
          <p:cNvPr id="15" name="Shape 13"/>
          <p:cNvSpPr/>
          <p:nvPr/>
        </p:nvSpPr>
        <p:spPr>
          <a:xfrm>
            <a:off x="4617720" y="1115568"/>
            <a:ext cx="4023360" cy="91440"/>
          </a:xfrm>
          <a:prstGeom prst="rect">
            <a:avLst/>
          </a:prstGeom>
          <a:solidFill>
            <a:srgbClr val="B9A26D">
              <a:alpha val="40000"/>
            </a:srgbClr>
          </a:solidFill>
          <a:ln>
            <a:solidFill>
              <a:srgbClr val="B9A26D"/>
            </a:solidFill>
          </a:ln>
        </p:spPr>
        <p:txBody>
          <a:bodyPr/>
          <a:lstStyle/>
          <a:p>
            <a:endParaRPr lang="fr-FR"/>
          </a:p>
        </p:txBody>
      </p:sp>
      <p:sp>
        <p:nvSpPr>
          <p:cNvPr id="16" name="Text 14"/>
          <p:cNvSpPr/>
          <p:nvPr/>
        </p:nvSpPr>
        <p:spPr>
          <a:xfrm>
            <a:off x="4782312" y="1252728"/>
            <a:ext cx="356616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Principe holographique</a:t>
            </a:r>
            <a:endParaRPr lang="en-US" sz="1200" dirty="0">
              <a:solidFill>
                <a:srgbClr val="B9A26D"/>
              </a:solidFill>
            </a:endParaRPr>
          </a:p>
        </p:txBody>
      </p:sp>
      <p:sp>
        <p:nvSpPr>
          <p:cNvPr id="17" name="Text 15"/>
          <p:cNvSpPr/>
          <p:nvPr/>
        </p:nvSpPr>
        <p:spPr>
          <a:xfrm>
            <a:off x="4782312" y="1572768"/>
            <a:ext cx="3566160" cy="80467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L'information distribuée non-localement via l'intrication est plus robuste — principe fondamental des architectures MERA.</a:t>
            </a:r>
            <a:endParaRPr lang="en-US" sz="1200" dirty="0"/>
          </a:p>
        </p:txBody>
      </p:sp>
      <p:sp>
        <p:nvSpPr>
          <p:cNvPr id="18" name="Shape 16"/>
          <p:cNvSpPr/>
          <p:nvPr/>
        </p:nvSpPr>
        <p:spPr>
          <a:xfrm>
            <a:off x="411480" y="2596896"/>
            <a:ext cx="4023360" cy="1353312"/>
          </a:xfrm>
          <a:prstGeom prst="rect">
            <a:avLst/>
          </a:prstGeom>
          <a:solidFill>
            <a:srgbClr val="0F1E36"/>
          </a:solidFill>
          <a:ln w="6350">
            <a:solidFill>
              <a:srgbClr val="B9A26D"/>
            </a:solidFill>
            <a:prstDash val="solid"/>
          </a:ln>
        </p:spPr>
        <p:txBody>
          <a:bodyPr/>
          <a:lstStyle/>
          <a:p>
            <a:endParaRPr lang="fr-FR"/>
          </a:p>
        </p:txBody>
      </p:sp>
      <p:sp>
        <p:nvSpPr>
          <p:cNvPr id="19" name="Shape 17"/>
          <p:cNvSpPr/>
          <p:nvPr/>
        </p:nvSpPr>
        <p:spPr>
          <a:xfrm>
            <a:off x="411480" y="2596896"/>
            <a:ext cx="4023360" cy="91440"/>
          </a:xfrm>
          <a:prstGeom prst="rect">
            <a:avLst/>
          </a:prstGeom>
          <a:solidFill>
            <a:srgbClr val="B9A26D">
              <a:alpha val="40000"/>
            </a:srgbClr>
          </a:solidFill>
        </p:spPr>
        <p:txBody>
          <a:bodyPr/>
          <a:lstStyle/>
          <a:p>
            <a:endParaRPr lang="fr-FR"/>
          </a:p>
        </p:txBody>
      </p:sp>
      <p:sp>
        <p:nvSpPr>
          <p:cNvPr id="20" name="Text 18"/>
          <p:cNvSpPr/>
          <p:nvPr/>
        </p:nvSpPr>
        <p:spPr>
          <a:xfrm>
            <a:off x="576072" y="2734056"/>
            <a:ext cx="356616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Réseaux quantiques robustes</a:t>
            </a:r>
            <a:endParaRPr lang="en-US" sz="1200" dirty="0">
              <a:solidFill>
                <a:srgbClr val="B9A26D"/>
              </a:solidFill>
            </a:endParaRPr>
          </a:p>
        </p:txBody>
      </p:sp>
      <p:sp>
        <p:nvSpPr>
          <p:cNvPr id="21" name="Text 19"/>
          <p:cNvSpPr/>
          <p:nvPr/>
        </p:nvSpPr>
        <p:spPr>
          <a:xfrm>
            <a:off x="576072" y="3054096"/>
            <a:ext cx="3566160" cy="80467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Les approches holographiques représentent une piste prometteuse pour la protection contre le bruit dans les futurs réseaux quantiques.</a:t>
            </a:r>
            <a:endParaRPr lang="en-US" sz="1200" dirty="0"/>
          </a:p>
        </p:txBody>
      </p:sp>
      <p:sp>
        <p:nvSpPr>
          <p:cNvPr id="22" name="Shape 20"/>
          <p:cNvSpPr/>
          <p:nvPr/>
        </p:nvSpPr>
        <p:spPr>
          <a:xfrm>
            <a:off x="4617720" y="2596896"/>
            <a:ext cx="4023360" cy="1353312"/>
          </a:xfrm>
          <a:prstGeom prst="rect">
            <a:avLst/>
          </a:prstGeom>
          <a:solidFill>
            <a:srgbClr val="0F1E36"/>
          </a:solidFill>
          <a:ln w="6350">
            <a:solidFill>
              <a:srgbClr val="B9A26D"/>
            </a:solidFill>
            <a:prstDash val="solid"/>
          </a:ln>
        </p:spPr>
        <p:txBody>
          <a:bodyPr/>
          <a:lstStyle/>
          <a:p>
            <a:endParaRPr lang="fr-FR"/>
          </a:p>
        </p:txBody>
      </p:sp>
      <p:sp>
        <p:nvSpPr>
          <p:cNvPr id="23" name="Shape 21"/>
          <p:cNvSpPr/>
          <p:nvPr/>
        </p:nvSpPr>
        <p:spPr>
          <a:xfrm>
            <a:off x="4617720" y="2596896"/>
            <a:ext cx="4023360" cy="91440"/>
          </a:xfrm>
          <a:prstGeom prst="rect">
            <a:avLst/>
          </a:prstGeom>
          <a:solidFill>
            <a:srgbClr val="B9A26D">
              <a:alpha val="40000"/>
            </a:srgbClr>
          </a:solidFill>
          <a:ln>
            <a:solidFill>
              <a:srgbClr val="B9A26D"/>
            </a:solidFill>
          </a:ln>
        </p:spPr>
        <p:txBody>
          <a:bodyPr/>
          <a:lstStyle/>
          <a:p>
            <a:endParaRPr lang="fr-FR"/>
          </a:p>
        </p:txBody>
      </p:sp>
      <p:sp>
        <p:nvSpPr>
          <p:cNvPr id="24" name="Text 22"/>
          <p:cNvSpPr/>
          <p:nvPr/>
        </p:nvSpPr>
        <p:spPr>
          <a:xfrm>
            <a:off x="4782312" y="2734056"/>
            <a:ext cx="3566160" cy="274320"/>
          </a:xfrm>
          <a:prstGeom prst="rect">
            <a:avLst/>
          </a:prstGeom>
          <a:noFill/>
        </p:spPr>
        <p:txBody>
          <a:bodyPr wrap="square" lIns="0" tIns="0" rIns="0" bIns="0" rtlCol="0" anchor="ctr"/>
          <a:lstStyle/>
          <a:p>
            <a:pPr marL="0" indent="0">
              <a:buNone/>
            </a:pPr>
            <a:r>
              <a:rPr lang="en-US" sz="1200" b="1" dirty="0">
                <a:solidFill>
                  <a:srgbClr val="B9A26D"/>
                </a:solidFill>
                <a:latin typeface="Calibri" panose="020F0502020204030204" pitchFamily="34" charset="0"/>
                <a:ea typeface="Calibri" panose="020F0502020204030204" pitchFamily="34" charset="-122"/>
                <a:cs typeface="Calibri" panose="020F0502020204030204" pitchFamily="34" charset="-120"/>
              </a:rPr>
              <a:t>🚀  Perspectives de thèse</a:t>
            </a:r>
            <a:endParaRPr lang="en-US" sz="1200" dirty="0">
              <a:solidFill>
                <a:srgbClr val="B9A26D"/>
              </a:solidFill>
            </a:endParaRPr>
          </a:p>
        </p:txBody>
      </p:sp>
      <p:sp>
        <p:nvSpPr>
          <p:cNvPr id="25" name="Text 23"/>
          <p:cNvSpPr/>
          <p:nvPr/>
        </p:nvSpPr>
        <p:spPr>
          <a:xfrm>
            <a:off x="4782312" y="3054096"/>
            <a:ext cx="3566160" cy="804672"/>
          </a:xfrm>
          <a:prstGeom prst="rect">
            <a:avLst/>
          </a:prstGeom>
          <a:noFill/>
        </p:spPr>
        <p:txBody>
          <a:bodyPr wrap="square" lIns="0" tIns="0" rIns="0" bIns="0" rtlCol="0" anchor="ctr"/>
          <a:lstStyle/>
          <a:p>
            <a:pPr marL="0" indent="0">
              <a:buNone/>
            </a:pPr>
            <a:r>
              <a:rPr lang="en-US" sz="1200" dirty="0">
                <a:solidFill>
                  <a:srgbClr val="E2F4FF"/>
                </a:solidFill>
                <a:latin typeface="Calibri" panose="020F0502020204030204" pitchFamily="34" charset="0"/>
                <a:ea typeface="Calibri" panose="020F0502020204030204" pitchFamily="34" charset="-122"/>
                <a:cs typeface="Calibri" panose="020F0502020204030204" pitchFamily="34" charset="-120"/>
              </a:rPr>
              <a:t>Extension à des circuits MERA à N qubits sous Qiskit, modèles de bruit réalistes, et analyse de fidélité pour réseaux de communication.</a:t>
            </a:r>
            <a:endParaRPr lang="en-US" sz="1200" dirty="0"/>
          </a:p>
        </p:txBody>
      </p:sp>
      <p:sp>
        <p:nvSpPr>
          <p:cNvPr id="26" name="Shape 24"/>
          <p:cNvSpPr/>
          <p:nvPr/>
        </p:nvSpPr>
        <p:spPr>
          <a:xfrm>
            <a:off x="411480" y="4160520"/>
            <a:ext cx="8321040" cy="868680"/>
          </a:xfrm>
          <a:prstGeom prst="rect">
            <a:avLst/>
          </a:prstGeom>
          <a:solidFill>
            <a:srgbClr val="0C2240"/>
          </a:solidFill>
          <a:ln w="12700">
            <a:solidFill>
              <a:srgbClr val="B9A26D"/>
            </a:solidFill>
            <a:prstDash val="solid"/>
          </a:ln>
        </p:spPr>
        <p:txBody>
          <a:bodyPr/>
          <a:lstStyle/>
          <a:p>
            <a:endParaRPr lang="fr-FR"/>
          </a:p>
        </p:txBody>
      </p:sp>
      <p:sp>
        <p:nvSpPr>
          <p:cNvPr id="27" name="Text 25"/>
          <p:cNvSpPr/>
          <p:nvPr/>
        </p:nvSpPr>
        <p:spPr>
          <a:xfrm>
            <a:off x="502920" y="4133088"/>
            <a:ext cx="365760" cy="457200"/>
          </a:xfrm>
          <a:prstGeom prst="rect">
            <a:avLst/>
          </a:prstGeom>
          <a:noFill/>
        </p:spPr>
        <p:txBody>
          <a:bodyPr wrap="square" lIns="0" tIns="0" rIns="0" bIns="0" rtlCol="0" anchor="ctr"/>
          <a:lstStyle/>
          <a:p>
            <a:pPr marL="0" indent="0">
              <a:buNone/>
            </a:pPr>
            <a:r>
              <a:rPr lang="en-US" sz="3200" b="1" dirty="0">
                <a:solidFill>
                  <a:srgbClr val="00E5FF"/>
                </a:solidFill>
                <a:latin typeface="Georgia" panose="02040502050405020303" pitchFamily="34" charset="0"/>
                <a:ea typeface="Georgia" panose="02040502050405020303" pitchFamily="34" charset="-122"/>
                <a:cs typeface="Georgia" panose="02040502050405020303" pitchFamily="34" charset="-120"/>
              </a:rPr>
              <a:t>"</a:t>
            </a:r>
            <a:endParaRPr lang="en-US" sz="3200" dirty="0"/>
          </a:p>
        </p:txBody>
      </p:sp>
      <p:sp>
        <p:nvSpPr>
          <p:cNvPr id="28" name="Text 26"/>
          <p:cNvSpPr/>
          <p:nvPr/>
        </p:nvSpPr>
        <p:spPr>
          <a:xfrm>
            <a:off x="822960" y="4233672"/>
            <a:ext cx="7680960" cy="502920"/>
          </a:xfrm>
          <a:prstGeom prst="rect">
            <a:avLst/>
          </a:prstGeom>
          <a:noFill/>
        </p:spPr>
        <p:txBody>
          <a:bodyPr wrap="square" lIns="0" tIns="0" rIns="0" bIns="0" rtlCol="0" anchor="ctr"/>
          <a:lstStyle/>
          <a:p>
            <a:pPr marL="0" indent="0">
              <a:buNone/>
            </a:pPr>
            <a:r>
              <a:rPr lang="en-US" sz="1200" i="1" dirty="0">
                <a:solidFill>
                  <a:srgbClr val="E2F4FF"/>
                </a:solidFill>
                <a:latin typeface="Calibri" panose="020F0502020204030204" pitchFamily="34" charset="0"/>
                <a:ea typeface="Calibri" panose="020F0502020204030204" pitchFamily="34" charset="-122"/>
                <a:cs typeface="Calibri" panose="020F0502020204030204" pitchFamily="34" charset="-120"/>
              </a:rPr>
              <a:t>Les simulations Qiskit permettent de comprendre, tester et développer les architectures holographiques qui façonneront les futurs réseaux quantiques mondiaux.</a:t>
            </a:r>
            <a:endParaRPr lang="en-US" sz="1200" dirty="0"/>
          </a:p>
        </p:txBody>
      </p:sp>
      <p:sp>
        <p:nvSpPr>
          <p:cNvPr id="29" name="Text 27"/>
          <p:cNvSpPr/>
          <p:nvPr/>
        </p:nvSpPr>
        <p:spPr>
          <a:xfrm>
            <a:off x="6858000" y="4745736"/>
            <a:ext cx="1828800" cy="201168"/>
          </a:xfrm>
          <a:prstGeom prst="rect">
            <a:avLst/>
          </a:prstGeom>
          <a:noFill/>
        </p:spPr>
        <p:txBody>
          <a:bodyPr wrap="square" lIns="0" tIns="0" rIns="0" bIns="0" rtlCol="0" anchor="ctr"/>
          <a:lstStyle/>
          <a:p>
            <a:pPr marL="0" indent="0" algn="r">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 Nawel Sahli</a:t>
            </a:r>
            <a:r>
              <a:rPr lang="en-US" sz="900">
                <a:solidFill>
                  <a:srgbClr val="94A3B8"/>
                </a:solidFill>
                <a:latin typeface="Calibri" panose="020F0502020204030204" pitchFamily="34" charset="0"/>
                <a:ea typeface="Calibri" panose="020F0502020204030204" pitchFamily="34" charset="-122"/>
                <a:cs typeface="Calibri" panose="020F0502020204030204" pitchFamily="34" charset="-120"/>
              </a:rPr>
              <a:t>, 2026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828800" y="-1828800"/>
            <a:ext cx="6400800" cy="6400800"/>
          </a:xfrm>
          <a:prstGeom prst="ellipse">
            <a:avLst/>
          </a:prstGeom>
          <a:solidFill>
            <a:srgbClr val="0D1B4B">
              <a:alpha val="50000"/>
            </a:srgbClr>
          </a:solidFill>
          <a:ln w="12700">
            <a:solidFill>
              <a:srgbClr val="B9A26D"/>
            </a:solidFill>
            <a:prstDash val="solid"/>
          </a:ln>
        </p:spPr>
        <p:txBody>
          <a:bodyPr/>
          <a:lstStyle/>
          <a:p>
            <a:endParaRPr lang="fr-FR"/>
          </a:p>
        </p:txBody>
      </p:sp>
      <p:sp>
        <p:nvSpPr>
          <p:cNvPr id="3" name="Shape 1"/>
          <p:cNvSpPr/>
          <p:nvPr/>
        </p:nvSpPr>
        <p:spPr>
          <a:xfrm>
            <a:off x="5486400" y="914400"/>
            <a:ext cx="4572000" cy="4572000"/>
          </a:xfrm>
          <a:prstGeom prst="ellipse">
            <a:avLst/>
          </a:prstGeom>
          <a:solidFill>
            <a:srgbClr val="0D1B4B">
              <a:alpha val="60000"/>
            </a:srgbClr>
          </a:solidFill>
          <a:ln w="12700">
            <a:solidFill>
              <a:srgbClr val="B9A26D"/>
            </a:solidFill>
            <a:prstDash val="solid"/>
          </a:ln>
        </p:spPr>
        <p:txBody>
          <a:bodyPr/>
          <a:lstStyle/>
          <a:p>
            <a:endParaRPr lang="fr-FR"/>
          </a:p>
        </p:txBody>
      </p:sp>
      <p:sp>
        <p:nvSpPr>
          <p:cNvPr id="4" name="Text 2"/>
          <p:cNvSpPr/>
          <p:nvPr/>
        </p:nvSpPr>
        <p:spPr>
          <a:xfrm>
            <a:off x="731520" y="822960"/>
            <a:ext cx="7680960" cy="731520"/>
          </a:xfrm>
          <a:prstGeom prst="rect">
            <a:avLst/>
          </a:prstGeom>
          <a:noFill/>
          <a:ln/>
        </p:spPr>
        <p:txBody>
          <a:bodyPr wrap="square" rtlCol="0" anchor="ctr"/>
          <a:lstStyle/>
          <a:p>
            <a:pPr marL="0" indent="0" algn="ctr">
              <a:buNone/>
            </a:pPr>
            <a:r>
              <a:rPr lang="en-US" sz="3000" b="1" kern="0" spc="200" dirty="0">
                <a:solidFill>
                  <a:srgbClr val="B9A26D"/>
                </a:solidFill>
                <a:latin typeface="Calibri" pitchFamily="34" charset="0"/>
                <a:ea typeface="Calibri" pitchFamily="34" charset="-122"/>
                <a:cs typeface="Calibri" pitchFamily="34" charset="-120"/>
              </a:rPr>
              <a:t>MERCI DE VOTRE ATTENTION</a:t>
            </a:r>
            <a:endParaRPr lang="en-US" sz="3000" dirty="0">
              <a:solidFill>
                <a:srgbClr val="B9A26D"/>
              </a:solidFill>
            </a:endParaRPr>
          </a:p>
        </p:txBody>
      </p:sp>
      <p:sp>
        <p:nvSpPr>
          <p:cNvPr id="5" name="Shape 3"/>
          <p:cNvSpPr/>
          <p:nvPr/>
        </p:nvSpPr>
        <p:spPr>
          <a:xfrm>
            <a:off x="2743200" y="1600200"/>
            <a:ext cx="3657600" cy="45720"/>
          </a:xfrm>
          <a:prstGeom prst="rect">
            <a:avLst/>
          </a:prstGeom>
          <a:solidFill>
            <a:srgbClr val="B9A26D"/>
          </a:solidFill>
          <a:ln w="12700">
            <a:solidFill>
              <a:srgbClr val="B9A26D"/>
            </a:solidFill>
            <a:prstDash val="solid"/>
          </a:ln>
        </p:spPr>
        <p:txBody>
          <a:bodyPr/>
          <a:lstStyle/>
          <a:p>
            <a:endParaRPr lang="fr-FR"/>
          </a:p>
        </p:txBody>
      </p:sp>
      <p:sp>
        <p:nvSpPr>
          <p:cNvPr id="6" name="Shape 4"/>
          <p:cNvSpPr/>
          <p:nvPr/>
        </p:nvSpPr>
        <p:spPr>
          <a:xfrm>
            <a:off x="1097280" y="1874520"/>
            <a:ext cx="2011680" cy="1005840"/>
          </a:xfrm>
          <a:prstGeom prst="rect">
            <a:avLst/>
          </a:prstGeom>
          <a:solidFill>
            <a:srgbClr val="111B44"/>
          </a:solidFill>
          <a:ln w="1270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sp>
        <p:nvSpPr>
          <p:cNvPr id="7" name="Text 5"/>
          <p:cNvSpPr/>
          <p:nvPr/>
        </p:nvSpPr>
        <p:spPr>
          <a:xfrm>
            <a:off x="1097280" y="1920240"/>
            <a:ext cx="2011680" cy="502920"/>
          </a:xfrm>
          <a:prstGeom prst="rect">
            <a:avLst/>
          </a:prstGeom>
          <a:noFill/>
          <a:ln/>
        </p:spPr>
        <p:txBody>
          <a:bodyPr wrap="square" rtlCol="0" anchor="ctr"/>
          <a:lstStyle/>
          <a:p>
            <a:pPr marL="0" indent="0" algn="ctr">
              <a:buNone/>
            </a:pPr>
            <a:r>
              <a:rPr lang="en-US" sz="2800" b="1" dirty="0">
                <a:solidFill>
                  <a:srgbClr val="B9A26D"/>
                </a:solidFill>
                <a:latin typeface="Calibri" pitchFamily="34" charset="0"/>
                <a:ea typeface="Calibri" pitchFamily="34" charset="-122"/>
                <a:cs typeface="Calibri" pitchFamily="34" charset="-120"/>
              </a:rPr>
              <a:t>3</a:t>
            </a:r>
            <a:endParaRPr lang="en-US" sz="2800" dirty="0">
              <a:solidFill>
                <a:srgbClr val="B9A26D"/>
              </a:solidFill>
            </a:endParaRPr>
          </a:p>
        </p:txBody>
      </p:sp>
      <p:sp>
        <p:nvSpPr>
          <p:cNvPr id="8" name="Text 6"/>
          <p:cNvSpPr/>
          <p:nvPr/>
        </p:nvSpPr>
        <p:spPr>
          <a:xfrm>
            <a:off x="1097280" y="2423160"/>
            <a:ext cx="2011680" cy="384048"/>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Cas simulés</a:t>
            </a:r>
            <a:endParaRPr lang="en-US" sz="900" dirty="0"/>
          </a:p>
          <a:p>
            <a:pPr marL="0" indent="0" algn="ctr">
              <a:buNone/>
            </a:pPr>
            <a:r>
              <a:rPr lang="en-US" sz="900" dirty="0">
                <a:solidFill>
                  <a:srgbClr val="8899BB"/>
                </a:solidFill>
                <a:latin typeface="Calibri" pitchFamily="34" charset="0"/>
                <a:ea typeface="Calibri" pitchFamily="34" charset="-122"/>
                <a:cs typeface="Calibri" pitchFamily="34" charset="-120"/>
              </a:rPr>
              <a:t>avec Qiskit</a:t>
            </a:r>
            <a:endParaRPr lang="en-US" sz="900" dirty="0"/>
          </a:p>
        </p:txBody>
      </p:sp>
      <p:sp>
        <p:nvSpPr>
          <p:cNvPr id="9" name="Shape 7"/>
          <p:cNvSpPr/>
          <p:nvPr/>
        </p:nvSpPr>
        <p:spPr>
          <a:xfrm>
            <a:off x="3566160" y="1874520"/>
            <a:ext cx="2011680" cy="1005840"/>
          </a:xfrm>
          <a:prstGeom prst="rect">
            <a:avLst/>
          </a:prstGeom>
          <a:solidFill>
            <a:srgbClr val="111B44"/>
          </a:solidFill>
          <a:ln w="1270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sp>
        <p:nvSpPr>
          <p:cNvPr id="10" name="Text 8"/>
          <p:cNvSpPr/>
          <p:nvPr/>
        </p:nvSpPr>
        <p:spPr>
          <a:xfrm>
            <a:off x="3566160" y="1920240"/>
            <a:ext cx="2011680" cy="502920"/>
          </a:xfrm>
          <a:prstGeom prst="rect">
            <a:avLst/>
          </a:prstGeom>
          <a:noFill/>
          <a:ln/>
        </p:spPr>
        <p:txBody>
          <a:bodyPr wrap="square" rtlCol="0" anchor="ctr"/>
          <a:lstStyle/>
          <a:p>
            <a:pPr marL="0" indent="0" algn="ctr">
              <a:buNone/>
            </a:pPr>
            <a:r>
              <a:rPr lang="en-US" sz="2800" b="1" dirty="0">
                <a:solidFill>
                  <a:srgbClr val="B9A26D"/>
                </a:solidFill>
                <a:latin typeface="Calibri" pitchFamily="34" charset="0"/>
                <a:ea typeface="Calibri" pitchFamily="34" charset="-122"/>
                <a:cs typeface="Calibri" pitchFamily="34" charset="-120"/>
              </a:rPr>
              <a:t>98%</a:t>
            </a:r>
            <a:endParaRPr lang="en-US" sz="2800" dirty="0">
              <a:solidFill>
                <a:srgbClr val="B9A26D"/>
              </a:solidFill>
            </a:endParaRPr>
          </a:p>
        </p:txBody>
      </p:sp>
      <p:sp>
        <p:nvSpPr>
          <p:cNvPr id="11" name="Text 9"/>
          <p:cNvSpPr/>
          <p:nvPr/>
        </p:nvSpPr>
        <p:spPr>
          <a:xfrm>
            <a:off x="3566160" y="2423160"/>
            <a:ext cx="2011680" cy="384048"/>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Fidélité</a:t>
            </a:r>
            <a:endParaRPr lang="en-US" sz="900" dirty="0"/>
          </a:p>
          <a:p>
            <a:pPr marL="0" indent="0" algn="ctr">
              <a:buNone/>
            </a:pPr>
            <a:r>
              <a:rPr lang="en-US" sz="900" dirty="0">
                <a:solidFill>
                  <a:srgbClr val="8899BB"/>
                </a:solidFill>
                <a:latin typeface="Calibri" pitchFamily="34" charset="0"/>
                <a:ea typeface="Calibri" pitchFamily="34" charset="-122"/>
                <a:cs typeface="Calibri" pitchFamily="34" charset="-120"/>
              </a:rPr>
              <a:t>entrelacement</a:t>
            </a:r>
            <a:endParaRPr lang="en-US" sz="900" dirty="0"/>
          </a:p>
        </p:txBody>
      </p:sp>
      <p:sp>
        <p:nvSpPr>
          <p:cNvPr id="12" name="Shape 10"/>
          <p:cNvSpPr/>
          <p:nvPr/>
        </p:nvSpPr>
        <p:spPr>
          <a:xfrm>
            <a:off x="6035040" y="1874520"/>
            <a:ext cx="2011680" cy="1005840"/>
          </a:xfrm>
          <a:prstGeom prst="rect">
            <a:avLst/>
          </a:prstGeom>
          <a:solidFill>
            <a:srgbClr val="111B44"/>
          </a:solidFill>
          <a:ln w="12700">
            <a:solidFill>
              <a:srgbClr val="B9A26D"/>
            </a:solidFill>
            <a:prstDash val="solid"/>
          </a:ln>
          <a:effectLst>
            <a:outerShdw blurRad="152400" dist="50800" dir="8100000" algn="bl" rotWithShape="0">
              <a:srgbClr val="000000">
                <a:alpha val="35000"/>
              </a:srgbClr>
            </a:outerShdw>
          </a:effectLst>
        </p:spPr>
        <p:txBody>
          <a:bodyPr/>
          <a:lstStyle/>
          <a:p>
            <a:endParaRPr lang="fr-FR"/>
          </a:p>
        </p:txBody>
      </p:sp>
      <p:sp>
        <p:nvSpPr>
          <p:cNvPr id="13" name="Text 11"/>
          <p:cNvSpPr/>
          <p:nvPr/>
        </p:nvSpPr>
        <p:spPr>
          <a:xfrm>
            <a:off x="6035040" y="1920240"/>
            <a:ext cx="2011680" cy="502920"/>
          </a:xfrm>
          <a:prstGeom prst="rect">
            <a:avLst/>
          </a:prstGeom>
          <a:noFill/>
          <a:ln/>
        </p:spPr>
        <p:txBody>
          <a:bodyPr wrap="square" rtlCol="0" anchor="ctr"/>
          <a:lstStyle/>
          <a:p>
            <a:pPr marL="0" indent="0" algn="ctr">
              <a:buNone/>
            </a:pPr>
            <a:r>
              <a:rPr lang="en-US" sz="2800" b="1" dirty="0">
                <a:solidFill>
                  <a:srgbClr val="B9A26D"/>
                </a:solidFill>
                <a:latin typeface="Calibri" pitchFamily="34" charset="0"/>
                <a:ea typeface="Calibri" pitchFamily="34" charset="-122"/>
                <a:cs typeface="Calibri" pitchFamily="34" charset="-120"/>
              </a:rPr>
              <a:t>1.9×</a:t>
            </a:r>
            <a:endParaRPr lang="en-US" sz="2800" dirty="0">
              <a:solidFill>
                <a:srgbClr val="B9A26D"/>
              </a:solidFill>
            </a:endParaRPr>
          </a:p>
        </p:txBody>
      </p:sp>
      <p:sp>
        <p:nvSpPr>
          <p:cNvPr id="14" name="Text 12"/>
          <p:cNvSpPr/>
          <p:nvPr/>
        </p:nvSpPr>
        <p:spPr>
          <a:xfrm>
            <a:off x="6035040" y="2423160"/>
            <a:ext cx="2011680" cy="384048"/>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Amélioration</a:t>
            </a:r>
            <a:endParaRPr lang="en-US" sz="900" dirty="0"/>
          </a:p>
          <a:p>
            <a:pPr marL="0" indent="0" algn="ctr">
              <a:buNone/>
            </a:pPr>
            <a:r>
              <a:rPr lang="en-US" sz="900" dirty="0">
                <a:solidFill>
                  <a:srgbClr val="8899BB"/>
                </a:solidFill>
                <a:latin typeface="Calibri" pitchFamily="34" charset="0"/>
                <a:ea typeface="Calibri" pitchFamily="34" charset="-122"/>
                <a:cs typeface="Calibri" pitchFamily="34" charset="-120"/>
              </a:rPr>
              <a:t>vs baseline</a:t>
            </a:r>
            <a:endParaRPr lang="en-US" sz="900" dirty="0"/>
          </a:p>
        </p:txBody>
      </p:sp>
      <p:sp>
        <p:nvSpPr>
          <p:cNvPr id="15" name="Text 13"/>
          <p:cNvSpPr/>
          <p:nvPr/>
        </p:nvSpPr>
        <p:spPr>
          <a:xfrm>
            <a:off x="914400" y="3108960"/>
            <a:ext cx="7315200" cy="502920"/>
          </a:xfrm>
          <a:prstGeom prst="rect">
            <a:avLst/>
          </a:prstGeom>
          <a:noFill/>
          <a:ln/>
        </p:spPr>
        <p:txBody>
          <a:bodyPr wrap="square" rtlCol="0" anchor="ctr"/>
          <a:lstStyle/>
          <a:p>
            <a:pPr marL="0" indent="0" algn="ctr">
              <a:buNone/>
            </a:pPr>
            <a:r>
              <a:rPr lang="en-US" sz="2000" b="1" dirty="0">
                <a:solidFill>
                  <a:srgbClr val="FFD166"/>
                </a:solidFill>
                <a:latin typeface="Calibri" pitchFamily="34" charset="0"/>
                <a:ea typeface="Calibri" pitchFamily="34" charset="-122"/>
                <a:cs typeface="Calibri" pitchFamily="34" charset="-120"/>
              </a:rPr>
              <a:t>Questions &amp; Discussion</a:t>
            </a:r>
            <a:endParaRPr lang="en-US" sz="2000" dirty="0"/>
          </a:p>
        </p:txBody>
      </p:sp>
      <p:sp>
        <p:nvSpPr>
          <p:cNvPr id="16" name="Shape 14"/>
          <p:cNvSpPr/>
          <p:nvPr/>
        </p:nvSpPr>
        <p:spPr>
          <a:xfrm>
            <a:off x="1828800" y="3749040"/>
            <a:ext cx="5486400" cy="1005840"/>
          </a:xfrm>
          <a:prstGeom prst="rect">
            <a:avLst/>
          </a:prstGeom>
          <a:solidFill>
            <a:srgbClr val="111B44"/>
          </a:solidFill>
          <a:ln w="12700">
            <a:solidFill>
              <a:srgbClr val="B9A26D"/>
            </a:solidFill>
            <a:prstDash val="solid"/>
          </a:ln>
        </p:spPr>
        <p:txBody>
          <a:bodyPr/>
          <a:lstStyle/>
          <a:p>
            <a:endParaRPr lang="fr-FR"/>
          </a:p>
        </p:txBody>
      </p:sp>
      <p:sp>
        <p:nvSpPr>
          <p:cNvPr id="17" name="Text 15"/>
          <p:cNvSpPr/>
          <p:nvPr/>
        </p:nvSpPr>
        <p:spPr>
          <a:xfrm>
            <a:off x="1828800" y="3794760"/>
            <a:ext cx="5486400" cy="914400"/>
          </a:xfrm>
          <a:prstGeom prst="rect">
            <a:avLst/>
          </a:prstGeom>
          <a:noFill/>
          <a:ln/>
        </p:spPr>
        <p:txBody>
          <a:bodyPr wrap="square" rtlCol="0" anchor="ctr"/>
          <a:lstStyle/>
          <a:p>
            <a:pPr algn="ctr"/>
            <a:r>
              <a:rPr lang="en-US" sz="1200" b="1" dirty="0">
                <a:solidFill>
                  <a:schemeClr val="bg1"/>
                </a:solidFill>
                <a:latin typeface="Calibri" pitchFamily="34" charset="0"/>
                <a:ea typeface="Calibri" pitchFamily="34" charset="-122"/>
                <a:cs typeface="Calibri" pitchFamily="34" charset="-120"/>
              </a:rPr>
              <a:t>Nawel
</a:t>
            </a:r>
            <a:r>
              <a:rPr lang="en-US" sz="1000" dirty="0" err="1">
                <a:solidFill>
                  <a:schemeClr val="bg1"/>
                </a:solidFill>
                <a:latin typeface="Calibri" pitchFamily="34" charset="0"/>
                <a:ea typeface="Calibri" pitchFamily="34" charset="-122"/>
                <a:cs typeface="Calibri" pitchFamily="34" charset="-120"/>
              </a:rPr>
              <a:t>Encadrant</a:t>
            </a:r>
            <a:r>
              <a:rPr lang="en-US" sz="1000" dirty="0">
                <a:solidFill>
                  <a:schemeClr val="bg1"/>
                </a:solidFill>
                <a:latin typeface="Calibri" pitchFamily="34" charset="0"/>
                <a:ea typeface="Calibri" pitchFamily="34" charset="-122"/>
                <a:cs typeface="Calibri" pitchFamily="34" charset="-120"/>
              </a:rPr>
              <a:t> : Prof. Kamel BESBES
</a:t>
            </a:r>
            <a:r>
              <a:rPr lang="en-US" sz="900" i="1" dirty="0" err="1">
                <a:solidFill>
                  <a:schemeClr val="bg1"/>
                </a:solidFill>
                <a:latin typeface="Calibri" pitchFamily="34" charset="0"/>
                <a:ea typeface="Calibri" pitchFamily="34" charset="-122"/>
                <a:cs typeface="Calibri" pitchFamily="34" charset="-120"/>
              </a:rPr>
              <a:t>Sujet</a:t>
            </a:r>
            <a:r>
              <a:rPr lang="en-US" sz="900" i="1" dirty="0">
                <a:solidFill>
                  <a:schemeClr val="bg1"/>
                </a:solidFill>
                <a:latin typeface="Calibri" pitchFamily="34" charset="0"/>
                <a:ea typeface="Calibri" pitchFamily="34" charset="-122"/>
                <a:cs typeface="Calibri" pitchFamily="34" charset="-120"/>
              </a:rPr>
              <a:t> : </a:t>
            </a:r>
            <a:r>
              <a:rPr lang="fr-FR" sz="900" dirty="0">
                <a:solidFill>
                  <a:schemeClr val="bg1"/>
                </a:solidFill>
              </a:rPr>
              <a:t>Conception de réseaux de communication quantiques par l’approche holographique </a:t>
            </a:r>
            <a:endParaRPr lang="en-US" sz="12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76.32000000000002,&quot;left&quot;:25.2,&quot;top&quot;:318.24,&quot;width&quot;:669.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76.32000000000002,&quot;left&quot;:25.2,&quot;top&quot;:318.24,&quot;width&quot;:669.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903</TotalTime>
  <Words>3058</Words>
  <Application>Microsoft Office PowerPoint</Application>
  <PresentationFormat>Affichage à l'écran (16:9)</PresentationFormat>
  <Paragraphs>293</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Consolas</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Holographic Computing</dc:title>
  <dc:subject>PptxGenJS Presentation</dc:subject>
  <dc:creator>Nawel</dc:creator>
  <cp:lastModifiedBy>nawel sahli</cp:lastModifiedBy>
  <cp:revision>35</cp:revision>
  <dcterms:created xsi:type="dcterms:W3CDTF">2026-05-12T22:02:22Z</dcterms:created>
  <dcterms:modified xsi:type="dcterms:W3CDTF">2026-05-15T10:35:24Z</dcterms:modified>
</cp:coreProperties>
</file>